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76" r:id="rId5"/>
    <p:sldId id="275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21592C-2550-4327-B7B7-9E7ED7E59CC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E76C8E5-2078-440D-8A94-CA9E4083ADCF}">
      <dgm:prSet/>
      <dgm:spPr/>
      <dgm:t>
        <a:bodyPr/>
        <a:lstStyle/>
        <a:p>
          <a:r>
            <a:rPr lang="en-CA" b="0" i="0"/>
            <a:t>Optimal performance is often found by bagging 50–500 trees.</a:t>
          </a:r>
          <a:endParaRPr lang="en-US"/>
        </a:p>
      </dgm:t>
    </dgm:pt>
    <dgm:pt modelId="{B76EA868-C711-49B1-8231-CB9E5AFCF104}" type="parTrans" cxnId="{5C76618C-9D01-4063-B3AF-20B352002ED7}">
      <dgm:prSet/>
      <dgm:spPr/>
      <dgm:t>
        <a:bodyPr/>
        <a:lstStyle/>
        <a:p>
          <a:endParaRPr lang="en-US"/>
        </a:p>
      </dgm:t>
    </dgm:pt>
    <dgm:pt modelId="{7E4BBE69-C806-4005-8305-94307DC50639}" type="sibTrans" cxnId="{5C76618C-9D01-4063-B3AF-20B352002ED7}">
      <dgm:prSet/>
      <dgm:spPr/>
      <dgm:t>
        <a:bodyPr/>
        <a:lstStyle/>
        <a:p>
          <a:endParaRPr lang="en-US"/>
        </a:p>
      </dgm:t>
    </dgm:pt>
    <dgm:pt modelId="{A9ED5526-7FBF-42F7-877C-3AB42911E02E}">
      <dgm:prSet/>
      <dgm:spPr/>
      <dgm:t>
        <a:bodyPr/>
        <a:lstStyle/>
        <a:p>
          <a:r>
            <a:rPr lang="en-CA" b="0" i="0"/>
            <a:t>Data sets that have a few strong predictors typically require less trees;</a:t>
          </a:r>
          <a:endParaRPr lang="en-US"/>
        </a:p>
      </dgm:t>
    </dgm:pt>
    <dgm:pt modelId="{BADDB50B-ED44-44F8-A627-1D5B5CDB787C}" type="parTrans" cxnId="{1F8AAEDF-EA09-4329-A59E-EF6942F76BDB}">
      <dgm:prSet/>
      <dgm:spPr/>
      <dgm:t>
        <a:bodyPr/>
        <a:lstStyle/>
        <a:p>
          <a:endParaRPr lang="en-US"/>
        </a:p>
      </dgm:t>
    </dgm:pt>
    <dgm:pt modelId="{DD74E344-B55B-474A-8D0E-BD43F2621336}" type="sibTrans" cxnId="{1F8AAEDF-EA09-4329-A59E-EF6942F76BDB}">
      <dgm:prSet/>
      <dgm:spPr/>
      <dgm:t>
        <a:bodyPr/>
        <a:lstStyle/>
        <a:p>
          <a:endParaRPr lang="en-US"/>
        </a:p>
      </dgm:t>
    </dgm:pt>
    <dgm:pt modelId="{899B2198-6297-4250-9328-0409BA57C76F}">
      <dgm:prSet/>
      <dgm:spPr/>
      <dgm:t>
        <a:bodyPr/>
        <a:lstStyle/>
        <a:p>
          <a:r>
            <a:rPr lang="en-CA"/>
            <a:t>W</a:t>
          </a:r>
          <a:r>
            <a:rPr lang="en-CA" b="0" i="0"/>
            <a:t>hereas data sets with lots of noise or multiple strong predictors may need more.</a:t>
          </a:r>
          <a:endParaRPr lang="en-US"/>
        </a:p>
      </dgm:t>
    </dgm:pt>
    <dgm:pt modelId="{044A39F7-501F-4DE6-BBD4-92959826C018}" type="parTrans" cxnId="{E09A84E6-FC7E-4623-B6BC-3A37BFB3BF9E}">
      <dgm:prSet/>
      <dgm:spPr/>
      <dgm:t>
        <a:bodyPr/>
        <a:lstStyle/>
        <a:p>
          <a:endParaRPr lang="en-US"/>
        </a:p>
      </dgm:t>
    </dgm:pt>
    <dgm:pt modelId="{70C27EB6-C780-44BD-A8CC-B7C467B50619}" type="sibTrans" cxnId="{E09A84E6-FC7E-4623-B6BC-3A37BFB3BF9E}">
      <dgm:prSet/>
      <dgm:spPr/>
      <dgm:t>
        <a:bodyPr/>
        <a:lstStyle/>
        <a:p>
          <a:endParaRPr lang="en-US"/>
        </a:p>
      </dgm:t>
    </dgm:pt>
    <dgm:pt modelId="{461BE53A-E0E0-4D9C-B8DF-C1778A73D9BA}">
      <dgm:prSet/>
      <dgm:spPr/>
      <dgm:t>
        <a:bodyPr/>
        <a:lstStyle/>
        <a:p>
          <a:r>
            <a:rPr lang="en-CA" b="0" i="0"/>
            <a:t>Using too many trees will not lead to overfitting. </a:t>
          </a:r>
          <a:endParaRPr lang="en-US"/>
        </a:p>
      </dgm:t>
    </dgm:pt>
    <dgm:pt modelId="{5133AA76-FE44-4613-A48F-6E703BBAFDCA}" type="parTrans" cxnId="{1AC6F5F6-5546-474F-9838-E2890F12C5CF}">
      <dgm:prSet/>
      <dgm:spPr/>
      <dgm:t>
        <a:bodyPr/>
        <a:lstStyle/>
        <a:p>
          <a:endParaRPr lang="en-US"/>
        </a:p>
      </dgm:t>
    </dgm:pt>
    <dgm:pt modelId="{AA652E05-E6EF-423F-BC9A-076CF227D092}" type="sibTrans" cxnId="{1AC6F5F6-5546-474F-9838-E2890F12C5CF}">
      <dgm:prSet/>
      <dgm:spPr/>
      <dgm:t>
        <a:bodyPr/>
        <a:lstStyle/>
        <a:p>
          <a:endParaRPr lang="en-US"/>
        </a:p>
      </dgm:t>
    </dgm:pt>
    <dgm:pt modelId="{C66FCAE2-816F-4294-95B4-A7E95A131618}">
      <dgm:prSet/>
      <dgm:spPr/>
      <dgm:t>
        <a:bodyPr/>
        <a:lstStyle/>
        <a:p>
          <a:r>
            <a:rPr lang="en-CA" b="0" i="0" dirty="0"/>
            <a:t>We use unpruned trees</a:t>
          </a:r>
          <a:endParaRPr lang="en-US" dirty="0"/>
        </a:p>
      </dgm:t>
    </dgm:pt>
    <dgm:pt modelId="{DB4C3970-840C-4AE5-A1E2-D62A008D5524}" type="parTrans" cxnId="{D9EF5D33-F399-46FC-8B84-23FE83FB7E0D}">
      <dgm:prSet/>
      <dgm:spPr/>
      <dgm:t>
        <a:bodyPr/>
        <a:lstStyle/>
        <a:p>
          <a:endParaRPr lang="en-US"/>
        </a:p>
      </dgm:t>
    </dgm:pt>
    <dgm:pt modelId="{298AD091-3D4B-4364-8ADA-D366320FFBD9}" type="sibTrans" cxnId="{D9EF5D33-F399-46FC-8B84-23FE83FB7E0D}">
      <dgm:prSet/>
      <dgm:spPr/>
      <dgm:t>
        <a:bodyPr/>
        <a:lstStyle/>
        <a:p>
          <a:endParaRPr lang="en-US"/>
        </a:p>
      </dgm:t>
    </dgm:pt>
    <dgm:pt modelId="{C6CF96A9-AEAB-2345-BA5C-579F075BE69C}" type="pres">
      <dgm:prSet presAssocID="{D821592C-2550-4327-B7B7-9E7ED7E59CC3}" presName="vert0" presStyleCnt="0">
        <dgm:presLayoutVars>
          <dgm:dir/>
          <dgm:animOne val="branch"/>
          <dgm:animLvl val="lvl"/>
        </dgm:presLayoutVars>
      </dgm:prSet>
      <dgm:spPr/>
    </dgm:pt>
    <dgm:pt modelId="{DE81AB6A-E8B3-D445-ABE6-487C1FC8433D}" type="pres">
      <dgm:prSet presAssocID="{0E76C8E5-2078-440D-8A94-CA9E4083ADCF}" presName="thickLine" presStyleLbl="alignNode1" presStyleIdx="0" presStyleCnt="5"/>
      <dgm:spPr/>
    </dgm:pt>
    <dgm:pt modelId="{CEC3B225-7CDC-F042-868D-42AF53C67EB4}" type="pres">
      <dgm:prSet presAssocID="{0E76C8E5-2078-440D-8A94-CA9E4083ADCF}" presName="horz1" presStyleCnt="0"/>
      <dgm:spPr/>
    </dgm:pt>
    <dgm:pt modelId="{3644192D-0460-7D48-8514-7744B8D80EAE}" type="pres">
      <dgm:prSet presAssocID="{0E76C8E5-2078-440D-8A94-CA9E4083ADCF}" presName="tx1" presStyleLbl="revTx" presStyleIdx="0" presStyleCnt="5"/>
      <dgm:spPr/>
    </dgm:pt>
    <dgm:pt modelId="{B3A22079-0924-6D4D-B27D-A98D6372C5CD}" type="pres">
      <dgm:prSet presAssocID="{0E76C8E5-2078-440D-8A94-CA9E4083ADCF}" presName="vert1" presStyleCnt="0"/>
      <dgm:spPr/>
    </dgm:pt>
    <dgm:pt modelId="{9F76A952-3D6F-DA46-91F9-EA2537150BAA}" type="pres">
      <dgm:prSet presAssocID="{A9ED5526-7FBF-42F7-877C-3AB42911E02E}" presName="thickLine" presStyleLbl="alignNode1" presStyleIdx="1" presStyleCnt="5"/>
      <dgm:spPr/>
    </dgm:pt>
    <dgm:pt modelId="{9C7917FF-BD70-0848-814E-3FB572D68E97}" type="pres">
      <dgm:prSet presAssocID="{A9ED5526-7FBF-42F7-877C-3AB42911E02E}" presName="horz1" presStyleCnt="0"/>
      <dgm:spPr/>
    </dgm:pt>
    <dgm:pt modelId="{E22879CF-925C-E44B-9988-8AE1DE3F673C}" type="pres">
      <dgm:prSet presAssocID="{A9ED5526-7FBF-42F7-877C-3AB42911E02E}" presName="tx1" presStyleLbl="revTx" presStyleIdx="1" presStyleCnt="5"/>
      <dgm:spPr/>
    </dgm:pt>
    <dgm:pt modelId="{B9B7F6B8-BD80-5247-9F96-7AA4FE00230D}" type="pres">
      <dgm:prSet presAssocID="{A9ED5526-7FBF-42F7-877C-3AB42911E02E}" presName="vert1" presStyleCnt="0"/>
      <dgm:spPr/>
    </dgm:pt>
    <dgm:pt modelId="{BBC5A1FA-38F5-DB40-BB61-F7A1BC118F1A}" type="pres">
      <dgm:prSet presAssocID="{899B2198-6297-4250-9328-0409BA57C76F}" presName="thickLine" presStyleLbl="alignNode1" presStyleIdx="2" presStyleCnt="5"/>
      <dgm:spPr/>
    </dgm:pt>
    <dgm:pt modelId="{0FA7879A-E153-BF47-94AB-BCABADCFE1AD}" type="pres">
      <dgm:prSet presAssocID="{899B2198-6297-4250-9328-0409BA57C76F}" presName="horz1" presStyleCnt="0"/>
      <dgm:spPr/>
    </dgm:pt>
    <dgm:pt modelId="{9EEF9FDF-6B53-1742-ABFA-E37B1784E7D2}" type="pres">
      <dgm:prSet presAssocID="{899B2198-6297-4250-9328-0409BA57C76F}" presName="tx1" presStyleLbl="revTx" presStyleIdx="2" presStyleCnt="5"/>
      <dgm:spPr/>
    </dgm:pt>
    <dgm:pt modelId="{9B23F748-596C-5B4D-9C58-A00C1F3141E0}" type="pres">
      <dgm:prSet presAssocID="{899B2198-6297-4250-9328-0409BA57C76F}" presName="vert1" presStyleCnt="0"/>
      <dgm:spPr/>
    </dgm:pt>
    <dgm:pt modelId="{0BAF065E-F6EA-6445-935A-C1888EFF4545}" type="pres">
      <dgm:prSet presAssocID="{461BE53A-E0E0-4D9C-B8DF-C1778A73D9BA}" presName="thickLine" presStyleLbl="alignNode1" presStyleIdx="3" presStyleCnt="5"/>
      <dgm:spPr/>
    </dgm:pt>
    <dgm:pt modelId="{8CB29815-33D0-4042-86AE-153D3D2481D0}" type="pres">
      <dgm:prSet presAssocID="{461BE53A-E0E0-4D9C-B8DF-C1778A73D9BA}" presName="horz1" presStyleCnt="0"/>
      <dgm:spPr/>
    </dgm:pt>
    <dgm:pt modelId="{89A7F8C8-02C1-2E4B-B530-28897309D1BD}" type="pres">
      <dgm:prSet presAssocID="{461BE53A-E0E0-4D9C-B8DF-C1778A73D9BA}" presName="tx1" presStyleLbl="revTx" presStyleIdx="3" presStyleCnt="5"/>
      <dgm:spPr/>
    </dgm:pt>
    <dgm:pt modelId="{AEB7E408-1B2C-CD4D-B797-D778C2273267}" type="pres">
      <dgm:prSet presAssocID="{461BE53A-E0E0-4D9C-B8DF-C1778A73D9BA}" presName="vert1" presStyleCnt="0"/>
      <dgm:spPr/>
    </dgm:pt>
    <dgm:pt modelId="{83905176-A32A-3B4B-98D7-5846E1C6DE08}" type="pres">
      <dgm:prSet presAssocID="{C66FCAE2-816F-4294-95B4-A7E95A131618}" presName="thickLine" presStyleLbl="alignNode1" presStyleIdx="4" presStyleCnt="5"/>
      <dgm:spPr/>
    </dgm:pt>
    <dgm:pt modelId="{9FB62C28-36D7-7442-A141-50FFBC1F1CC9}" type="pres">
      <dgm:prSet presAssocID="{C66FCAE2-816F-4294-95B4-A7E95A131618}" presName="horz1" presStyleCnt="0"/>
      <dgm:spPr/>
    </dgm:pt>
    <dgm:pt modelId="{FD7BFBDF-F30C-DE46-9F88-1ABC7F26BF40}" type="pres">
      <dgm:prSet presAssocID="{C66FCAE2-816F-4294-95B4-A7E95A131618}" presName="tx1" presStyleLbl="revTx" presStyleIdx="4" presStyleCnt="5"/>
      <dgm:spPr/>
    </dgm:pt>
    <dgm:pt modelId="{06C6D15C-0BA6-1443-81DE-12828EE5830B}" type="pres">
      <dgm:prSet presAssocID="{C66FCAE2-816F-4294-95B4-A7E95A131618}" presName="vert1" presStyleCnt="0"/>
      <dgm:spPr/>
    </dgm:pt>
  </dgm:ptLst>
  <dgm:cxnLst>
    <dgm:cxn modelId="{CA9E0725-1C17-0947-878B-5A67B1A85FED}" type="presOf" srcId="{899B2198-6297-4250-9328-0409BA57C76F}" destId="{9EEF9FDF-6B53-1742-ABFA-E37B1784E7D2}" srcOrd="0" destOrd="0" presId="urn:microsoft.com/office/officeart/2008/layout/LinedList"/>
    <dgm:cxn modelId="{D9EF5D33-F399-46FC-8B84-23FE83FB7E0D}" srcId="{D821592C-2550-4327-B7B7-9E7ED7E59CC3}" destId="{C66FCAE2-816F-4294-95B4-A7E95A131618}" srcOrd="4" destOrd="0" parTransId="{DB4C3970-840C-4AE5-A1E2-D62A008D5524}" sibTransId="{298AD091-3D4B-4364-8ADA-D366320FFBD9}"/>
    <dgm:cxn modelId="{DCA21083-259D-EC4E-9917-0160EA3F28DF}" type="presOf" srcId="{A9ED5526-7FBF-42F7-877C-3AB42911E02E}" destId="{E22879CF-925C-E44B-9988-8AE1DE3F673C}" srcOrd="0" destOrd="0" presId="urn:microsoft.com/office/officeart/2008/layout/LinedList"/>
    <dgm:cxn modelId="{5C76618C-9D01-4063-B3AF-20B352002ED7}" srcId="{D821592C-2550-4327-B7B7-9E7ED7E59CC3}" destId="{0E76C8E5-2078-440D-8A94-CA9E4083ADCF}" srcOrd="0" destOrd="0" parTransId="{B76EA868-C711-49B1-8231-CB9E5AFCF104}" sibTransId="{7E4BBE69-C806-4005-8305-94307DC50639}"/>
    <dgm:cxn modelId="{71D4B2B3-4D6B-B440-92A9-0BF7F298DDCA}" type="presOf" srcId="{461BE53A-E0E0-4D9C-B8DF-C1778A73D9BA}" destId="{89A7F8C8-02C1-2E4B-B530-28897309D1BD}" srcOrd="0" destOrd="0" presId="urn:microsoft.com/office/officeart/2008/layout/LinedList"/>
    <dgm:cxn modelId="{1F8AAEDF-EA09-4329-A59E-EF6942F76BDB}" srcId="{D821592C-2550-4327-B7B7-9E7ED7E59CC3}" destId="{A9ED5526-7FBF-42F7-877C-3AB42911E02E}" srcOrd="1" destOrd="0" parTransId="{BADDB50B-ED44-44F8-A627-1D5B5CDB787C}" sibTransId="{DD74E344-B55B-474A-8D0E-BD43F2621336}"/>
    <dgm:cxn modelId="{E09A84E6-FC7E-4623-B6BC-3A37BFB3BF9E}" srcId="{D821592C-2550-4327-B7B7-9E7ED7E59CC3}" destId="{899B2198-6297-4250-9328-0409BA57C76F}" srcOrd="2" destOrd="0" parTransId="{044A39F7-501F-4DE6-BBD4-92959826C018}" sibTransId="{70C27EB6-C780-44BD-A8CC-B7C467B50619}"/>
    <dgm:cxn modelId="{9DC01BE8-1251-2345-99CF-6E1EE6F3D30D}" type="presOf" srcId="{D821592C-2550-4327-B7B7-9E7ED7E59CC3}" destId="{C6CF96A9-AEAB-2345-BA5C-579F075BE69C}" srcOrd="0" destOrd="0" presId="urn:microsoft.com/office/officeart/2008/layout/LinedList"/>
    <dgm:cxn modelId="{F4D465EE-433D-9C45-90D1-FFD9045EA646}" type="presOf" srcId="{0E76C8E5-2078-440D-8A94-CA9E4083ADCF}" destId="{3644192D-0460-7D48-8514-7744B8D80EAE}" srcOrd="0" destOrd="0" presId="urn:microsoft.com/office/officeart/2008/layout/LinedList"/>
    <dgm:cxn modelId="{23AD07F5-AFFA-8D4E-AF9E-BDF475484782}" type="presOf" srcId="{C66FCAE2-816F-4294-95B4-A7E95A131618}" destId="{FD7BFBDF-F30C-DE46-9F88-1ABC7F26BF40}" srcOrd="0" destOrd="0" presId="urn:microsoft.com/office/officeart/2008/layout/LinedList"/>
    <dgm:cxn modelId="{1AC6F5F6-5546-474F-9838-E2890F12C5CF}" srcId="{D821592C-2550-4327-B7B7-9E7ED7E59CC3}" destId="{461BE53A-E0E0-4D9C-B8DF-C1778A73D9BA}" srcOrd="3" destOrd="0" parTransId="{5133AA76-FE44-4613-A48F-6E703BBAFDCA}" sibTransId="{AA652E05-E6EF-423F-BC9A-076CF227D092}"/>
    <dgm:cxn modelId="{CD8B527A-1512-8E4A-8796-C899E69009C0}" type="presParOf" srcId="{C6CF96A9-AEAB-2345-BA5C-579F075BE69C}" destId="{DE81AB6A-E8B3-D445-ABE6-487C1FC8433D}" srcOrd="0" destOrd="0" presId="urn:microsoft.com/office/officeart/2008/layout/LinedList"/>
    <dgm:cxn modelId="{149D76BA-FFC2-424B-B3DB-6538712B4961}" type="presParOf" srcId="{C6CF96A9-AEAB-2345-BA5C-579F075BE69C}" destId="{CEC3B225-7CDC-F042-868D-42AF53C67EB4}" srcOrd="1" destOrd="0" presId="urn:microsoft.com/office/officeart/2008/layout/LinedList"/>
    <dgm:cxn modelId="{6505D47B-AE13-224F-A1C2-84A34AD1F680}" type="presParOf" srcId="{CEC3B225-7CDC-F042-868D-42AF53C67EB4}" destId="{3644192D-0460-7D48-8514-7744B8D80EAE}" srcOrd="0" destOrd="0" presId="urn:microsoft.com/office/officeart/2008/layout/LinedList"/>
    <dgm:cxn modelId="{621BA4E9-C437-8346-ADD6-BAFE32B16419}" type="presParOf" srcId="{CEC3B225-7CDC-F042-868D-42AF53C67EB4}" destId="{B3A22079-0924-6D4D-B27D-A98D6372C5CD}" srcOrd="1" destOrd="0" presId="urn:microsoft.com/office/officeart/2008/layout/LinedList"/>
    <dgm:cxn modelId="{C7A50955-85EB-994B-86B4-F4942F5BA436}" type="presParOf" srcId="{C6CF96A9-AEAB-2345-BA5C-579F075BE69C}" destId="{9F76A952-3D6F-DA46-91F9-EA2537150BAA}" srcOrd="2" destOrd="0" presId="urn:microsoft.com/office/officeart/2008/layout/LinedList"/>
    <dgm:cxn modelId="{43C68680-A9DC-2C4A-8D98-C74AF7596BAC}" type="presParOf" srcId="{C6CF96A9-AEAB-2345-BA5C-579F075BE69C}" destId="{9C7917FF-BD70-0848-814E-3FB572D68E97}" srcOrd="3" destOrd="0" presId="urn:microsoft.com/office/officeart/2008/layout/LinedList"/>
    <dgm:cxn modelId="{A8C51DED-EFEE-034A-ABE5-EAC5C0B0F948}" type="presParOf" srcId="{9C7917FF-BD70-0848-814E-3FB572D68E97}" destId="{E22879CF-925C-E44B-9988-8AE1DE3F673C}" srcOrd="0" destOrd="0" presId="urn:microsoft.com/office/officeart/2008/layout/LinedList"/>
    <dgm:cxn modelId="{834D4DA1-3FA9-384B-B7E3-DBE9B2003C54}" type="presParOf" srcId="{9C7917FF-BD70-0848-814E-3FB572D68E97}" destId="{B9B7F6B8-BD80-5247-9F96-7AA4FE00230D}" srcOrd="1" destOrd="0" presId="urn:microsoft.com/office/officeart/2008/layout/LinedList"/>
    <dgm:cxn modelId="{96A82962-E02E-8548-9420-C6E238B77DB3}" type="presParOf" srcId="{C6CF96A9-AEAB-2345-BA5C-579F075BE69C}" destId="{BBC5A1FA-38F5-DB40-BB61-F7A1BC118F1A}" srcOrd="4" destOrd="0" presId="urn:microsoft.com/office/officeart/2008/layout/LinedList"/>
    <dgm:cxn modelId="{CE4E4029-B4F1-E54C-8E41-701F1B04F2F4}" type="presParOf" srcId="{C6CF96A9-AEAB-2345-BA5C-579F075BE69C}" destId="{0FA7879A-E153-BF47-94AB-BCABADCFE1AD}" srcOrd="5" destOrd="0" presId="urn:microsoft.com/office/officeart/2008/layout/LinedList"/>
    <dgm:cxn modelId="{DA99E058-ABE1-4F46-B3A6-07CC4519C01D}" type="presParOf" srcId="{0FA7879A-E153-BF47-94AB-BCABADCFE1AD}" destId="{9EEF9FDF-6B53-1742-ABFA-E37B1784E7D2}" srcOrd="0" destOrd="0" presId="urn:microsoft.com/office/officeart/2008/layout/LinedList"/>
    <dgm:cxn modelId="{24E66DB6-303C-9545-8AD2-9DCA001C39E0}" type="presParOf" srcId="{0FA7879A-E153-BF47-94AB-BCABADCFE1AD}" destId="{9B23F748-596C-5B4D-9C58-A00C1F3141E0}" srcOrd="1" destOrd="0" presId="urn:microsoft.com/office/officeart/2008/layout/LinedList"/>
    <dgm:cxn modelId="{8C94C796-8837-134D-A9AE-C4D307DA49F6}" type="presParOf" srcId="{C6CF96A9-AEAB-2345-BA5C-579F075BE69C}" destId="{0BAF065E-F6EA-6445-935A-C1888EFF4545}" srcOrd="6" destOrd="0" presId="urn:microsoft.com/office/officeart/2008/layout/LinedList"/>
    <dgm:cxn modelId="{7716D25D-6467-7741-9C25-0F15CD51E775}" type="presParOf" srcId="{C6CF96A9-AEAB-2345-BA5C-579F075BE69C}" destId="{8CB29815-33D0-4042-86AE-153D3D2481D0}" srcOrd="7" destOrd="0" presId="urn:microsoft.com/office/officeart/2008/layout/LinedList"/>
    <dgm:cxn modelId="{07314A3A-E9F6-924A-8C2C-45431A6565EE}" type="presParOf" srcId="{8CB29815-33D0-4042-86AE-153D3D2481D0}" destId="{89A7F8C8-02C1-2E4B-B530-28897309D1BD}" srcOrd="0" destOrd="0" presId="urn:microsoft.com/office/officeart/2008/layout/LinedList"/>
    <dgm:cxn modelId="{39885D28-6CA2-0B43-9759-DA36AD812047}" type="presParOf" srcId="{8CB29815-33D0-4042-86AE-153D3D2481D0}" destId="{AEB7E408-1B2C-CD4D-B797-D778C2273267}" srcOrd="1" destOrd="0" presId="urn:microsoft.com/office/officeart/2008/layout/LinedList"/>
    <dgm:cxn modelId="{15D4EFCD-2828-5546-BFCA-6CFBDB4E3DC9}" type="presParOf" srcId="{C6CF96A9-AEAB-2345-BA5C-579F075BE69C}" destId="{83905176-A32A-3B4B-98D7-5846E1C6DE08}" srcOrd="8" destOrd="0" presId="urn:microsoft.com/office/officeart/2008/layout/LinedList"/>
    <dgm:cxn modelId="{1E9B5DB4-D3C0-654B-B0DC-3493A148D68D}" type="presParOf" srcId="{C6CF96A9-AEAB-2345-BA5C-579F075BE69C}" destId="{9FB62C28-36D7-7442-A141-50FFBC1F1CC9}" srcOrd="9" destOrd="0" presId="urn:microsoft.com/office/officeart/2008/layout/LinedList"/>
    <dgm:cxn modelId="{3C44ED7C-49D5-AA40-A591-48389057157E}" type="presParOf" srcId="{9FB62C28-36D7-7442-A141-50FFBC1F1CC9}" destId="{FD7BFBDF-F30C-DE46-9F88-1ABC7F26BF40}" srcOrd="0" destOrd="0" presId="urn:microsoft.com/office/officeart/2008/layout/LinedList"/>
    <dgm:cxn modelId="{6B22553E-DF08-B94D-9BE9-AAA36AEFBA73}" type="presParOf" srcId="{9FB62C28-36D7-7442-A141-50FFBC1F1CC9}" destId="{06C6D15C-0BA6-1443-81DE-12828EE5830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1AB6A-E8B3-D445-ABE6-487C1FC8433D}">
      <dsp:nvSpPr>
        <dsp:cNvPr id="0" name=""/>
        <dsp:cNvSpPr/>
      </dsp:nvSpPr>
      <dsp:spPr>
        <a:xfrm>
          <a:off x="0" y="739"/>
          <a:ext cx="683111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4192D-0460-7D48-8514-7744B8D80EAE}">
      <dsp:nvSpPr>
        <dsp:cNvPr id="0" name=""/>
        <dsp:cNvSpPr/>
      </dsp:nvSpPr>
      <dsp:spPr>
        <a:xfrm>
          <a:off x="0" y="739"/>
          <a:ext cx="6831118" cy="121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b="0" i="0" kern="1200"/>
            <a:t>Optimal performance is often found by bagging 50–500 trees.</a:t>
          </a:r>
          <a:endParaRPr lang="en-US" sz="2600" kern="1200"/>
        </a:p>
      </dsp:txBody>
      <dsp:txXfrm>
        <a:off x="0" y="739"/>
        <a:ext cx="6831118" cy="1211684"/>
      </dsp:txXfrm>
    </dsp:sp>
    <dsp:sp modelId="{9F76A952-3D6F-DA46-91F9-EA2537150BAA}">
      <dsp:nvSpPr>
        <dsp:cNvPr id="0" name=""/>
        <dsp:cNvSpPr/>
      </dsp:nvSpPr>
      <dsp:spPr>
        <a:xfrm>
          <a:off x="0" y="1212424"/>
          <a:ext cx="6831118" cy="0"/>
        </a:xfrm>
        <a:prstGeom prst="line">
          <a:avLst/>
        </a:prstGeom>
        <a:solidFill>
          <a:schemeClr val="accent2">
            <a:hueOff val="376345"/>
            <a:satOff val="-812"/>
            <a:lumOff val="1421"/>
            <a:alphaOff val="0"/>
          </a:schemeClr>
        </a:solidFill>
        <a:ln w="12700" cap="flat" cmpd="sng" algn="ctr">
          <a:solidFill>
            <a:schemeClr val="accent2">
              <a:hueOff val="376345"/>
              <a:satOff val="-812"/>
              <a:lumOff val="14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879CF-925C-E44B-9988-8AE1DE3F673C}">
      <dsp:nvSpPr>
        <dsp:cNvPr id="0" name=""/>
        <dsp:cNvSpPr/>
      </dsp:nvSpPr>
      <dsp:spPr>
        <a:xfrm>
          <a:off x="0" y="1212424"/>
          <a:ext cx="6831118" cy="121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b="0" i="0" kern="1200"/>
            <a:t>Data sets that have a few strong predictors typically require less trees;</a:t>
          </a:r>
          <a:endParaRPr lang="en-US" sz="2600" kern="1200"/>
        </a:p>
      </dsp:txBody>
      <dsp:txXfrm>
        <a:off x="0" y="1212424"/>
        <a:ext cx="6831118" cy="1211684"/>
      </dsp:txXfrm>
    </dsp:sp>
    <dsp:sp modelId="{BBC5A1FA-38F5-DB40-BB61-F7A1BC118F1A}">
      <dsp:nvSpPr>
        <dsp:cNvPr id="0" name=""/>
        <dsp:cNvSpPr/>
      </dsp:nvSpPr>
      <dsp:spPr>
        <a:xfrm>
          <a:off x="0" y="2424108"/>
          <a:ext cx="6831118" cy="0"/>
        </a:xfrm>
        <a:prstGeom prst="line">
          <a:avLst/>
        </a:prstGeom>
        <a:solidFill>
          <a:schemeClr val="accent2">
            <a:hueOff val="752691"/>
            <a:satOff val="-1625"/>
            <a:lumOff val="2843"/>
            <a:alphaOff val="0"/>
          </a:schemeClr>
        </a:solidFill>
        <a:ln w="12700" cap="flat" cmpd="sng" algn="ctr">
          <a:solidFill>
            <a:schemeClr val="accent2">
              <a:hueOff val="752691"/>
              <a:satOff val="-1625"/>
              <a:lumOff val="2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F9FDF-6B53-1742-ABFA-E37B1784E7D2}">
      <dsp:nvSpPr>
        <dsp:cNvPr id="0" name=""/>
        <dsp:cNvSpPr/>
      </dsp:nvSpPr>
      <dsp:spPr>
        <a:xfrm>
          <a:off x="0" y="2424108"/>
          <a:ext cx="6831118" cy="121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/>
            <a:t>W</a:t>
          </a:r>
          <a:r>
            <a:rPr lang="en-CA" sz="2600" b="0" i="0" kern="1200"/>
            <a:t>hereas data sets with lots of noise or multiple strong predictors may need more.</a:t>
          </a:r>
          <a:endParaRPr lang="en-US" sz="2600" kern="1200"/>
        </a:p>
      </dsp:txBody>
      <dsp:txXfrm>
        <a:off x="0" y="2424108"/>
        <a:ext cx="6831118" cy="1211684"/>
      </dsp:txXfrm>
    </dsp:sp>
    <dsp:sp modelId="{0BAF065E-F6EA-6445-935A-C1888EFF4545}">
      <dsp:nvSpPr>
        <dsp:cNvPr id="0" name=""/>
        <dsp:cNvSpPr/>
      </dsp:nvSpPr>
      <dsp:spPr>
        <a:xfrm>
          <a:off x="0" y="3635792"/>
          <a:ext cx="6831118" cy="0"/>
        </a:xfrm>
        <a:prstGeom prst="line">
          <a:avLst/>
        </a:prstGeom>
        <a:solidFill>
          <a:schemeClr val="accent2">
            <a:hueOff val="1129036"/>
            <a:satOff val="-2437"/>
            <a:lumOff val="4264"/>
            <a:alphaOff val="0"/>
          </a:schemeClr>
        </a:solidFill>
        <a:ln w="12700" cap="flat" cmpd="sng" algn="ctr">
          <a:solidFill>
            <a:schemeClr val="accent2">
              <a:hueOff val="1129036"/>
              <a:satOff val="-2437"/>
              <a:lumOff val="42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A7F8C8-02C1-2E4B-B530-28897309D1BD}">
      <dsp:nvSpPr>
        <dsp:cNvPr id="0" name=""/>
        <dsp:cNvSpPr/>
      </dsp:nvSpPr>
      <dsp:spPr>
        <a:xfrm>
          <a:off x="0" y="3635792"/>
          <a:ext cx="6831118" cy="121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b="0" i="0" kern="1200"/>
            <a:t>Using too many trees will not lead to overfitting. </a:t>
          </a:r>
          <a:endParaRPr lang="en-US" sz="2600" kern="1200"/>
        </a:p>
      </dsp:txBody>
      <dsp:txXfrm>
        <a:off x="0" y="3635792"/>
        <a:ext cx="6831118" cy="1211684"/>
      </dsp:txXfrm>
    </dsp:sp>
    <dsp:sp modelId="{83905176-A32A-3B4B-98D7-5846E1C6DE08}">
      <dsp:nvSpPr>
        <dsp:cNvPr id="0" name=""/>
        <dsp:cNvSpPr/>
      </dsp:nvSpPr>
      <dsp:spPr>
        <a:xfrm>
          <a:off x="0" y="4847476"/>
          <a:ext cx="6831118" cy="0"/>
        </a:xfrm>
        <a:prstGeom prst="line">
          <a:avLst/>
        </a:prstGeom>
        <a:solidFill>
          <a:schemeClr val="accent2">
            <a:hueOff val="1505381"/>
            <a:satOff val="-3249"/>
            <a:lumOff val="5685"/>
            <a:alphaOff val="0"/>
          </a:schemeClr>
        </a:solidFill>
        <a:ln w="12700" cap="flat" cmpd="sng" algn="ctr">
          <a:solidFill>
            <a:schemeClr val="accent2">
              <a:hueOff val="1505381"/>
              <a:satOff val="-3249"/>
              <a:lumOff val="56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BFBDF-F30C-DE46-9F88-1ABC7F26BF40}">
      <dsp:nvSpPr>
        <dsp:cNvPr id="0" name=""/>
        <dsp:cNvSpPr/>
      </dsp:nvSpPr>
      <dsp:spPr>
        <a:xfrm>
          <a:off x="0" y="4847476"/>
          <a:ext cx="6831118" cy="121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b="0" i="0" kern="1200" dirty="0"/>
            <a:t>We use unpruned trees</a:t>
          </a:r>
          <a:endParaRPr lang="en-US" sz="2600" kern="1200" dirty="0"/>
        </a:p>
      </dsp:txBody>
      <dsp:txXfrm>
        <a:off x="0" y="4847476"/>
        <a:ext cx="6831118" cy="1211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3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34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3/3/25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8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2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3/3/25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0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3/3/25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3/3/25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85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7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2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7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3/3/25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76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3/3/25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7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33A6A7-E7EE-42C5-88DE-B09D16B38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F09D20-2534-C152-0B3F-A355807C3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2954226"/>
            <a:ext cx="5555624" cy="2232199"/>
          </a:xfrm>
        </p:spPr>
        <p:txBody>
          <a:bodyPr anchor="t">
            <a:normAutofit/>
          </a:bodyPr>
          <a:lstStyle/>
          <a:p>
            <a:pPr algn="l"/>
            <a:r>
              <a:rPr lang="en-US" sz="7200"/>
              <a:t>Tree-Based Models – II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BB2D3-1E8D-718A-1B91-E79A03790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725465"/>
            <a:ext cx="5555624" cy="2063925"/>
          </a:xfrm>
        </p:spPr>
        <p:txBody>
          <a:bodyPr anchor="b">
            <a:normAutofit/>
          </a:bodyPr>
          <a:lstStyle/>
          <a:p>
            <a:pPr algn="l"/>
            <a:r>
              <a:rPr lang="en-US" sz="2800" b="1" dirty="0"/>
              <a:t>BAGGING</a:t>
            </a:r>
            <a:r>
              <a:rPr lang="en-US" dirty="0"/>
              <a:t> -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ootstrap </a:t>
            </a:r>
            <a:r>
              <a:rPr lang="en-US" b="1" dirty="0">
                <a:solidFill>
                  <a:srgbClr val="FF0000"/>
                </a:solidFill>
              </a:rPr>
              <a:t>agg</a:t>
            </a:r>
            <a:r>
              <a:rPr lang="en-US" dirty="0"/>
              <a:t>regat</a:t>
            </a:r>
            <a:r>
              <a:rPr lang="en-US" b="1" dirty="0">
                <a:solidFill>
                  <a:srgbClr val="FF0000"/>
                </a:solidFill>
              </a:rPr>
              <a:t>ing</a:t>
            </a:r>
            <a:r>
              <a:rPr lang="en-US" dirty="0"/>
              <a:t> of Trees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4D786EB-944C-47D5-B631-899F4029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F2CC4-DA4C-909D-B330-68A5C797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01" r="5734" b="2"/>
          <a:stretch/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57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7" name="Rectangle 14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8" name="Rectangle 149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9" name="Right Triangle 151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0136" y="1542777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91" name="Group 155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24C66DC-E31E-3527-96CE-FF1127845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BAGGING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sz="2800" dirty="0">
                <a:solidFill>
                  <a:schemeClr val="tx2"/>
                </a:solidFill>
              </a:rPr>
              <a:t>“Wisdom of the Crowd”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961D2-0458-4221-0BE6-BD99C4A3A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264832"/>
            <a:ext cx="4419600" cy="2983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b="0" i="0" u="none" strike="noStrike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The idea is simple: we train many models, each of which uses a separate bootstrapped sample</a:t>
            </a:r>
          </a:p>
          <a:p>
            <a:pPr marL="0" indent="0">
              <a:buNone/>
            </a:pPr>
            <a:r>
              <a:rPr lang="en-CA" sz="1800" dirty="0">
                <a:solidFill>
                  <a:schemeClr val="tx2"/>
                </a:solidFill>
                <a:latin typeface="Helvetica Neue" panose="02000503000000020004" pitchFamily="2" charset="0"/>
              </a:rPr>
              <a:t>T</a:t>
            </a:r>
            <a:r>
              <a:rPr lang="en-CA" sz="1800" b="0" i="0" u="none" strike="noStrike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hen,  we aggregate them to one final predictor for the final decision. </a:t>
            </a:r>
            <a:endParaRPr lang="en-CA" sz="1800" dirty="0">
              <a:solidFill>
                <a:schemeClr val="tx2"/>
              </a:solidFill>
              <a:latin typeface="Helvetica Neue" panose="02000503000000020004" pitchFamily="2" charset="0"/>
            </a:endParaRPr>
          </a:p>
        </p:txBody>
      </p:sp>
      <p:pic>
        <p:nvPicPr>
          <p:cNvPr id="9" name="Picture 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3A7CD2E9-32CB-5FE8-6247-CCE85A9E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1566560"/>
            <a:ext cx="6795701" cy="387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95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7" name="Right Triangle 106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0136" y="1542777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E5C3F54D-906F-9089-DB9A-18E878CC0F3B}"/>
              </a:ext>
            </a:extLst>
          </p:cNvPr>
          <p:cNvSpPr txBox="1"/>
          <p:nvPr/>
        </p:nvSpPr>
        <p:spPr>
          <a:xfrm>
            <a:off x="434316" y="703003"/>
            <a:ext cx="4862887" cy="29835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spcAft>
                <a:spcPts val="600"/>
              </a:spcAft>
              <a:buClr>
                <a:schemeClr val="bg1"/>
              </a:buClr>
              <a:buSzPct val="75000"/>
            </a:pPr>
            <a:r>
              <a:rPr lang="en-US" sz="2000" dirty="0">
                <a:solidFill>
                  <a:schemeClr val="tx2"/>
                </a:solidFill>
                <a:effectLst/>
              </a:rPr>
              <a:t>Leo </a:t>
            </a:r>
            <a:r>
              <a:rPr lang="en-US" sz="2000" dirty="0" err="1">
                <a:solidFill>
                  <a:schemeClr val="tx2"/>
                </a:solidFill>
                <a:effectLst/>
              </a:rPr>
              <a:t>Breiman</a:t>
            </a:r>
            <a:r>
              <a:rPr lang="en-US" sz="2000" dirty="0">
                <a:solidFill>
                  <a:schemeClr val="tx2"/>
                </a:solidFill>
                <a:effectLst/>
              </a:rPr>
              <a:t> (1994) </a:t>
            </a:r>
          </a:p>
          <a:p>
            <a:pPr marL="285750" indent="-285750">
              <a:spcAft>
                <a:spcPts val="600"/>
              </a:spcAft>
              <a:buClr>
                <a:schemeClr val="bg1"/>
              </a:buClr>
              <a:buSzPct val="75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effectLst/>
              </a:rPr>
              <a:t>Take 500 repeated bootstrap samples from </a:t>
            </a:r>
            <a:r>
              <a:rPr lang="en-US" sz="2000" b="1" dirty="0">
                <a:solidFill>
                  <a:srgbClr val="FF0000"/>
                </a:solidFill>
                <a:effectLst/>
              </a:rPr>
              <a:t>training</a:t>
            </a:r>
            <a:r>
              <a:rPr lang="en-US" sz="2000" dirty="0">
                <a:solidFill>
                  <a:schemeClr val="tx2"/>
                </a:solidFill>
                <a:effectLst/>
              </a:rPr>
              <a:t> set </a:t>
            </a:r>
            <a:r>
              <a:rPr lang="en-US" sz="2000" i="1" dirty="0">
                <a:solidFill>
                  <a:schemeClr val="tx2"/>
                </a:solidFill>
                <a:effectLst/>
              </a:rPr>
              <a:t>D </a:t>
            </a:r>
            <a:endParaRPr lang="en-US" sz="2000" dirty="0">
              <a:solidFill>
                <a:schemeClr val="tx2"/>
              </a:solidFill>
              <a:effectLst/>
            </a:endParaRPr>
          </a:p>
          <a:p>
            <a:pPr marL="285750" indent="-285750">
              <a:spcAft>
                <a:spcPts val="600"/>
              </a:spcAft>
              <a:buClr>
                <a:schemeClr val="bg1"/>
              </a:buClr>
              <a:buSzPct val="75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effectLst/>
              </a:rPr>
              <a:t>Fit a tree to each bootstrapped sample</a:t>
            </a:r>
          </a:p>
          <a:p>
            <a:pPr marL="285750" indent="-285750">
              <a:spcAft>
                <a:spcPts val="600"/>
              </a:spcAft>
              <a:buClr>
                <a:schemeClr val="bg1"/>
              </a:buClr>
              <a:buSzPct val="75000"/>
              <a:buFont typeface="Wingdings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</a:rPr>
              <a:t>Use fitted tree on the same </a:t>
            </a:r>
            <a:r>
              <a:rPr lang="en-US" sz="2000" b="1" dirty="0">
                <a:solidFill>
                  <a:srgbClr val="FF0000"/>
                </a:solidFill>
                <a:effectLst/>
              </a:rPr>
              <a:t>test set</a:t>
            </a:r>
          </a:p>
          <a:p>
            <a:pPr marL="285750" indent="-285750">
              <a:spcAft>
                <a:spcPts val="600"/>
              </a:spcAft>
              <a:buClr>
                <a:schemeClr val="bg1"/>
              </a:buClr>
              <a:buSzPct val="75000"/>
              <a:buFont typeface="Wingdings" pitchFamily="2" charset="2"/>
              <a:buChar char="§"/>
            </a:pPr>
            <a:r>
              <a:rPr lang="en-US" sz="2000" b="1" dirty="0"/>
              <a:t>Get 500 sets of predictions</a:t>
            </a:r>
          </a:p>
          <a:p>
            <a:pPr marL="285750" indent="-285750">
              <a:spcAft>
                <a:spcPts val="600"/>
              </a:spcAft>
              <a:buClr>
                <a:schemeClr val="bg1"/>
              </a:buClr>
              <a:buSzPct val="75000"/>
              <a:buFont typeface="Wingdings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  <a:effectLst/>
              </a:rPr>
              <a:t>The average will be the final pred</a:t>
            </a:r>
            <a:r>
              <a:rPr lang="en-US" sz="2000" b="1" dirty="0">
                <a:solidFill>
                  <a:srgbClr val="FF0000"/>
                </a:solidFill>
              </a:rPr>
              <a:t>iction</a:t>
            </a:r>
            <a:endParaRPr lang="en-US" sz="2000" dirty="0">
              <a:solidFill>
                <a:schemeClr val="tx2"/>
              </a:solidFill>
              <a:effectLst/>
            </a:endParaRPr>
          </a:p>
          <a:p>
            <a:pPr>
              <a:spcAft>
                <a:spcPts val="600"/>
              </a:spcAft>
              <a:buClr>
                <a:schemeClr val="bg1"/>
              </a:buClr>
              <a:buSzPct val="75000"/>
            </a:pPr>
            <a:endParaRPr lang="en-US" sz="1400" dirty="0">
              <a:solidFill>
                <a:schemeClr val="tx2"/>
              </a:solidFill>
              <a:effectLst/>
            </a:endParaRPr>
          </a:p>
          <a:p>
            <a:pPr>
              <a:spcAft>
                <a:spcPts val="600"/>
              </a:spcAft>
              <a:buClr>
                <a:schemeClr val="bg1"/>
              </a:buClr>
              <a:buSzPct val="75000"/>
            </a:pPr>
            <a:endParaRPr lang="en-US" sz="1400" dirty="0">
              <a:solidFill>
                <a:schemeClr val="tx2"/>
              </a:solidFill>
              <a:effectLst/>
            </a:endParaRPr>
          </a:p>
        </p:txBody>
      </p:sp>
      <p:pic>
        <p:nvPicPr>
          <p:cNvPr id="17" name="Content Placeholder 16" descr="Diagram&#10;&#10;Description automatically generated">
            <a:extLst>
              <a:ext uri="{FF2B5EF4-FFF2-40B4-BE49-F238E27FC236}">
                <a16:creationId xmlns:a16="http://schemas.microsoft.com/office/drawing/2014/main" id="{0AA99559-92C8-BD19-D248-7CFB05C68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0061" y="732348"/>
            <a:ext cx="5803113" cy="554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15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7E1993-6448-42F8-8FB3-76104F45B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B1D20-D329-4285-AED2-DABDCE902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016B79-9C59-4CEA-A85C-3E4C8877B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20861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2391C84E-C2EA-44FC-A7D1-FAE3E2850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7B3131A-B518-43E5-A896-E9D654A48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76355E6-7A00-4B30-A47B-80EF0D0D6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D0B06C-9FFD-42E8-B19F-062C248CD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291278-5FDA-45C6-B93E-1FA6D9130B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F95DF7-BFEE-4791-A691-BAF693F38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7C504F1-5AA9-45F5-9030-22533885AF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D75999E-3496-4713-8046-AC17DB266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6B91000-D71E-40A8-AA8F-E9BB106A8C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9D188E-6FDB-47DE-A5FB-728E56BD0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D98C242-C677-4CF5-A189-52C3ADAF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9D7CD7F-137F-42DC-AFFA-52D9B8DF5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E3C1C05-EF55-47B3-B1D8-54911633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E6BE961-4385-4384-B028-D57AA88EF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98288B9-9DC0-41DF-BDC2-329675E14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A97B8C6-FF63-4B6A-913C-50CB2EB7B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3734427-CEE3-45F9-8CDE-7DC289716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5443404-2D71-4E54-86D6-DB0D769AA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C94E908-A14E-4E7A-B4FC-BB9D82FD0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2E257B4-59EA-43CC-A20C-D2755D26B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1037FBF-2F84-4578-9624-4E6D10766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26E3BDC-D7FC-4C7E-9F35-1D05C9D54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E39965B-216F-478B-8653-0F7B877C0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2116FC6-1CFC-4E87-8431-E7833BFB7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7829DA6-D97C-490E-BEEF-83832787D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495B6D3-A3B6-4636-A210-AFC128284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2462476-3252-49A1-93CE-4FA22B830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3C18803-7708-483D-8CE3-0992784BB5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B4024AE-5222-4804-AA42-E7A4C0B970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14FBE75-ECC4-4BB7-92B2-74D6CF686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7061C60-9F4E-4144-B974-AFB802AF4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FF7E7B-FBEF-BBC0-23E7-0A195ABA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0772"/>
            <a:ext cx="3733078" cy="5531079"/>
          </a:xfrm>
        </p:spPr>
        <p:txBody>
          <a:bodyPr>
            <a:normAutofit/>
          </a:bodyPr>
          <a:lstStyle/>
          <a:p>
            <a:r>
              <a:rPr lang="en-US" sz="3700" dirty="0"/>
              <a:t>Implementation</a:t>
            </a:r>
          </a:p>
        </p:txBody>
      </p:sp>
      <p:sp>
        <p:nvSpPr>
          <p:cNvPr id="48" name="Flowchart: Document 8">
            <a:extLst>
              <a:ext uri="{FF2B5EF4-FFF2-40B4-BE49-F238E27FC236}">
                <a16:creationId xmlns:a16="http://schemas.microsoft.com/office/drawing/2014/main" id="{6B91DA8E-00B5-4214-AFE5-535E47051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85106" y="-465509"/>
            <a:ext cx="6858001" cy="778901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  <a:gd name="connsiteX0" fmla="*/ 17 w 21656"/>
              <a:gd name="connsiteY0" fmla="*/ 147 h 47742"/>
              <a:gd name="connsiteX1" fmla="*/ 21637 w 21656"/>
              <a:gd name="connsiteY1" fmla="*/ 0 h 47742"/>
              <a:gd name="connsiteX2" fmla="*/ 21656 w 21656"/>
              <a:gd name="connsiteY2" fmla="*/ 43796 h 47742"/>
              <a:gd name="connsiteX3" fmla="*/ 0 w 21656"/>
              <a:gd name="connsiteY3" fmla="*/ 46582 h 47742"/>
              <a:gd name="connsiteX4" fmla="*/ 17 w 21656"/>
              <a:gd name="connsiteY4" fmla="*/ 147 h 47742"/>
              <a:gd name="connsiteX0" fmla="*/ 17 w 21663"/>
              <a:gd name="connsiteY0" fmla="*/ 73 h 47668"/>
              <a:gd name="connsiteX1" fmla="*/ 21663 w 21663"/>
              <a:gd name="connsiteY1" fmla="*/ 0 h 47668"/>
              <a:gd name="connsiteX2" fmla="*/ 21656 w 21663"/>
              <a:gd name="connsiteY2" fmla="*/ 43722 h 47668"/>
              <a:gd name="connsiteX3" fmla="*/ 0 w 21663"/>
              <a:gd name="connsiteY3" fmla="*/ 46508 h 47668"/>
              <a:gd name="connsiteX4" fmla="*/ 17 w 21663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64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70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4 w 21676"/>
              <a:gd name="connsiteY0" fmla="*/ 0 h 47722"/>
              <a:gd name="connsiteX1" fmla="*/ 21676 w 21676"/>
              <a:gd name="connsiteY1" fmla="*/ 54 h 47722"/>
              <a:gd name="connsiteX2" fmla="*/ 21675 w 21676"/>
              <a:gd name="connsiteY2" fmla="*/ 43776 h 47722"/>
              <a:gd name="connsiteX3" fmla="*/ 13 w 21676"/>
              <a:gd name="connsiteY3" fmla="*/ 46562 h 47722"/>
              <a:gd name="connsiteX4" fmla="*/ 4 w 21676"/>
              <a:gd name="connsiteY4" fmla="*/ 0 h 4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D00763-378D-02B6-D467-E4362C0E1A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064708"/>
              </p:ext>
            </p:extLst>
          </p:nvPr>
        </p:nvGraphicFramePr>
        <p:xfrm>
          <a:off x="5165512" y="185047"/>
          <a:ext cx="6831118" cy="6059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9209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8DD0EAF-BF73-48D8-A426-3085C4B88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8" name="Right Triangle 127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947C7C34-ECB5-3732-FA4D-230D074D6F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04" r="12411" b="-1"/>
          <a:stretch/>
        </p:blipFill>
        <p:spPr>
          <a:xfrm>
            <a:off x="6452183" y="0"/>
            <a:ext cx="5762640" cy="686143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1A31847-8FDC-4E24-2B5E-99AE95B28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10722932" cy="86856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Simple Algorithm</a:t>
            </a:r>
          </a:p>
        </p:txBody>
      </p:sp>
      <p:pic>
        <p:nvPicPr>
          <p:cNvPr id="10" name="Picture 9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C0962F6-D29F-3187-3B00-EEA1DE9FF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3" y="1286096"/>
            <a:ext cx="6260230" cy="518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49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E7B3AA-4730-4A70-A83C-3DE1D6BFB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1DCAAC-18AC-4347-8BB0-304CF6AF8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399" y="5536926"/>
            <a:ext cx="1700404" cy="1321074"/>
          </a:xfrm>
          <a:custGeom>
            <a:avLst/>
            <a:gdLst>
              <a:gd name="connsiteX0" fmla="*/ 0 w 1700404"/>
              <a:gd name="connsiteY0" fmla="*/ 0 h 1321074"/>
              <a:gd name="connsiteX1" fmla="*/ 231775 w 1700404"/>
              <a:gd name="connsiteY1" fmla="*/ 59596 h 1321074"/>
              <a:gd name="connsiteX2" fmla="*/ 1657186 w 1700404"/>
              <a:gd name="connsiteY2" fmla="*/ 1231360 h 1321074"/>
              <a:gd name="connsiteX3" fmla="*/ 1700404 w 1700404"/>
              <a:gd name="connsiteY3" fmla="*/ 1321074 h 1321074"/>
              <a:gd name="connsiteX4" fmla="*/ 724505 w 1700404"/>
              <a:gd name="connsiteY4" fmla="*/ 1321074 h 1321074"/>
              <a:gd name="connsiteX5" fmla="*/ 656282 w 1700404"/>
              <a:gd name="connsiteY5" fmla="*/ 1246011 h 1321074"/>
              <a:gd name="connsiteX6" fmla="*/ 138028 w 1700404"/>
              <a:gd name="connsiteY6" fmla="*/ 896594 h 1321074"/>
              <a:gd name="connsiteX7" fmla="*/ 0 w 1700404"/>
              <a:gd name="connsiteY7" fmla="*/ 846075 h 132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0404" h="1321074">
                <a:moveTo>
                  <a:pt x="0" y="0"/>
                </a:moveTo>
                <a:lnTo>
                  <a:pt x="231775" y="59596"/>
                </a:lnTo>
                <a:cubicBezTo>
                  <a:pt x="845366" y="250442"/>
                  <a:pt x="1355525" y="676052"/>
                  <a:pt x="1657186" y="1231360"/>
                </a:cubicBezTo>
                <a:lnTo>
                  <a:pt x="1700404" y="1321074"/>
                </a:lnTo>
                <a:lnTo>
                  <a:pt x="724505" y="1321074"/>
                </a:lnTo>
                <a:lnTo>
                  <a:pt x="656282" y="1246011"/>
                </a:lnTo>
                <a:cubicBezTo>
                  <a:pt x="508756" y="1098485"/>
                  <a:pt x="333091" y="979099"/>
                  <a:pt x="138028" y="896594"/>
                </a:cubicBezTo>
                <a:lnTo>
                  <a:pt x="0" y="84607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3D75BC-B4EB-43B4-9D95-3536AF14E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03152" y="6477000"/>
            <a:ext cx="335485" cy="0"/>
          </a:xfrm>
          <a:prstGeom prst="straightConnector1">
            <a:avLst/>
          </a:prstGeom>
          <a:ln w="44450">
            <a:solidFill>
              <a:schemeClr val="bg1">
                <a:alpha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0C6A7EB-27A6-5194-5DA8-A77F5C5A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145791"/>
            <a:ext cx="4428140" cy="2240735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2"/>
                </a:solidFill>
              </a:rPr>
              <a:t>Bagging vs. Single Tree</a:t>
            </a:r>
          </a:p>
        </p:txBody>
      </p:sp>
      <p:pic>
        <p:nvPicPr>
          <p:cNvPr id="7" name="Picture 6" descr="A large ship in the water&#10;&#10;Description automatically generated with medium confidence">
            <a:extLst>
              <a:ext uri="{FF2B5EF4-FFF2-40B4-BE49-F238E27FC236}">
                <a16:creationId xmlns:a16="http://schemas.microsoft.com/office/drawing/2014/main" id="{143A4C24-E055-AA05-B99E-C46427D25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767" y="1022904"/>
            <a:ext cx="6795701" cy="496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043147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AnalogousFromRegularSeedRightStep">
      <a:dk1>
        <a:srgbClr val="000000"/>
      </a:dk1>
      <a:lt1>
        <a:srgbClr val="FFFFFF"/>
      </a:lt1>
      <a:dk2>
        <a:srgbClr val="412E24"/>
      </a:dk2>
      <a:lt2>
        <a:srgbClr val="E2E8E7"/>
      </a:lt2>
      <a:accent1>
        <a:srgbClr val="DB3459"/>
      </a:accent1>
      <a:accent2>
        <a:srgbClr val="CA4323"/>
      </a:accent2>
      <a:accent3>
        <a:srgbClr val="D79733"/>
      </a:accent3>
      <a:accent4>
        <a:srgbClr val="A5A91D"/>
      </a:accent4>
      <a:accent5>
        <a:srgbClr val="77B52B"/>
      </a:accent5>
      <a:accent6>
        <a:srgbClr val="36BB20"/>
      </a:accent6>
      <a:hlink>
        <a:srgbClr val="31937D"/>
      </a:hlink>
      <a:folHlink>
        <a:srgbClr val="7F7F7F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</TotalTime>
  <Words>151</Words>
  <Application>Microsoft Macintosh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Avenir Next LT Pro</vt:lpstr>
      <vt:lpstr>Helvetica Neue</vt:lpstr>
      <vt:lpstr>Posterama</vt:lpstr>
      <vt:lpstr>Wingdings</vt:lpstr>
      <vt:lpstr>SineVTI</vt:lpstr>
      <vt:lpstr>Tree-Based Models – II</vt:lpstr>
      <vt:lpstr>BAGGING “Wisdom of the Crowd”</vt:lpstr>
      <vt:lpstr>PowerPoint Presentation</vt:lpstr>
      <vt:lpstr>Implementation</vt:lpstr>
      <vt:lpstr>Simple Algorithm</vt:lpstr>
      <vt:lpstr>Bagging vs. Single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Tree-Based Models</dc:title>
  <dc:creator>Yigit Aydede</dc:creator>
  <cp:lastModifiedBy>Yigit Aydede</cp:lastModifiedBy>
  <cp:revision>5</cp:revision>
  <dcterms:created xsi:type="dcterms:W3CDTF">2023-03-19T13:47:40Z</dcterms:created>
  <dcterms:modified xsi:type="dcterms:W3CDTF">2025-03-03T11:10:33Z</dcterms:modified>
</cp:coreProperties>
</file>