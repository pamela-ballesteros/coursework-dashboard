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2" r:id="rId1"/>
  </p:sldMasterIdLst>
  <p:notesMasterIdLst>
    <p:notesMasterId r:id="rId19"/>
  </p:notesMasterIdLst>
  <p:sldIdLst>
    <p:sldId id="256" r:id="rId2"/>
    <p:sldId id="257" r:id="rId3"/>
    <p:sldId id="259" r:id="rId4"/>
    <p:sldId id="262" r:id="rId5"/>
    <p:sldId id="258" r:id="rId6"/>
    <p:sldId id="260" r:id="rId7"/>
    <p:sldId id="261" r:id="rId8"/>
    <p:sldId id="263" r:id="rId9"/>
    <p:sldId id="264" r:id="rId10"/>
    <p:sldId id="265" r:id="rId11"/>
    <p:sldId id="266" r:id="rId12"/>
    <p:sldId id="267" r:id="rId13"/>
    <p:sldId id="268" r:id="rId14"/>
    <p:sldId id="272" r:id="rId15"/>
    <p:sldId id="269" r:id="rId16"/>
    <p:sldId id="270"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6327"/>
  </p:normalViewPr>
  <p:slideViewPr>
    <p:cSldViewPr snapToGrid="0">
      <p:cViewPr varScale="1">
        <p:scale>
          <a:sx n="104" d="100"/>
          <a:sy n="104" d="100"/>
        </p:scale>
        <p:origin x="232"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rawing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3EFB9E-5B21-45BD-B91C-E5F897743F3D}"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6C99024D-9DEF-4608-BB3E-032A3C49E44C}">
      <dgm:prSet/>
      <dgm:spPr/>
      <dgm:t>
        <a:bodyPr/>
        <a:lstStyle/>
        <a:p>
          <a:r>
            <a:rPr lang="en-CA" b="0" i="0" dirty="0"/>
            <a:t>It is unexcelled in accuracy among current algorithms.</a:t>
          </a:r>
          <a:endParaRPr lang="en-US" dirty="0"/>
        </a:p>
      </dgm:t>
    </dgm:pt>
    <dgm:pt modelId="{C5F18672-064D-4146-A8E4-5714DAF1FF9F}" type="parTrans" cxnId="{4E453530-CA1A-4873-9FB9-02BF3C7E3BF7}">
      <dgm:prSet/>
      <dgm:spPr/>
      <dgm:t>
        <a:bodyPr/>
        <a:lstStyle/>
        <a:p>
          <a:endParaRPr lang="en-US"/>
        </a:p>
      </dgm:t>
    </dgm:pt>
    <dgm:pt modelId="{895FED79-C555-469E-9D6A-FB82FBFC30FE}" type="sibTrans" cxnId="{4E453530-CA1A-4873-9FB9-02BF3C7E3BF7}">
      <dgm:prSet/>
      <dgm:spPr/>
      <dgm:t>
        <a:bodyPr/>
        <a:lstStyle/>
        <a:p>
          <a:endParaRPr lang="en-US"/>
        </a:p>
      </dgm:t>
    </dgm:pt>
    <dgm:pt modelId="{0B17BE25-64E2-4E46-9F40-18A70D84C7B5}">
      <dgm:prSet/>
      <dgm:spPr/>
      <dgm:t>
        <a:bodyPr/>
        <a:lstStyle/>
        <a:p>
          <a:r>
            <a:rPr lang="en-CA" b="0" i="0" dirty="0"/>
            <a:t>It runs efficiently on large data bases.</a:t>
          </a:r>
          <a:endParaRPr lang="en-US" dirty="0"/>
        </a:p>
      </dgm:t>
    </dgm:pt>
    <dgm:pt modelId="{4ABF7EA9-B7A5-4C23-AEF5-C9A3A87A5B4B}" type="parTrans" cxnId="{0EF37777-B743-4155-B29D-CFB9D9BD7AAA}">
      <dgm:prSet/>
      <dgm:spPr/>
      <dgm:t>
        <a:bodyPr/>
        <a:lstStyle/>
        <a:p>
          <a:endParaRPr lang="en-US"/>
        </a:p>
      </dgm:t>
    </dgm:pt>
    <dgm:pt modelId="{C9E57B48-8153-4ED0-AD83-A986DC8AFD33}" type="sibTrans" cxnId="{0EF37777-B743-4155-B29D-CFB9D9BD7AAA}">
      <dgm:prSet/>
      <dgm:spPr/>
      <dgm:t>
        <a:bodyPr/>
        <a:lstStyle/>
        <a:p>
          <a:endParaRPr lang="en-US"/>
        </a:p>
      </dgm:t>
    </dgm:pt>
    <dgm:pt modelId="{8C6A8504-E172-4CCA-97AB-EA343A92112E}">
      <dgm:prSet/>
      <dgm:spPr/>
      <dgm:t>
        <a:bodyPr/>
        <a:lstStyle/>
        <a:p>
          <a:r>
            <a:rPr lang="en-CA" b="0" i="0"/>
            <a:t>It can handle thousands of input variables without variable deletion. </a:t>
          </a:r>
          <a:endParaRPr lang="en-US"/>
        </a:p>
      </dgm:t>
    </dgm:pt>
    <dgm:pt modelId="{1E757313-6AC1-4086-8FEB-7F3BE417195E}" type="parTrans" cxnId="{17B287CA-8F90-48ED-AD1C-C52C3B54DFD8}">
      <dgm:prSet/>
      <dgm:spPr/>
      <dgm:t>
        <a:bodyPr/>
        <a:lstStyle/>
        <a:p>
          <a:endParaRPr lang="en-US"/>
        </a:p>
      </dgm:t>
    </dgm:pt>
    <dgm:pt modelId="{AE2152A2-0C26-4CBA-BCF7-6D6E70B63645}" type="sibTrans" cxnId="{17B287CA-8F90-48ED-AD1C-C52C3B54DFD8}">
      <dgm:prSet/>
      <dgm:spPr/>
      <dgm:t>
        <a:bodyPr/>
        <a:lstStyle/>
        <a:p>
          <a:endParaRPr lang="en-US"/>
        </a:p>
      </dgm:t>
    </dgm:pt>
    <dgm:pt modelId="{90ED0C26-BA51-4831-8B87-009E2AB647A6}">
      <dgm:prSet/>
      <dgm:spPr/>
      <dgm:t>
        <a:bodyPr/>
        <a:lstStyle/>
        <a:p>
          <a:r>
            <a:rPr lang="en-CA" b="0" i="0"/>
            <a:t>It gives estimates of what variables are important in the classification. </a:t>
          </a:r>
          <a:endParaRPr lang="en-US"/>
        </a:p>
      </dgm:t>
    </dgm:pt>
    <dgm:pt modelId="{59123A29-7D43-45C9-A0FB-5D05A1C7A2C9}" type="parTrans" cxnId="{C12DAE96-83D9-4079-B264-82E4BC6659E7}">
      <dgm:prSet/>
      <dgm:spPr/>
      <dgm:t>
        <a:bodyPr/>
        <a:lstStyle/>
        <a:p>
          <a:endParaRPr lang="en-US"/>
        </a:p>
      </dgm:t>
    </dgm:pt>
    <dgm:pt modelId="{E471A6A5-E380-46C3-9BE5-9C062CEBAA64}" type="sibTrans" cxnId="{C12DAE96-83D9-4079-B264-82E4BC6659E7}">
      <dgm:prSet/>
      <dgm:spPr/>
      <dgm:t>
        <a:bodyPr/>
        <a:lstStyle/>
        <a:p>
          <a:endParaRPr lang="en-US"/>
        </a:p>
      </dgm:t>
    </dgm:pt>
    <dgm:pt modelId="{0DCB08A3-FA77-4AEE-ADD4-059E3DE5BE05}">
      <dgm:prSet/>
      <dgm:spPr/>
      <dgm:t>
        <a:bodyPr/>
        <a:lstStyle/>
        <a:p>
          <a:r>
            <a:rPr lang="en-CA" b="0" i="0"/>
            <a:t>It generates an internal unbiased estimate of the generalization error as the forest building progresses. </a:t>
          </a:r>
          <a:endParaRPr lang="en-US"/>
        </a:p>
      </dgm:t>
    </dgm:pt>
    <dgm:pt modelId="{5BEADBF9-8785-4B85-B2B5-FA085EDE5F24}" type="parTrans" cxnId="{954A9542-AE90-46B2-8D6A-220A466B875F}">
      <dgm:prSet/>
      <dgm:spPr/>
      <dgm:t>
        <a:bodyPr/>
        <a:lstStyle/>
        <a:p>
          <a:endParaRPr lang="en-US"/>
        </a:p>
      </dgm:t>
    </dgm:pt>
    <dgm:pt modelId="{5721ABCB-5461-4A7C-9F1A-138D9CFCF5A4}" type="sibTrans" cxnId="{954A9542-AE90-46B2-8D6A-220A466B875F}">
      <dgm:prSet/>
      <dgm:spPr/>
      <dgm:t>
        <a:bodyPr/>
        <a:lstStyle/>
        <a:p>
          <a:endParaRPr lang="en-US"/>
        </a:p>
      </dgm:t>
    </dgm:pt>
    <dgm:pt modelId="{E5120CBD-D41F-4ECC-ABF8-FCF9C0272B1B}">
      <dgm:prSet/>
      <dgm:spPr/>
      <dgm:t>
        <a:bodyPr/>
        <a:lstStyle/>
        <a:p>
          <a:r>
            <a:rPr lang="en-CA" b="0" i="0" dirty="0"/>
            <a:t>It has an effective method for estimating missing data and maintains accuracy when a large proportion of the data are missing. </a:t>
          </a:r>
          <a:endParaRPr lang="en-US" dirty="0"/>
        </a:p>
      </dgm:t>
    </dgm:pt>
    <dgm:pt modelId="{FA38918B-DB72-405C-80AB-07DDFE6408D8}" type="parTrans" cxnId="{86235EA7-3619-44DC-83CB-FAB30257796F}">
      <dgm:prSet/>
      <dgm:spPr/>
      <dgm:t>
        <a:bodyPr/>
        <a:lstStyle/>
        <a:p>
          <a:endParaRPr lang="en-US"/>
        </a:p>
      </dgm:t>
    </dgm:pt>
    <dgm:pt modelId="{661F0D27-64EB-4E4D-8FDA-A08FEF89A4D4}" type="sibTrans" cxnId="{86235EA7-3619-44DC-83CB-FAB30257796F}">
      <dgm:prSet/>
      <dgm:spPr/>
      <dgm:t>
        <a:bodyPr/>
        <a:lstStyle/>
        <a:p>
          <a:endParaRPr lang="en-US"/>
        </a:p>
      </dgm:t>
    </dgm:pt>
    <dgm:pt modelId="{1D701162-81D5-44C7-84A3-A7FF7C637551}">
      <dgm:prSet/>
      <dgm:spPr/>
      <dgm:t>
        <a:bodyPr/>
        <a:lstStyle/>
        <a:p>
          <a:r>
            <a:rPr lang="en-CA" b="0" i="0"/>
            <a:t>It has methods for balancing error in class population unbalanced data sets. </a:t>
          </a:r>
          <a:endParaRPr lang="en-US"/>
        </a:p>
      </dgm:t>
    </dgm:pt>
    <dgm:pt modelId="{53EAE009-3C25-42C9-96CF-8D828ABBB6A4}" type="parTrans" cxnId="{A34DED86-53E5-4070-B879-B3CAD88DE047}">
      <dgm:prSet/>
      <dgm:spPr/>
      <dgm:t>
        <a:bodyPr/>
        <a:lstStyle/>
        <a:p>
          <a:endParaRPr lang="en-US"/>
        </a:p>
      </dgm:t>
    </dgm:pt>
    <dgm:pt modelId="{DDB960F6-FD84-4609-A8A7-56D32D9AEE43}" type="sibTrans" cxnId="{A34DED86-53E5-4070-B879-B3CAD88DE047}">
      <dgm:prSet/>
      <dgm:spPr/>
      <dgm:t>
        <a:bodyPr/>
        <a:lstStyle/>
        <a:p>
          <a:endParaRPr lang="en-US"/>
        </a:p>
      </dgm:t>
    </dgm:pt>
    <dgm:pt modelId="{E6DC373D-0FD7-44A3-9A95-FCAF014C09D6}">
      <dgm:prSet/>
      <dgm:spPr/>
      <dgm:t>
        <a:bodyPr/>
        <a:lstStyle/>
        <a:p>
          <a:r>
            <a:rPr lang="en-CA" b="0" i="0"/>
            <a:t>Generated forests can be saved for future use on other data. </a:t>
          </a:r>
          <a:endParaRPr lang="en-US"/>
        </a:p>
      </dgm:t>
    </dgm:pt>
    <dgm:pt modelId="{BE0A9807-6BA5-4906-9A0E-1402D5B5523E}" type="parTrans" cxnId="{22EFA9A0-6EAC-4D54-B68D-9E3C51FB27B2}">
      <dgm:prSet/>
      <dgm:spPr/>
      <dgm:t>
        <a:bodyPr/>
        <a:lstStyle/>
        <a:p>
          <a:endParaRPr lang="en-US"/>
        </a:p>
      </dgm:t>
    </dgm:pt>
    <dgm:pt modelId="{6E25ABCD-3867-425A-A464-D7C855C14F39}" type="sibTrans" cxnId="{22EFA9A0-6EAC-4D54-B68D-9E3C51FB27B2}">
      <dgm:prSet/>
      <dgm:spPr/>
      <dgm:t>
        <a:bodyPr/>
        <a:lstStyle/>
        <a:p>
          <a:endParaRPr lang="en-US"/>
        </a:p>
      </dgm:t>
    </dgm:pt>
    <dgm:pt modelId="{FDD93B1A-E2DF-4518-92A8-C7CF531F7EC3}">
      <dgm:prSet/>
      <dgm:spPr/>
      <dgm:t>
        <a:bodyPr/>
        <a:lstStyle/>
        <a:p>
          <a:r>
            <a:rPr lang="en-CA" b="0" i="0"/>
            <a:t>Prototypes are computed that give information about the relation between the variables and the classification.</a:t>
          </a:r>
          <a:endParaRPr lang="en-US"/>
        </a:p>
      </dgm:t>
    </dgm:pt>
    <dgm:pt modelId="{A62F1E31-D2AB-4EE4-9CF7-A8AA6939B4CF}" type="parTrans" cxnId="{2BED0368-CB4E-4195-836D-81EF9478FA10}">
      <dgm:prSet/>
      <dgm:spPr/>
      <dgm:t>
        <a:bodyPr/>
        <a:lstStyle/>
        <a:p>
          <a:endParaRPr lang="en-US"/>
        </a:p>
      </dgm:t>
    </dgm:pt>
    <dgm:pt modelId="{6AE07F45-1B75-4141-9A4C-9C974945D1AF}" type="sibTrans" cxnId="{2BED0368-CB4E-4195-836D-81EF9478FA10}">
      <dgm:prSet/>
      <dgm:spPr/>
      <dgm:t>
        <a:bodyPr/>
        <a:lstStyle/>
        <a:p>
          <a:endParaRPr lang="en-US"/>
        </a:p>
      </dgm:t>
    </dgm:pt>
    <dgm:pt modelId="{73453926-CFEA-40A4-BCBE-2843D320DC97}">
      <dgm:prSet/>
      <dgm:spPr/>
      <dgm:t>
        <a:bodyPr/>
        <a:lstStyle/>
        <a:p>
          <a:r>
            <a:rPr lang="en-CA" b="0" i="0"/>
            <a:t>It computes proximities between pairs of cases that can be used in clustering, locating outliers, or (by scaling) give interesting views of the data.</a:t>
          </a:r>
          <a:endParaRPr lang="en-US"/>
        </a:p>
      </dgm:t>
    </dgm:pt>
    <dgm:pt modelId="{BD5AF775-32E2-4D1A-B936-7381B8E07626}" type="parTrans" cxnId="{A3E9C435-EDD8-4925-A083-3188408D0DBA}">
      <dgm:prSet/>
      <dgm:spPr/>
      <dgm:t>
        <a:bodyPr/>
        <a:lstStyle/>
        <a:p>
          <a:endParaRPr lang="en-US"/>
        </a:p>
      </dgm:t>
    </dgm:pt>
    <dgm:pt modelId="{4655BEAA-066C-499F-AA09-A24EFF9FEB0E}" type="sibTrans" cxnId="{A3E9C435-EDD8-4925-A083-3188408D0DBA}">
      <dgm:prSet/>
      <dgm:spPr/>
      <dgm:t>
        <a:bodyPr/>
        <a:lstStyle/>
        <a:p>
          <a:endParaRPr lang="en-US"/>
        </a:p>
      </dgm:t>
    </dgm:pt>
    <dgm:pt modelId="{B7818BBA-8CFD-4A6D-A0EB-4D269D3EE270}">
      <dgm:prSet/>
      <dgm:spPr/>
      <dgm:t>
        <a:bodyPr/>
        <a:lstStyle/>
        <a:p>
          <a:r>
            <a:rPr lang="en-CA" b="0" i="0"/>
            <a:t>The capabilities of the above can be extended to unlabeled data, leading to unsupervised clustering, data views and outlier detection. </a:t>
          </a:r>
          <a:endParaRPr lang="en-US"/>
        </a:p>
      </dgm:t>
    </dgm:pt>
    <dgm:pt modelId="{5323CBE5-E007-4682-8739-9C68BE13B33F}" type="parTrans" cxnId="{B4BEBA3C-E405-4001-95EA-BD3A7E3E6748}">
      <dgm:prSet/>
      <dgm:spPr/>
      <dgm:t>
        <a:bodyPr/>
        <a:lstStyle/>
        <a:p>
          <a:endParaRPr lang="en-US"/>
        </a:p>
      </dgm:t>
    </dgm:pt>
    <dgm:pt modelId="{0FB18F4C-239D-4F14-A77A-AA650B6D032D}" type="sibTrans" cxnId="{B4BEBA3C-E405-4001-95EA-BD3A7E3E6748}">
      <dgm:prSet/>
      <dgm:spPr/>
      <dgm:t>
        <a:bodyPr/>
        <a:lstStyle/>
        <a:p>
          <a:endParaRPr lang="en-US"/>
        </a:p>
      </dgm:t>
    </dgm:pt>
    <dgm:pt modelId="{ED9D2A59-C361-4826-AB7A-25D540038810}">
      <dgm:prSet/>
      <dgm:spPr/>
      <dgm:t>
        <a:bodyPr/>
        <a:lstStyle/>
        <a:p>
          <a:r>
            <a:rPr lang="en-CA" b="0" i="0"/>
            <a:t>It offers an experimental method for detecting variable interactions.</a:t>
          </a:r>
          <a:endParaRPr lang="en-US"/>
        </a:p>
      </dgm:t>
    </dgm:pt>
    <dgm:pt modelId="{F38262EA-4467-4B06-BF95-EAAFCB963CA1}" type="parTrans" cxnId="{F4B5DCFE-FB09-4929-81A1-5E64676FA238}">
      <dgm:prSet/>
      <dgm:spPr/>
      <dgm:t>
        <a:bodyPr/>
        <a:lstStyle/>
        <a:p>
          <a:endParaRPr lang="en-US"/>
        </a:p>
      </dgm:t>
    </dgm:pt>
    <dgm:pt modelId="{4B1BF4EB-C853-47A3-996D-E51AFD06A895}" type="sibTrans" cxnId="{F4B5DCFE-FB09-4929-81A1-5E64676FA238}">
      <dgm:prSet/>
      <dgm:spPr/>
      <dgm:t>
        <a:bodyPr/>
        <a:lstStyle/>
        <a:p>
          <a:endParaRPr lang="en-US"/>
        </a:p>
      </dgm:t>
    </dgm:pt>
    <dgm:pt modelId="{68084840-83B0-5844-916E-D5CCA93DABDD}" type="pres">
      <dgm:prSet presAssocID="{FE3EFB9E-5B21-45BD-B91C-E5F897743F3D}" presName="diagram" presStyleCnt="0">
        <dgm:presLayoutVars>
          <dgm:dir/>
          <dgm:resizeHandles val="exact"/>
        </dgm:presLayoutVars>
      </dgm:prSet>
      <dgm:spPr/>
    </dgm:pt>
    <dgm:pt modelId="{99B60827-2B33-D44C-9765-576BF206E0DC}" type="pres">
      <dgm:prSet presAssocID="{6C99024D-9DEF-4608-BB3E-032A3C49E44C}" presName="node" presStyleLbl="node1" presStyleIdx="0" presStyleCnt="12">
        <dgm:presLayoutVars>
          <dgm:bulletEnabled val="1"/>
        </dgm:presLayoutVars>
      </dgm:prSet>
      <dgm:spPr/>
    </dgm:pt>
    <dgm:pt modelId="{556981C2-C067-7D42-8673-924544D4850E}" type="pres">
      <dgm:prSet presAssocID="{895FED79-C555-469E-9D6A-FB82FBFC30FE}" presName="sibTrans" presStyleCnt="0"/>
      <dgm:spPr/>
    </dgm:pt>
    <dgm:pt modelId="{82C3CBD0-D282-D542-84C2-331C4F4DA8E0}" type="pres">
      <dgm:prSet presAssocID="{0B17BE25-64E2-4E46-9F40-18A70D84C7B5}" presName="node" presStyleLbl="node1" presStyleIdx="1" presStyleCnt="12">
        <dgm:presLayoutVars>
          <dgm:bulletEnabled val="1"/>
        </dgm:presLayoutVars>
      </dgm:prSet>
      <dgm:spPr/>
    </dgm:pt>
    <dgm:pt modelId="{4494693A-8F42-554C-A9A4-7C93CE4F2A9C}" type="pres">
      <dgm:prSet presAssocID="{C9E57B48-8153-4ED0-AD83-A986DC8AFD33}" presName="sibTrans" presStyleCnt="0"/>
      <dgm:spPr/>
    </dgm:pt>
    <dgm:pt modelId="{F11CA3F6-402A-684C-9EAE-D923A2709FD2}" type="pres">
      <dgm:prSet presAssocID="{8C6A8504-E172-4CCA-97AB-EA343A92112E}" presName="node" presStyleLbl="node1" presStyleIdx="2" presStyleCnt="12">
        <dgm:presLayoutVars>
          <dgm:bulletEnabled val="1"/>
        </dgm:presLayoutVars>
      </dgm:prSet>
      <dgm:spPr/>
    </dgm:pt>
    <dgm:pt modelId="{2FC3C4AE-732E-104F-9E5A-F43C2D482A5F}" type="pres">
      <dgm:prSet presAssocID="{AE2152A2-0C26-4CBA-BCF7-6D6E70B63645}" presName="sibTrans" presStyleCnt="0"/>
      <dgm:spPr/>
    </dgm:pt>
    <dgm:pt modelId="{6EDF2F77-AE63-0B43-BE72-E2F1F66EC11B}" type="pres">
      <dgm:prSet presAssocID="{90ED0C26-BA51-4831-8B87-009E2AB647A6}" presName="node" presStyleLbl="node1" presStyleIdx="3" presStyleCnt="12">
        <dgm:presLayoutVars>
          <dgm:bulletEnabled val="1"/>
        </dgm:presLayoutVars>
      </dgm:prSet>
      <dgm:spPr/>
    </dgm:pt>
    <dgm:pt modelId="{8545DC5F-9E99-7F44-8A87-ABD15F3C50FA}" type="pres">
      <dgm:prSet presAssocID="{E471A6A5-E380-46C3-9BE5-9C062CEBAA64}" presName="sibTrans" presStyleCnt="0"/>
      <dgm:spPr/>
    </dgm:pt>
    <dgm:pt modelId="{22F21646-7785-A743-844F-31BCFD0C8C24}" type="pres">
      <dgm:prSet presAssocID="{0DCB08A3-FA77-4AEE-ADD4-059E3DE5BE05}" presName="node" presStyleLbl="node1" presStyleIdx="4" presStyleCnt="12">
        <dgm:presLayoutVars>
          <dgm:bulletEnabled val="1"/>
        </dgm:presLayoutVars>
      </dgm:prSet>
      <dgm:spPr/>
    </dgm:pt>
    <dgm:pt modelId="{D436DD66-C142-5A40-95A4-E6C81355C34E}" type="pres">
      <dgm:prSet presAssocID="{5721ABCB-5461-4A7C-9F1A-138D9CFCF5A4}" presName="sibTrans" presStyleCnt="0"/>
      <dgm:spPr/>
    </dgm:pt>
    <dgm:pt modelId="{D9A60D1A-EB67-D946-928D-630339B88738}" type="pres">
      <dgm:prSet presAssocID="{E5120CBD-D41F-4ECC-ABF8-FCF9C0272B1B}" presName="node" presStyleLbl="node1" presStyleIdx="5" presStyleCnt="12">
        <dgm:presLayoutVars>
          <dgm:bulletEnabled val="1"/>
        </dgm:presLayoutVars>
      </dgm:prSet>
      <dgm:spPr/>
    </dgm:pt>
    <dgm:pt modelId="{701BC810-1B15-E243-AD42-2F3E7F53D47C}" type="pres">
      <dgm:prSet presAssocID="{661F0D27-64EB-4E4D-8FDA-A08FEF89A4D4}" presName="sibTrans" presStyleCnt="0"/>
      <dgm:spPr/>
    </dgm:pt>
    <dgm:pt modelId="{0F72E95E-63EE-FC4C-95F6-5B32FF36EAD1}" type="pres">
      <dgm:prSet presAssocID="{1D701162-81D5-44C7-84A3-A7FF7C637551}" presName="node" presStyleLbl="node1" presStyleIdx="6" presStyleCnt="12">
        <dgm:presLayoutVars>
          <dgm:bulletEnabled val="1"/>
        </dgm:presLayoutVars>
      </dgm:prSet>
      <dgm:spPr/>
    </dgm:pt>
    <dgm:pt modelId="{AD3C393A-8DD6-8948-8C5A-F2C1B61AD2EB}" type="pres">
      <dgm:prSet presAssocID="{DDB960F6-FD84-4609-A8A7-56D32D9AEE43}" presName="sibTrans" presStyleCnt="0"/>
      <dgm:spPr/>
    </dgm:pt>
    <dgm:pt modelId="{E2600AE8-D8E1-8A4A-8764-F7771DF46C55}" type="pres">
      <dgm:prSet presAssocID="{E6DC373D-0FD7-44A3-9A95-FCAF014C09D6}" presName="node" presStyleLbl="node1" presStyleIdx="7" presStyleCnt="12">
        <dgm:presLayoutVars>
          <dgm:bulletEnabled val="1"/>
        </dgm:presLayoutVars>
      </dgm:prSet>
      <dgm:spPr/>
    </dgm:pt>
    <dgm:pt modelId="{AA628F25-6919-614C-9A2A-56D5BE56AA55}" type="pres">
      <dgm:prSet presAssocID="{6E25ABCD-3867-425A-A464-D7C855C14F39}" presName="sibTrans" presStyleCnt="0"/>
      <dgm:spPr/>
    </dgm:pt>
    <dgm:pt modelId="{89522E23-1C08-324E-951D-CC56F2D1D45F}" type="pres">
      <dgm:prSet presAssocID="{FDD93B1A-E2DF-4518-92A8-C7CF531F7EC3}" presName="node" presStyleLbl="node1" presStyleIdx="8" presStyleCnt="12">
        <dgm:presLayoutVars>
          <dgm:bulletEnabled val="1"/>
        </dgm:presLayoutVars>
      </dgm:prSet>
      <dgm:spPr/>
    </dgm:pt>
    <dgm:pt modelId="{EAAE1295-0C72-7B4F-B2E3-858A69F915A1}" type="pres">
      <dgm:prSet presAssocID="{6AE07F45-1B75-4141-9A4C-9C974945D1AF}" presName="sibTrans" presStyleCnt="0"/>
      <dgm:spPr/>
    </dgm:pt>
    <dgm:pt modelId="{1B9F789E-AA93-7C42-BC8A-46E3A176829D}" type="pres">
      <dgm:prSet presAssocID="{73453926-CFEA-40A4-BCBE-2843D320DC97}" presName="node" presStyleLbl="node1" presStyleIdx="9" presStyleCnt="12">
        <dgm:presLayoutVars>
          <dgm:bulletEnabled val="1"/>
        </dgm:presLayoutVars>
      </dgm:prSet>
      <dgm:spPr/>
    </dgm:pt>
    <dgm:pt modelId="{F8093D68-2EC3-8F46-B876-3B0C516D89DB}" type="pres">
      <dgm:prSet presAssocID="{4655BEAA-066C-499F-AA09-A24EFF9FEB0E}" presName="sibTrans" presStyleCnt="0"/>
      <dgm:spPr/>
    </dgm:pt>
    <dgm:pt modelId="{41907302-7FF7-0A44-81B2-EB5C6E55F4F9}" type="pres">
      <dgm:prSet presAssocID="{B7818BBA-8CFD-4A6D-A0EB-4D269D3EE270}" presName="node" presStyleLbl="node1" presStyleIdx="10" presStyleCnt="12">
        <dgm:presLayoutVars>
          <dgm:bulletEnabled val="1"/>
        </dgm:presLayoutVars>
      </dgm:prSet>
      <dgm:spPr/>
    </dgm:pt>
    <dgm:pt modelId="{821B8988-0C90-9C48-BDFC-30A339A0AD26}" type="pres">
      <dgm:prSet presAssocID="{0FB18F4C-239D-4F14-A77A-AA650B6D032D}" presName="sibTrans" presStyleCnt="0"/>
      <dgm:spPr/>
    </dgm:pt>
    <dgm:pt modelId="{8AEC2BAE-DAF2-904D-B210-6C072469F90C}" type="pres">
      <dgm:prSet presAssocID="{ED9D2A59-C361-4826-AB7A-25D540038810}" presName="node" presStyleLbl="node1" presStyleIdx="11" presStyleCnt="12">
        <dgm:presLayoutVars>
          <dgm:bulletEnabled val="1"/>
        </dgm:presLayoutVars>
      </dgm:prSet>
      <dgm:spPr/>
    </dgm:pt>
  </dgm:ptLst>
  <dgm:cxnLst>
    <dgm:cxn modelId="{B5853225-DDD9-0D4E-B9FB-584FE0671554}" type="presOf" srcId="{0B17BE25-64E2-4E46-9F40-18A70D84C7B5}" destId="{82C3CBD0-D282-D542-84C2-331C4F4DA8E0}" srcOrd="0" destOrd="0" presId="urn:microsoft.com/office/officeart/2005/8/layout/default"/>
    <dgm:cxn modelId="{97B6D226-7111-C242-9417-CF38FEFD1C61}" type="presOf" srcId="{ED9D2A59-C361-4826-AB7A-25D540038810}" destId="{8AEC2BAE-DAF2-904D-B210-6C072469F90C}" srcOrd="0" destOrd="0" presId="urn:microsoft.com/office/officeart/2005/8/layout/default"/>
    <dgm:cxn modelId="{4E453530-CA1A-4873-9FB9-02BF3C7E3BF7}" srcId="{FE3EFB9E-5B21-45BD-B91C-E5F897743F3D}" destId="{6C99024D-9DEF-4608-BB3E-032A3C49E44C}" srcOrd="0" destOrd="0" parTransId="{C5F18672-064D-4146-A8E4-5714DAF1FF9F}" sibTransId="{895FED79-C555-469E-9D6A-FB82FBFC30FE}"/>
    <dgm:cxn modelId="{A3E9C435-EDD8-4925-A083-3188408D0DBA}" srcId="{FE3EFB9E-5B21-45BD-B91C-E5F897743F3D}" destId="{73453926-CFEA-40A4-BCBE-2843D320DC97}" srcOrd="9" destOrd="0" parTransId="{BD5AF775-32E2-4D1A-B936-7381B8E07626}" sibTransId="{4655BEAA-066C-499F-AA09-A24EFF9FEB0E}"/>
    <dgm:cxn modelId="{B4BEBA3C-E405-4001-95EA-BD3A7E3E6748}" srcId="{FE3EFB9E-5B21-45BD-B91C-E5F897743F3D}" destId="{B7818BBA-8CFD-4A6D-A0EB-4D269D3EE270}" srcOrd="10" destOrd="0" parTransId="{5323CBE5-E007-4682-8739-9C68BE13B33F}" sibTransId="{0FB18F4C-239D-4F14-A77A-AA650B6D032D}"/>
    <dgm:cxn modelId="{954A9542-AE90-46B2-8D6A-220A466B875F}" srcId="{FE3EFB9E-5B21-45BD-B91C-E5F897743F3D}" destId="{0DCB08A3-FA77-4AEE-ADD4-059E3DE5BE05}" srcOrd="4" destOrd="0" parTransId="{5BEADBF9-8785-4B85-B2B5-FA085EDE5F24}" sibTransId="{5721ABCB-5461-4A7C-9F1A-138D9CFCF5A4}"/>
    <dgm:cxn modelId="{CB658F4B-6767-684F-882D-AF9C25018F47}" type="presOf" srcId="{FDD93B1A-E2DF-4518-92A8-C7CF531F7EC3}" destId="{89522E23-1C08-324E-951D-CC56F2D1D45F}" srcOrd="0" destOrd="0" presId="urn:microsoft.com/office/officeart/2005/8/layout/default"/>
    <dgm:cxn modelId="{F97B2554-39E4-0A48-83EC-056F11F7CA82}" type="presOf" srcId="{E6DC373D-0FD7-44A3-9A95-FCAF014C09D6}" destId="{E2600AE8-D8E1-8A4A-8764-F7771DF46C55}" srcOrd="0" destOrd="0" presId="urn:microsoft.com/office/officeart/2005/8/layout/default"/>
    <dgm:cxn modelId="{22ADBC5F-6B67-1145-845E-F2228C7164B1}" type="presOf" srcId="{90ED0C26-BA51-4831-8B87-009E2AB647A6}" destId="{6EDF2F77-AE63-0B43-BE72-E2F1F66EC11B}" srcOrd="0" destOrd="0" presId="urn:microsoft.com/office/officeart/2005/8/layout/default"/>
    <dgm:cxn modelId="{2BED0368-CB4E-4195-836D-81EF9478FA10}" srcId="{FE3EFB9E-5B21-45BD-B91C-E5F897743F3D}" destId="{FDD93B1A-E2DF-4518-92A8-C7CF531F7EC3}" srcOrd="8" destOrd="0" parTransId="{A62F1E31-D2AB-4EE4-9CF7-A8AA6939B4CF}" sibTransId="{6AE07F45-1B75-4141-9A4C-9C974945D1AF}"/>
    <dgm:cxn modelId="{435CF56D-5FE5-F848-8F0C-58323E4327D2}" type="presOf" srcId="{8C6A8504-E172-4CCA-97AB-EA343A92112E}" destId="{F11CA3F6-402A-684C-9EAE-D923A2709FD2}" srcOrd="0" destOrd="0" presId="urn:microsoft.com/office/officeart/2005/8/layout/default"/>
    <dgm:cxn modelId="{0EF37777-B743-4155-B29D-CFB9D9BD7AAA}" srcId="{FE3EFB9E-5B21-45BD-B91C-E5F897743F3D}" destId="{0B17BE25-64E2-4E46-9F40-18A70D84C7B5}" srcOrd="1" destOrd="0" parTransId="{4ABF7EA9-B7A5-4C23-AEF5-C9A3A87A5B4B}" sibTransId="{C9E57B48-8153-4ED0-AD83-A986DC8AFD33}"/>
    <dgm:cxn modelId="{A34DED86-53E5-4070-B879-B3CAD88DE047}" srcId="{FE3EFB9E-5B21-45BD-B91C-E5F897743F3D}" destId="{1D701162-81D5-44C7-84A3-A7FF7C637551}" srcOrd="6" destOrd="0" parTransId="{53EAE009-3C25-42C9-96CF-8D828ABBB6A4}" sibTransId="{DDB960F6-FD84-4609-A8A7-56D32D9AEE43}"/>
    <dgm:cxn modelId="{71F57687-AFF0-2148-A35B-B08E942AAB58}" type="presOf" srcId="{73453926-CFEA-40A4-BCBE-2843D320DC97}" destId="{1B9F789E-AA93-7C42-BC8A-46E3A176829D}" srcOrd="0" destOrd="0" presId="urn:microsoft.com/office/officeart/2005/8/layout/default"/>
    <dgm:cxn modelId="{8D53F088-2CFC-2B49-8546-DBEA4E528F71}" type="presOf" srcId="{B7818BBA-8CFD-4A6D-A0EB-4D269D3EE270}" destId="{41907302-7FF7-0A44-81B2-EB5C6E55F4F9}" srcOrd="0" destOrd="0" presId="urn:microsoft.com/office/officeart/2005/8/layout/default"/>
    <dgm:cxn modelId="{C12DAE96-83D9-4079-B264-82E4BC6659E7}" srcId="{FE3EFB9E-5B21-45BD-B91C-E5F897743F3D}" destId="{90ED0C26-BA51-4831-8B87-009E2AB647A6}" srcOrd="3" destOrd="0" parTransId="{59123A29-7D43-45C9-A0FB-5D05A1C7A2C9}" sibTransId="{E471A6A5-E380-46C3-9BE5-9C062CEBAA64}"/>
    <dgm:cxn modelId="{22EFA9A0-6EAC-4D54-B68D-9E3C51FB27B2}" srcId="{FE3EFB9E-5B21-45BD-B91C-E5F897743F3D}" destId="{E6DC373D-0FD7-44A3-9A95-FCAF014C09D6}" srcOrd="7" destOrd="0" parTransId="{BE0A9807-6BA5-4906-9A0E-1402D5B5523E}" sibTransId="{6E25ABCD-3867-425A-A464-D7C855C14F39}"/>
    <dgm:cxn modelId="{E67A8AA6-0748-2A49-89F8-D66860914DFF}" type="presOf" srcId="{0DCB08A3-FA77-4AEE-ADD4-059E3DE5BE05}" destId="{22F21646-7785-A743-844F-31BCFD0C8C24}" srcOrd="0" destOrd="0" presId="urn:microsoft.com/office/officeart/2005/8/layout/default"/>
    <dgm:cxn modelId="{86235EA7-3619-44DC-83CB-FAB30257796F}" srcId="{FE3EFB9E-5B21-45BD-B91C-E5F897743F3D}" destId="{E5120CBD-D41F-4ECC-ABF8-FCF9C0272B1B}" srcOrd="5" destOrd="0" parTransId="{FA38918B-DB72-405C-80AB-07DDFE6408D8}" sibTransId="{661F0D27-64EB-4E4D-8FDA-A08FEF89A4D4}"/>
    <dgm:cxn modelId="{ABFB0DC9-F447-8342-A70A-8F0BD0482F4A}" type="presOf" srcId="{1D701162-81D5-44C7-84A3-A7FF7C637551}" destId="{0F72E95E-63EE-FC4C-95F6-5B32FF36EAD1}" srcOrd="0" destOrd="0" presId="urn:microsoft.com/office/officeart/2005/8/layout/default"/>
    <dgm:cxn modelId="{17B287CA-8F90-48ED-AD1C-C52C3B54DFD8}" srcId="{FE3EFB9E-5B21-45BD-B91C-E5F897743F3D}" destId="{8C6A8504-E172-4CCA-97AB-EA343A92112E}" srcOrd="2" destOrd="0" parTransId="{1E757313-6AC1-4086-8FEB-7F3BE417195E}" sibTransId="{AE2152A2-0C26-4CBA-BCF7-6D6E70B63645}"/>
    <dgm:cxn modelId="{2876EBDA-DB24-FE4E-BEC9-FB3BC346909F}" type="presOf" srcId="{6C99024D-9DEF-4608-BB3E-032A3C49E44C}" destId="{99B60827-2B33-D44C-9765-576BF206E0DC}" srcOrd="0" destOrd="0" presId="urn:microsoft.com/office/officeart/2005/8/layout/default"/>
    <dgm:cxn modelId="{73595DE6-ECE6-CE4C-B87B-4084B71416F1}" type="presOf" srcId="{FE3EFB9E-5B21-45BD-B91C-E5F897743F3D}" destId="{68084840-83B0-5844-916E-D5CCA93DABDD}" srcOrd="0" destOrd="0" presId="urn:microsoft.com/office/officeart/2005/8/layout/default"/>
    <dgm:cxn modelId="{DAD5BEEF-34DA-104E-BB16-13B3B3052B3B}" type="presOf" srcId="{E5120CBD-D41F-4ECC-ABF8-FCF9C0272B1B}" destId="{D9A60D1A-EB67-D946-928D-630339B88738}" srcOrd="0" destOrd="0" presId="urn:microsoft.com/office/officeart/2005/8/layout/default"/>
    <dgm:cxn modelId="{F4B5DCFE-FB09-4929-81A1-5E64676FA238}" srcId="{FE3EFB9E-5B21-45BD-B91C-E5F897743F3D}" destId="{ED9D2A59-C361-4826-AB7A-25D540038810}" srcOrd="11" destOrd="0" parTransId="{F38262EA-4467-4B06-BF95-EAAFCB963CA1}" sibTransId="{4B1BF4EB-C853-47A3-996D-E51AFD06A895}"/>
    <dgm:cxn modelId="{337F4865-A245-004C-B58E-EEB707A2BEE8}" type="presParOf" srcId="{68084840-83B0-5844-916E-D5CCA93DABDD}" destId="{99B60827-2B33-D44C-9765-576BF206E0DC}" srcOrd="0" destOrd="0" presId="urn:microsoft.com/office/officeart/2005/8/layout/default"/>
    <dgm:cxn modelId="{F301436F-8FAF-1A41-9080-A262E6BF2D19}" type="presParOf" srcId="{68084840-83B0-5844-916E-D5CCA93DABDD}" destId="{556981C2-C067-7D42-8673-924544D4850E}" srcOrd="1" destOrd="0" presId="urn:microsoft.com/office/officeart/2005/8/layout/default"/>
    <dgm:cxn modelId="{C9B88044-3AA5-D949-9864-C862BDD844C2}" type="presParOf" srcId="{68084840-83B0-5844-916E-D5CCA93DABDD}" destId="{82C3CBD0-D282-D542-84C2-331C4F4DA8E0}" srcOrd="2" destOrd="0" presId="urn:microsoft.com/office/officeart/2005/8/layout/default"/>
    <dgm:cxn modelId="{1B64F86C-F475-FC44-BDBD-442DC491BBD4}" type="presParOf" srcId="{68084840-83B0-5844-916E-D5CCA93DABDD}" destId="{4494693A-8F42-554C-A9A4-7C93CE4F2A9C}" srcOrd="3" destOrd="0" presId="urn:microsoft.com/office/officeart/2005/8/layout/default"/>
    <dgm:cxn modelId="{CB1346F2-6083-F047-99E3-E33DB58002B2}" type="presParOf" srcId="{68084840-83B0-5844-916E-D5CCA93DABDD}" destId="{F11CA3F6-402A-684C-9EAE-D923A2709FD2}" srcOrd="4" destOrd="0" presId="urn:microsoft.com/office/officeart/2005/8/layout/default"/>
    <dgm:cxn modelId="{42555827-C8EC-ED43-9BAF-F436C11CE831}" type="presParOf" srcId="{68084840-83B0-5844-916E-D5CCA93DABDD}" destId="{2FC3C4AE-732E-104F-9E5A-F43C2D482A5F}" srcOrd="5" destOrd="0" presId="urn:microsoft.com/office/officeart/2005/8/layout/default"/>
    <dgm:cxn modelId="{E9BB1BB4-F1B1-6E4F-AEDF-12F026964CC5}" type="presParOf" srcId="{68084840-83B0-5844-916E-D5CCA93DABDD}" destId="{6EDF2F77-AE63-0B43-BE72-E2F1F66EC11B}" srcOrd="6" destOrd="0" presId="urn:microsoft.com/office/officeart/2005/8/layout/default"/>
    <dgm:cxn modelId="{48F7E276-3F98-A743-AB69-D790FACF2ED6}" type="presParOf" srcId="{68084840-83B0-5844-916E-D5CCA93DABDD}" destId="{8545DC5F-9E99-7F44-8A87-ABD15F3C50FA}" srcOrd="7" destOrd="0" presId="urn:microsoft.com/office/officeart/2005/8/layout/default"/>
    <dgm:cxn modelId="{7854853D-3A40-894D-B4EA-EAA9735C7185}" type="presParOf" srcId="{68084840-83B0-5844-916E-D5CCA93DABDD}" destId="{22F21646-7785-A743-844F-31BCFD0C8C24}" srcOrd="8" destOrd="0" presId="urn:microsoft.com/office/officeart/2005/8/layout/default"/>
    <dgm:cxn modelId="{15E4FBDE-E30E-1B40-A331-824ED468EED0}" type="presParOf" srcId="{68084840-83B0-5844-916E-D5CCA93DABDD}" destId="{D436DD66-C142-5A40-95A4-E6C81355C34E}" srcOrd="9" destOrd="0" presId="urn:microsoft.com/office/officeart/2005/8/layout/default"/>
    <dgm:cxn modelId="{3694AA1B-B059-3345-99B9-EE8DB2AA4154}" type="presParOf" srcId="{68084840-83B0-5844-916E-D5CCA93DABDD}" destId="{D9A60D1A-EB67-D946-928D-630339B88738}" srcOrd="10" destOrd="0" presId="urn:microsoft.com/office/officeart/2005/8/layout/default"/>
    <dgm:cxn modelId="{3AC524F7-92ED-E642-8B34-9DD8347FBF59}" type="presParOf" srcId="{68084840-83B0-5844-916E-D5CCA93DABDD}" destId="{701BC810-1B15-E243-AD42-2F3E7F53D47C}" srcOrd="11" destOrd="0" presId="urn:microsoft.com/office/officeart/2005/8/layout/default"/>
    <dgm:cxn modelId="{FA036CC9-7600-B44B-BF0A-ECA49FED65D6}" type="presParOf" srcId="{68084840-83B0-5844-916E-D5CCA93DABDD}" destId="{0F72E95E-63EE-FC4C-95F6-5B32FF36EAD1}" srcOrd="12" destOrd="0" presId="urn:microsoft.com/office/officeart/2005/8/layout/default"/>
    <dgm:cxn modelId="{2A45099E-6971-634A-B355-832E7604A334}" type="presParOf" srcId="{68084840-83B0-5844-916E-D5CCA93DABDD}" destId="{AD3C393A-8DD6-8948-8C5A-F2C1B61AD2EB}" srcOrd="13" destOrd="0" presId="urn:microsoft.com/office/officeart/2005/8/layout/default"/>
    <dgm:cxn modelId="{A05EA794-CFE3-1447-A65D-36C9FE5E3391}" type="presParOf" srcId="{68084840-83B0-5844-916E-D5CCA93DABDD}" destId="{E2600AE8-D8E1-8A4A-8764-F7771DF46C55}" srcOrd="14" destOrd="0" presId="urn:microsoft.com/office/officeart/2005/8/layout/default"/>
    <dgm:cxn modelId="{C4BBCA91-AEA5-1E43-AAEE-5378E1480F56}" type="presParOf" srcId="{68084840-83B0-5844-916E-D5CCA93DABDD}" destId="{AA628F25-6919-614C-9A2A-56D5BE56AA55}" srcOrd="15" destOrd="0" presId="urn:microsoft.com/office/officeart/2005/8/layout/default"/>
    <dgm:cxn modelId="{5D367FC2-FCE1-9544-8510-27F3BB2D45AF}" type="presParOf" srcId="{68084840-83B0-5844-916E-D5CCA93DABDD}" destId="{89522E23-1C08-324E-951D-CC56F2D1D45F}" srcOrd="16" destOrd="0" presId="urn:microsoft.com/office/officeart/2005/8/layout/default"/>
    <dgm:cxn modelId="{E36EA8BC-461D-8E49-8081-2836B7D13A29}" type="presParOf" srcId="{68084840-83B0-5844-916E-D5CCA93DABDD}" destId="{EAAE1295-0C72-7B4F-B2E3-858A69F915A1}" srcOrd="17" destOrd="0" presId="urn:microsoft.com/office/officeart/2005/8/layout/default"/>
    <dgm:cxn modelId="{7C9FFA7F-5484-C148-A3FA-2A19AF1796DF}" type="presParOf" srcId="{68084840-83B0-5844-916E-D5CCA93DABDD}" destId="{1B9F789E-AA93-7C42-BC8A-46E3A176829D}" srcOrd="18" destOrd="0" presId="urn:microsoft.com/office/officeart/2005/8/layout/default"/>
    <dgm:cxn modelId="{D5A54CCE-EDD7-BC42-B97A-C4E40BBE21BF}" type="presParOf" srcId="{68084840-83B0-5844-916E-D5CCA93DABDD}" destId="{F8093D68-2EC3-8F46-B876-3B0C516D89DB}" srcOrd="19" destOrd="0" presId="urn:microsoft.com/office/officeart/2005/8/layout/default"/>
    <dgm:cxn modelId="{B5409A51-B174-FC41-B8A8-2C0D849B7E4C}" type="presParOf" srcId="{68084840-83B0-5844-916E-D5CCA93DABDD}" destId="{41907302-7FF7-0A44-81B2-EB5C6E55F4F9}" srcOrd="20" destOrd="0" presId="urn:microsoft.com/office/officeart/2005/8/layout/default"/>
    <dgm:cxn modelId="{3FD4BB51-D09D-C74E-97B2-7B7EAB86E132}" type="presParOf" srcId="{68084840-83B0-5844-916E-D5CCA93DABDD}" destId="{821B8988-0C90-9C48-BDFC-30A339A0AD26}" srcOrd="21" destOrd="0" presId="urn:microsoft.com/office/officeart/2005/8/layout/default"/>
    <dgm:cxn modelId="{175461C6-C992-424F-B4ED-991214C19CB2}" type="presParOf" srcId="{68084840-83B0-5844-916E-D5CCA93DABDD}" destId="{8AEC2BAE-DAF2-904D-B210-6C072469F90C}" srcOrd="2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751F8B-15F3-42A5-B9EB-4258C65BBD8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5A03DF2-B0F5-4223-8EE5-655A59F0F6F4}">
      <dgm:prSet/>
      <dgm:spPr/>
      <dgm:t>
        <a:bodyPr/>
        <a:lstStyle/>
        <a:p>
          <a:pPr>
            <a:lnSpc>
              <a:spcPct val="100000"/>
            </a:lnSpc>
          </a:pPr>
          <a:r>
            <a:rPr lang="en-CA" b="0" i="0"/>
            <a:t>Each tree is grown as follows: </a:t>
          </a:r>
          <a:endParaRPr lang="en-US"/>
        </a:p>
      </dgm:t>
    </dgm:pt>
    <dgm:pt modelId="{4EE3037E-EA8F-4DC5-80AB-EF7F0317B1AC}" type="parTrans" cxnId="{73C8529D-1800-41AE-A6AC-8FCAB2E5CE8D}">
      <dgm:prSet/>
      <dgm:spPr/>
      <dgm:t>
        <a:bodyPr/>
        <a:lstStyle/>
        <a:p>
          <a:endParaRPr lang="en-US"/>
        </a:p>
      </dgm:t>
    </dgm:pt>
    <dgm:pt modelId="{B3A3A3F5-39B1-4E20-A78C-7B4F22962019}" type="sibTrans" cxnId="{73C8529D-1800-41AE-A6AC-8FCAB2E5CE8D}">
      <dgm:prSet/>
      <dgm:spPr/>
      <dgm:t>
        <a:bodyPr/>
        <a:lstStyle/>
        <a:p>
          <a:endParaRPr lang="en-US"/>
        </a:p>
      </dgm:t>
    </dgm:pt>
    <dgm:pt modelId="{74EBE7B7-991C-440E-91CF-58F9608A7D29}">
      <dgm:prSet/>
      <dgm:spPr/>
      <dgm:t>
        <a:bodyPr/>
        <a:lstStyle/>
        <a:p>
          <a:pPr>
            <a:lnSpc>
              <a:spcPct val="100000"/>
            </a:lnSpc>
          </a:pPr>
          <a:r>
            <a:rPr lang="en-CA" b="0" i="0" dirty="0"/>
            <a:t>If the number of cases in the training set is N, sample N cases at random - but </a:t>
          </a:r>
          <a:r>
            <a:rPr lang="en-CA" b="0" i="1" dirty="0"/>
            <a:t>with replacement</a:t>
          </a:r>
          <a:r>
            <a:rPr lang="en-CA" b="0" i="0" dirty="0"/>
            <a:t>, from the original data. This sample will be the training set for growing the tree. </a:t>
          </a:r>
          <a:endParaRPr lang="en-US" dirty="0"/>
        </a:p>
      </dgm:t>
    </dgm:pt>
    <dgm:pt modelId="{56DECE2D-C470-4A17-951B-7FDEC499BDB6}" type="parTrans" cxnId="{DE0138C8-76A9-42AF-B5B6-76061D7A695D}">
      <dgm:prSet/>
      <dgm:spPr/>
      <dgm:t>
        <a:bodyPr/>
        <a:lstStyle/>
        <a:p>
          <a:endParaRPr lang="en-US"/>
        </a:p>
      </dgm:t>
    </dgm:pt>
    <dgm:pt modelId="{F61288FE-5842-4ECB-AEE0-D687247450D0}" type="sibTrans" cxnId="{DE0138C8-76A9-42AF-B5B6-76061D7A695D}">
      <dgm:prSet/>
      <dgm:spPr/>
      <dgm:t>
        <a:bodyPr/>
        <a:lstStyle/>
        <a:p>
          <a:endParaRPr lang="en-US"/>
        </a:p>
      </dgm:t>
    </dgm:pt>
    <dgm:pt modelId="{42297163-D30B-475B-9379-590B47A6D9C5}">
      <dgm:prSet/>
      <dgm:spPr/>
      <dgm:t>
        <a:bodyPr/>
        <a:lstStyle/>
        <a:p>
          <a:pPr>
            <a:lnSpc>
              <a:spcPct val="100000"/>
            </a:lnSpc>
          </a:pPr>
          <a:r>
            <a:rPr lang="en-CA" b="0" i="0" dirty="0"/>
            <a:t>If there are M input variables, a number m&lt;&lt;M is specified such that at each node, m variables are selected at random out of the M and the best split on these m is used to split the node. The value of m is held constant during the forest growing. </a:t>
          </a:r>
          <a:endParaRPr lang="en-US" dirty="0"/>
        </a:p>
      </dgm:t>
    </dgm:pt>
    <dgm:pt modelId="{401CA28E-BFB3-49E2-B2C7-00887A97FFCA}" type="parTrans" cxnId="{83C5218A-CAD7-4A03-9A45-0A981EACCF58}">
      <dgm:prSet/>
      <dgm:spPr/>
      <dgm:t>
        <a:bodyPr/>
        <a:lstStyle/>
        <a:p>
          <a:endParaRPr lang="en-US"/>
        </a:p>
      </dgm:t>
    </dgm:pt>
    <dgm:pt modelId="{51C26F8E-40C6-4C07-841D-2D1951A3B198}" type="sibTrans" cxnId="{83C5218A-CAD7-4A03-9A45-0A981EACCF58}">
      <dgm:prSet/>
      <dgm:spPr/>
      <dgm:t>
        <a:bodyPr/>
        <a:lstStyle/>
        <a:p>
          <a:endParaRPr lang="en-US"/>
        </a:p>
      </dgm:t>
    </dgm:pt>
    <dgm:pt modelId="{2EA6D408-D13B-403B-9E2A-18EE30D01DBA}">
      <dgm:prSet/>
      <dgm:spPr/>
      <dgm:t>
        <a:bodyPr/>
        <a:lstStyle/>
        <a:p>
          <a:pPr>
            <a:lnSpc>
              <a:spcPct val="100000"/>
            </a:lnSpc>
          </a:pPr>
          <a:r>
            <a:rPr lang="en-CA" b="0" i="0"/>
            <a:t>Each tree is grown to the largest extent possible. There is no pruning. </a:t>
          </a:r>
          <a:endParaRPr lang="en-US"/>
        </a:p>
      </dgm:t>
    </dgm:pt>
    <dgm:pt modelId="{501DCEDB-2A16-4472-B1EE-449976896A0B}" type="parTrans" cxnId="{63569457-81B9-43F6-A4D9-FF22C358E29B}">
      <dgm:prSet/>
      <dgm:spPr/>
      <dgm:t>
        <a:bodyPr/>
        <a:lstStyle/>
        <a:p>
          <a:endParaRPr lang="en-US"/>
        </a:p>
      </dgm:t>
    </dgm:pt>
    <dgm:pt modelId="{C021B17D-1133-45B8-AA8C-6A3F914F19B5}" type="sibTrans" cxnId="{63569457-81B9-43F6-A4D9-FF22C358E29B}">
      <dgm:prSet/>
      <dgm:spPr/>
      <dgm:t>
        <a:bodyPr/>
        <a:lstStyle/>
        <a:p>
          <a:endParaRPr lang="en-US"/>
        </a:p>
      </dgm:t>
    </dgm:pt>
    <dgm:pt modelId="{E4909081-4FAE-47BF-96B9-13F09CCFA06F}" type="pres">
      <dgm:prSet presAssocID="{68751F8B-15F3-42A5-B9EB-4258C65BBD89}" presName="root" presStyleCnt="0">
        <dgm:presLayoutVars>
          <dgm:dir/>
          <dgm:resizeHandles val="exact"/>
        </dgm:presLayoutVars>
      </dgm:prSet>
      <dgm:spPr/>
    </dgm:pt>
    <dgm:pt modelId="{1A9480DA-97B2-4B61-91F4-A504C9831811}" type="pres">
      <dgm:prSet presAssocID="{55A03DF2-B0F5-4223-8EE5-655A59F0F6F4}" presName="compNode" presStyleCnt="0"/>
      <dgm:spPr/>
    </dgm:pt>
    <dgm:pt modelId="{6AE5E720-959E-4B26-B40F-BE733E1118E3}" type="pres">
      <dgm:prSet presAssocID="{55A03DF2-B0F5-4223-8EE5-655A59F0F6F4}" presName="bgRect" presStyleLbl="bgShp" presStyleIdx="0" presStyleCnt="4"/>
      <dgm:spPr/>
    </dgm:pt>
    <dgm:pt modelId="{272FA31F-0C3D-4DBA-BB8F-3B16A99E1D60}" type="pres">
      <dgm:prSet presAssocID="{55A03DF2-B0F5-4223-8EE5-655A59F0F6F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eciduous tree"/>
        </a:ext>
      </dgm:extLst>
    </dgm:pt>
    <dgm:pt modelId="{D3C075B7-CBA9-43EF-B7BE-7225D031883B}" type="pres">
      <dgm:prSet presAssocID="{55A03DF2-B0F5-4223-8EE5-655A59F0F6F4}" presName="spaceRect" presStyleCnt="0"/>
      <dgm:spPr/>
    </dgm:pt>
    <dgm:pt modelId="{D66AF085-B9B9-45A3-83B2-2E56EBE26787}" type="pres">
      <dgm:prSet presAssocID="{55A03DF2-B0F5-4223-8EE5-655A59F0F6F4}" presName="parTx" presStyleLbl="revTx" presStyleIdx="0" presStyleCnt="4">
        <dgm:presLayoutVars>
          <dgm:chMax val="0"/>
          <dgm:chPref val="0"/>
        </dgm:presLayoutVars>
      </dgm:prSet>
      <dgm:spPr/>
    </dgm:pt>
    <dgm:pt modelId="{4D00F5E4-58FB-4EF6-AA83-271E7D5F539F}" type="pres">
      <dgm:prSet presAssocID="{B3A3A3F5-39B1-4E20-A78C-7B4F22962019}" presName="sibTrans" presStyleCnt="0"/>
      <dgm:spPr/>
    </dgm:pt>
    <dgm:pt modelId="{1D658188-537F-42B0-9303-8E0FF08113F4}" type="pres">
      <dgm:prSet presAssocID="{74EBE7B7-991C-440E-91CF-58F9608A7D29}" presName="compNode" presStyleCnt="0"/>
      <dgm:spPr/>
    </dgm:pt>
    <dgm:pt modelId="{A15A4932-19EB-4279-8A13-EE90C20B3A95}" type="pres">
      <dgm:prSet presAssocID="{74EBE7B7-991C-440E-91CF-58F9608A7D29}" presName="bgRect" presStyleLbl="bgShp" presStyleIdx="1" presStyleCnt="4"/>
      <dgm:spPr/>
    </dgm:pt>
    <dgm:pt modelId="{0CB158F9-1A59-468C-BF29-34703B2DCD0C}" type="pres">
      <dgm:prSet presAssocID="{74EBE7B7-991C-440E-91CF-58F9608A7D2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5B216FE0-089B-4662-A76A-67D6A3946B15}" type="pres">
      <dgm:prSet presAssocID="{74EBE7B7-991C-440E-91CF-58F9608A7D29}" presName="spaceRect" presStyleCnt="0"/>
      <dgm:spPr/>
    </dgm:pt>
    <dgm:pt modelId="{7CDAEF08-58A3-44EA-AC3D-51F6831000AD}" type="pres">
      <dgm:prSet presAssocID="{74EBE7B7-991C-440E-91CF-58F9608A7D29}" presName="parTx" presStyleLbl="revTx" presStyleIdx="1" presStyleCnt="4">
        <dgm:presLayoutVars>
          <dgm:chMax val="0"/>
          <dgm:chPref val="0"/>
        </dgm:presLayoutVars>
      </dgm:prSet>
      <dgm:spPr/>
    </dgm:pt>
    <dgm:pt modelId="{D667DF6F-EB41-4298-887C-895A0CAE9421}" type="pres">
      <dgm:prSet presAssocID="{F61288FE-5842-4ECB-AEE0-D687247450D0}" presName="sibTrans" presStyleCnt="0"/>
      <dgm:spPr/>
    </dgm:pt>
    <dgm:pt modelId="{E76C8B6D-45EB-4265-BF01-1A9C16E96BE9}" type="pres">
      <dgm:prSet presAssocID="{42297163-D30B-475B-9379-590B47A6D9C5}" presName="compNode" presStyleCnt="0"/>
      <dgm:spPr/>
    </dgm:pt>
    <dgm:pt modelId="{E1271C61-E82C-4DF5-8A51-65C0E0C94D90}" type="pres">
      <dgm:prSet presAssocID="{42297163-D30B-475B-9379-590B47A6D9C5}" presName="bgRect" presStyleLbl="bgShp" presStyleIdx="2" presStyleCnt="4"/>
      <dgm:spPr/>
    </dgm:pt>
    <dgm:pt modelId="{C5158DD5-D3AE-417B-92EC-B4B7D60689DE}" type="pres">
      <dgm:prSet presAssocID="{42297163-D30B-475B-9379-590B47A6D9C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sconnected"/>
        </a:ext>
      </dgm:extLst>
    </dgm:pt>
    <dgm:pt modelId="{444582FE-5E48-4946-A1A4-A33E8F4D6103}" type="pres">
      <dgm:prSet presAssocID="{42297163-D30B-475B-9379-590B47A6D9C5}" presName="spaceRect" presStyleCnt="0"/>
      <dgm:spPr/>
    </dgm:pt>
    <dgm:pt modelId="{B9BB285F-9038-4591-834B-C0FBA86C4D81}" type="pres">
      <dgm:prSet presAssocID="{42297163-D30B-475B-9379-590B47A6D9C5}" presName="parTx" presStyleLbl="revTx" presStyleIdx="2" presStyleCnt="4" custScaleX="101225">
        <dgm:presLayoutVars>
          <dgm:chMax val="0"/>
          <dgm:chPref val="0"/>
        </dgm:presLayoutVars>
      </dgm:prSet>
      <dgm:spPr/>
    </dgm:pt>
    <dgm:pt modelId="{5AAECCBC-AEC8-40B0-B70B-CC4C0DABC4A2}" type="pres">
      <dgm:prSet presAssocID="{51C26F8E-40C6-4C07-841D-2D1951A3B198}" presName="sibTrans" presStyleCnt="0"/>
      <dgm:spPr/>
    </dgm:pt>
    <dgm:pt modelId="{2033F042-A2EA-4B5D-B364-CFDD7A74D5E2}" type="pres">
      <dgm:prSet presAssocID="{2EA6D408-D13B-403B-9E2A-18EE30D01DBA}" presName="compNode" presStyleCnt="0"/>
      <dgm:spPr/>
    </dgm:pt>
    <dgm:pt modelId="{16755F54-CF59-4340-A730-268413FE1525}" type="pres">
      <dgm:prSet presAssocID="{2EA6D408-D13B-403B-9E2A-18EE30D01DBA}" presName="bgRect" presStyleLbl="bgShp" presStyleIdx="3" presStyleCnt="4"/>
      <dgm:spPr/>
    </dgm:pt>
    <dgm:pt modelId="{E01244C6-07FC-4173-8990-2A9F3209916A}" type="pres">
      <dgm:prSet presAssocID="{2EA6D408-D13B-403B-9E2A-18EE30D01DB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Acorn"/>
        </a:ext>
      </dgm:extLst>
    </dgm:pt>
    <dgm:pt modelId="{FA66B6B6-6851-4B98-B70F-14EF2377E00A}" type="pres">
      <dgm:prSet presAssocID="{2EA6D408-D13B-403B-9E2A-18EE30D01DBA}" presName="spaceRect" presStyleCnt="0"/>
      <dgm:spPr/>
    </dgm:pt>
    <dgm:pt modelId="{61A4C529-6A56-4203-9C88-983EE4760179}" type="pres">
      <dgm:prSet presAssocID="{2EA6D408-D13B-403B-9E2A-18EE30D01DBA}" presName="parTx" presStyleLbl="revTx" presStyleIdx="3" presStyleCnt="4">
        <dgm:presLayoutVars>
          <dgm:chMax val="0"/>
          <dgm:chPref val="0"/>
        </dgm:presLayoutVars>
      </dgm:prSet>
      <dgm:spPr/>
    </dgm:pt>
  </dgm:ptLst>
  <dgm:cxnLst>
    <dgm:cxn modelId="{9565C920-90DD-5747-8655-086342F2F3A8}" type="presOf" srcId="{55A03DF2-B0F5-4223-8EE5-655A59F0F6F4}" destId="{D66AF085-B9B9-45A3-83B2-2E56EBE26787}" srcOrd="0" destOrd="0" presId="urn:microsoft.com/office/officeart/2018/2/layout/IconVerticalSolidList"/>
    <dgm:cxn modelId="{1D74E827-EFBD-144A-827C-7EE4AE05CFD0}" type="presOf" srcId="{2EA6D408-D13B-403B-9E2A-18EE30D01DBA}" destId="{61A4C529-6A56-4203-9C88-983EE4760179}" srcOrd="0" destOrd="0" presId="urn:microsoft.com/office/officeart/2018/2/layout/IconVerticalSolidList"/>
    <dgm:cxn modelId="{63569457-81B9-43F6-A4D9-FF22C358E29B}" srcId="{68751F8B-15F3-42A5-B9EB-4258C65BBD89}" destId="{2EA6D408-D13B-403B-9E2A-18EE30D01DBA}" srcOrd="3" destOrd="0" parTransId="{501DCEDB-2A16-4472-B1EE-449976896A0B}" sibTransId="{C021B17D-1133-45B8-AA8C-6A3F914F19B5}"/>
    <dgm:cxn modelId="{83C5218A-CAD7-4A03-9A45-0A981EACCF58}" srcId="{68751F8B-15F3-42A5-B9EB-4258C65BBD89}" destId="{42297163-D30B-475B-9379-590B47A6D9C5}" srcOrd="2" destOrd="0" parTransId="{401CA28E-BFB3-49E2-B2C7-00887A97FFCA}" sibTransId="{51C26F8E-40C6-4C07-841D-2D1951A3B198}"/>
    <dgm:cxn modelId="{73C8529D-1800-41AE-A6AC-8FCAB2E5CE8D}" srcId="{68751F8B-15F3-42A5-B9EB-4258C65BBD89}" destId="{55A03DF2-B0F5-4223-8EE5-655A59F0F6F4}" srcOrd="0" destOrd="0" parTransId="{4EE3037E-EA8F-4DC5-80AB-EF7F0317B1AC}" sibTransId="{B3A3A3F5-39B1-4E20-A78C-7B4F22962019}"/>
    <dgm:cxn modelId="{928631B3-8CD4-6844-957C-316C62210492}" type="presOf" srcId="{74EBE7B7-991C-440E-91CF-58F9608A7D29}" destId="{7CDAEF08-58A3-44EA-AC3D-51F6831000AD}" srcOrd="0" destOrd="0" presId="urn:microsoft.com/office/officeart/2018/2/layout/IconVerticalSolidList"/>
    <dgm:cxn modelId="{A92AE3C3-25F3-4F48-BFA4-04E30787C30B}" type="presOf" srcId="{68751F8B-15F3-42A5-B9EB-4258C65BBD89}" destId="{E4909081-4FAE-47BF-96B9-13F09CCFA06F}" srcOrd="0" destOrd="0" presId="urn:microsoft.com/office/officeart/2018/2/layout/IconVerticalSolidList"/>
    <dgm:cxn modelId="{DE0138C8-76A9-42AF-B5B6-76061D7A695D}" srcId="{68751F8B-15F3-42A5-B9EB-4258C65BBD89}" destId="{74EBE7B7-991C-440E-91CF-58F9608A7D29}" srcOrd="1" destOrd="0" parTransId="{56DECE2D-C470-4A17-951B-7FDEC499BDB6}" sibTransId="{F61288FE-5842-4ECB-AEE0-D687247450D0}"/>
    <dgm:cxn modelId="{40B1A5E9-4795-3F41-8247-1A32529884CF}" type="presOf" srcId="{42297163-D30B-475B-9379-590B47A6D9C5}" destId="{B9BB285F-9038-4591-834B-C0FBA86C4D81}" srcOrd="0" destOrd="0" presId="urn:microsoft.com/office/officeart/2018/2/layout/IconVerticalSolidList"/>
    <dgm:cxn modelId="{0B1B4390-EBF7-1544-9BF0-6B1A993E6D1F}" type="presParOf" srcId="{E4909081-4FAE-47BF-96B9-13F09CCFA06F}" destId="{1A9480DA-97B2-4B61-91F4-A504C9831811}" srcOrd="0" destOrd="0" presId="urn:microsoft.com/office/officeart/2018/2/layout/IconVerticalSolidList"/>
    <dgm:cxn modelId="{DB432F01-A780-1648-AC44-6D2E5DBEE177}" type="presParOf" srcId="{1A9480DA-97B2-4B61-91F4-A504C9831811}" destId="{6AE5E720-959E-4B26-B40F-BE733E1118E3}" srcOrd="0" destOrd="0" presId="urn:microsoft.com/office/officeart/2018/2/layout/IconVerticalSolidList"/>
    <dgm:cxn modelId="{CB8C8CEB-06D6-3A48-B6E4-CC594649E4CA}" type="presParOf" srcId="{1A9480DA-97B2-4B61-91F4-A504C9831811}" destId="{272FA31F-0C3D-4DBA-BB8F-3B16A99E1D60}" srcOrd="1" destOrd="0" presId="urn:microsoft.com/office/officeart/2018/2/layout/IconVerticalSolidList"/>
    <dgm:cxn modelId="{280D5E14-2B6C-5548-A232-42EF00B03296}" type="presParOf" srcId="{1A9480DA-97B2-4B61-91F4-A504C9831811}" destId="{D3C075B7-CBA9-43EF-B7BE-7225D031883B}" srcOrd="2" destOrd="0" presId="urn:microsoft.com/office/officeart/2018/2/layout/IconVerticalSolidList"/>
    <dgm:cxn modelId="{528AC5F5-9EF8-B241-8B0C-ADBADCB3A8C3}" type="presParOf" srcId="{1A9480DA-97B2-4B61-91F4-A504C9831811}" destId="{D66AF085-B9B9-45A3-83B2-2E56EBE26787}" srcOrd="3" destOrd="0" presId="urn:microsoft.com/office/officeart/2018/2/layout/IconVerticalSolidList"/>
    <dgm:cxn modelId="{2A22B0AF-4F2B-9047-8B25-883191727E78}" type="presParOf" srcId="{E4909081-4FAE-47BF-96B9-13F09CCFA06F}" destId="{4D00F5E4-58FB-4EF6-AA83-271E7D5F539F}" srcOrd="1" destOrd="0" presId="urn:microsoft.com/office/officeart/2018/2/layout/IconVerticalSolidList"/>
    <dgm:cxn modelId="{AAF9818D-4A00-A045-8E75-6BC0ABB8F92D}" type="presParOf" srcId="{E4909081-4FAE-47BF-96B9-13F09CCFA06F}" destId="{1D658188-537F-42B0-9303-8E0FF08113F4}" srcOrd="2" destOrd="0" presId="urn:microsoft.com/office/officeart/2018/2/layout/IconVerticalSolidList"/>
    <dgm:cxn modelId="{8188418F-F002-2243-A3ED-6201C9EBE918}" type="presParOf" srcId="{1D658188-537F-42B0-9303-8E0FF08113F4}" destId="{A15A4932-19EB-4279-8A13-EE90C20B3A95}" srcOrd="0" destOrd="0" presId="urn:microsoft.com/office/officeart/2018/2/layout/IconVerticalSolidList"/>
    <dgm:cxn modelId="{D39D7DE2-622A-5E47-B9A1-78BDC6972B66}" type="presParOf" srcId="{1D658188-537F-42B0-9303-8E0FF08113F4}" destId="{0CB158F9-1A59-468C-BF29-34703B2DCD0C}" srcOrd="1" destOrd="0" presId="urn:microsoft.com/office/officeart/2018/2/layout/IconVerticalSolidList"/>
    <dgm:cxn modelId="{5E905FB4-C851-924D-B181-AEC7CB82DEE8}" type="presParOf" srcId="{1D658188-537F-42B0-9303-8E0FF08113F4}" destId="{5B216FE0-089B-4662-A76A-67D6A3946B15}" srcOrd="2" destOrd="0" presId="urn:microsoft.com/office/officeart/2018/2/layout/IconVerticalSolidList"/>
    <dgm:cxn modelId="{9D67C5A5-AFD4-5444-ABB3-2C8CC5099862}" type="presParOf" srcId="{1D658188-537F-42B0-9303-8E0FF08113F4}" destId="{7CDAEF08-58A3-44EA-AC3D-51F6831000AD}" srcOrd="3" destOrd="0" presId="urn:microsoft.com/office/officeart/2018/2/layout/IconVerticalSolidList"/>
    <dgm:cxn modelId="{3F587A2A-402B-2D45-B52B-A4C44DE4DFAE}" type="presParOf" srcId="{E4909081-4FAE-47BF-96B9-13F09CCFA06F}" destId="{D667DF6F-EB41-4298-887C-895A0CAE9421}" srcOrd="3" destOrd="0" presId="urn:microsoft.com/office/officeart/2018/2/layout/IconVerticalSolidList"/>
    <dgm:cxn modelId="{2BA99675-9662-0C42-8837-9D59803BF226}" type="presParOf" srcId="{E4909081-4FAE-47BF-96B9-13F09CCFA06F}" destId="{E76C8B6D-45EB-4265-BF01-1A9C16E96BE9}" srcOrd="4" destOrd="0" presId="urn:microsoft.com/office/officeart/2018/2/layout/IconVerticalSolidList"/>
    <dgm:cxn modelId="{099336DA-C1B3-F04B-B9E4-075204FC50B9}" type="presParOf" srcId="{E76C8B6D-45EB-4265-BF01-1A9C16E96BE9}" destId="{E1271C61-E82C-4DF5-8A51-65C0E0C94D90}" srcOrd="0" destOrd="0" presId="urn:microsoft.com/office/officeart/2018/2/layout/IconVerticalSolidList"/>
    <dgm:cxn modelId="{204FED59-8C21-DC47-B962-CDE17686D3C3}" type="presParOf" srcId="{E76C8B6D-45EB-4265-BF01-1A9C16E96BE9}" destId="{C5158DD5-D3AE-417B-92EC-B4B7D60689DE}" srcOrd="1" destOrd="0" presId="urn:microsoft.com/office/officeart/2018/2/layout/IconVerticalSolidList"/>
    <dgm:cxn modelId="{EE0B6164-F3EC-5640-AC65-945A34CDB7F5}" type="presParOf" srcId="{E76C8B6D-45EB-4265-BF01-1A9C16E96BE9}" destId="{444582FE-5E48-4946-A1A4-A33E8F4D6103}" srcOrd="2" destOrd="0" presId="urn:microsoft.com/office/officeart/2018/2/layout/IconVerticalSolidList"/>
    <dgm:cxn modelId="{9AD1FE67-6761-7E49-B170-D7E466E7B5BA}" type="presParOf" srcId="{E76C8B6D-45EB-4265-BF01-1A9C16E96BE9}" destId="{B9BB285F-9038-4591-834B-C0FBA86C4D81}" srcOrd="3" destOrd="0" presId="urn:microsoft.com/office/officeart/2018/2/layout/IconVerticalSolidList"/>
    <dgm:cxn modelId="{00177881-6CA9-1B42-B587-2BF5F38E25C8}" type="presParOf" srcId="{E4909081-4FAE-47BF-96B9-13F09CCFA06F}" destId="{5AAECCBC-AEC8-40B0-B70B-CC4C0DABC4A2}" srcOrd="5" destOrd="0" presId="urn:microsoft.com/office/officeart/2018/2/layout/IconVerticalSolidList"/>
    <dgm:cxn modelId="{93F961C8-299C-3340-8CB6-140B96FC4675}" type="presParOf" srcId="{E4909081-4FAE-47BF-96B9-13F09CCFA06F}" destId="{2033F042-A2EA-4B5D-B364-CFDD7A74D5E2}" srcOrd="6" destOrd="0" presId="urn:microsoft.com/office/officeart/2018/2/layout/IconVerticalSolidList"/>
    <dgm:cxn modelId="{C7B74430-29D0-D941-8C59-3B0DDE74EF4E}" type="presParOf" srcId="{2033F042-A2EA-4B5D-B364-CFDD7A74D5E2}" destId="{16755F54-CF59-4340-A730-268413FE1525}" srcOrd="0" destOrd="0" presId="urn:microsoft.com/office/officeart/2018/2/layout/IconVerticalSolidList"/>
    <dgm:cxn modelId="{2DEE209D-F744-F640-8C09-0076A11EB705}" type="presParOf" srcId="{2033F042-A2EA-4B5D-B364-CFDD7A74D5E2}" destId="{E01244C6-07FC-4173-8990-2A9F3209916A}" srcOrd="1" destOrd="0" presId="urn:microsoft.com/office/officeart/2018/2/layout/IconVerticalSolidList"/>
    <dgm:cxn modelId="{AC0B2CE7-5DDE-784A-9184-73908751ABAB}" type="presParOf" srcId="{2033F042-A2EA-4B5D-B364-CFDD7A74D5E2}" destId="{FA66B6B6-6851-4B98-B70F-14EF2377E00A}" srcOrd="2" destOrd="0" presId="urn:microsoft.com/office/officeart/2018/2/layout/IconVerticalSolidList"/>
    <dgm:cxn modelId="{FEF88F9D-4686-F741-9B29-27EAF5BF96D3}" type="presParOf" srcId="{2033F042-A2EA-4B5D-B364-CFDD7A74D5E2}" destId="{61A4C529-6A56-4203-9C88-983EE476017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C7B332B-018B-4794-B2F7-C0CE869CF574}" type="doc">
      <dgm:prSet loTypeId="urn:microsoft.com/office/officeart/2005/8/layout/vProcess5" loCatId="process" qsTypeId="urn:microsoft.com/office/officeart/2005/8/quickstyle/simple4" qsCatId="simple" csTypeId="urn:microsoft.com/office/officeart/2005/8/colors/colorful5" csCatId="colorful"/>
      <dgm:spPr/>
      <dgm:t>
        <a:bodyPr/>
        <a:lstStyle/>
        <a:p>
          <a:endParaRPr lang="en-US"/>
        </a:p>
      </dgm:t>
    </dgm:pt>
    <dgm:pt modelId="{44590243-BCAE-4447-8CB6-F0E8495C5772}">
      <dgm:prSet/>
      <dgm:spPr/>
      <dgm:t>
        <a:bodyPr/>
        <a:lstStyle/>
        <a:p>
          <a:r>
            <a:rPr lang="en-CA"/>
            <a:t>About one-third of the cases (observations) are left out of the bootstrap sample and not used in the construction of the </a:t>
          </a:r>
          <a:r>
            <a:rPr lang="en-CA" b="0" i="0"/>
            <a:t>kth</a:t>
          </a:r>
          <a:r>
            <a:rPr lang="en-CA"/>
            <a:t> tree. </a:t>
          </a:r>
          <a:endParaRPr lang="en-US"/>
        </a:p>
      </dgm:t>
    </dgm:pt>
    <dgm:pt modelId="{F0DABACF-6970-48AC-A122-29FDB2BB22AB}" type="parTrans" cxnId="{6BE2630C-34C6-4CDD-9267-5DE17C56E4F0}">
      <dgm:prSet/>
      <dgm:spPr/>
      <dgm:t>
        <a:bodyPr/>
        <a:lstStyle/>
        <a:p>
          <a:endParaRPr lang="en-US"/>
        </a:p>
      </dgm:t>
    </dgm:pt>
    <dgm:pt modelId="{92A2D115-FE0D-4F82-8DE2-48BD81BF6EF0}" type="sibTrans" cxnId="{6BE2630C-34C6-4CDD-9267-5DE17C56E4F0}">
      <dgm:prSet/>
      <dgm:spPr/>
      <dgm:t>
        <a:bodyPr/>
        <a:lstStyle/>
        <a:p>
          <a:endParaRPr lang="en-US"/>
        </a:p>
      </dgm:t>
    </dgm:pt>
    <dgm:pt modelId="{BFFC28C9-9603-4A9D-9770-45D67FE57C32}">
      <dgm:prSet/>
      <dgm:spPr/>
      <dgm:t>
        <a:bodyPr/>
        <a:lstStyle/>
        <a:p>
          <a:r>
            <a:rPr lang="en-CA"/>
            <a:t>In this way, a test set classification is obtained for each case in about one-third of the trees. </a:t>
          </a:r>
          <a:endParaRPr lang="en-US"/>
        </a:p>
      </dgm:t>
    </dgm:pt>
    <dgm:pt modelId="{1B7899F5-18F3-4016-9CA9-F4B2FAC4E7BD}" type="parTrans" cxnId="{619A0475-4F0F-4310-AD86-CE6909DFA685}">
      <dgm:prSet/>
      <dgm:spPr/>
      <dgm:t>
        <a:bodyPr/>
        <a:lstStyle/>
        <a:p>
          <a:endParaRPr lang="en-US"/>
        </a:p>
      </dgm:t>
    </dgm:pt>
    <dgm:pt modelId="{010AB710-C13F-4491-A8CE-9731AA35F59E}" type="sibTrans" cxnId="{619A0475-4F0F-4310-AD86-CE6909DFA685}">
      <dgm:prSet/>
      <dgm:spPr/>
      <dgm:t>
        <a:bodyPr/>
        <a:lstStyle/>
        <a:p>
          <a:endParaRPr lang="en-US"/>
        </a:p>
      </dgm:t>
    </dgm:pt>
    <dgm:pt modelId="{FB55B3C3-FC4E-4786-823A-09F2ADE4B4AA}">
      <dgm:prSet/>
      <dgm:spPr/>
      <dgm:t>
        <a:bodyPr/>
        <a:lstStyle/>
        <a:p>
          <a:r>
            <a:rPr lang="en-CA"/>
            <a:t>In each run, the class is selected when it gets most of the votes among the OOB cases. </a:t>
          </a:r>
          <a:endParaRPr lang="en-US"/>
        </a:p>
      </dgm:t>
    </dgm:pt>
    <dgm:pt modelId="{C8E21F8D-BE00-4CD0-B98D-8A9824D1DC1A}" type="parTrans" cxnId="{C0CFCC39-9CDE-4A58-BD16-A60B7DA62A79}">
      <dgm:prSet/>
      <dgm:spPr/>
      <dgm:t>
        <a:bodyPr/>
        <a:lstStyle/>
        <a:p>
          <a:endParaRPr lang="en-US"/>
        </a:p>
      </dgm:t>
    </dgm:pt>
    <dgm:pt modelId="{4814FC70-9118-4098-AE00-A4B66B7A05AC}" type="sibTrans" cxnId="{C0CFCC39-9CDE-4A58-BD16-A60B7DA62A79}">
      <dgm:prSet/>
      <dgm:spPr/>
      <dgm:t>
        <a:bodyPr/>
        <a:lstStyle/>
        <a:p>
          <a:endParaRPr lang="en-US"/>
        </a:p>
      </dgm:t>
    </dgm:pt>
    <dgm:pt modelId="{2F2F1C9E-5EFE-4A3E-89B9-318F70F4D3AA}">
      <dgm:prSet/>
      <dgm:spPr/>
      <dgm:t>
        <a:bodyPr/>
        <a:lstStyle/>
        <a:p>
          <a:r>
            <a:rPr lang="en-CA"/>
            <a:t>The proportion of times that the selected class for the observation is not equal to the true class over all observations in OOB set is called the OOB error estimate.</a:t>
          </a:r>
          <a:endParaRPr lang="en-US"/>
        </a:p>
      </dgm:t>
    </dgm:pt>
    <dgm:pt modelId="{567F50D6-C83B-42D8-8EA5-B60C1D5BDF68}" type="parTrans" cxnId="{395EC5AC-18B9-4EFE-ABCC-68AFDE306BDF}">
      <dgm:prSet/>
      <dgm:spPr/>
      <dgm:t>
        <a:bodyPr/>
        <a:lstStyle/>
        <a:p>
          <a:endParaRPr lang="en-US"/>
        </a:p>
      </dgm:t>
    </dgm:pt>
    <dgm:pt modelId="{E9B718EE-17E2-4519-96AC-1E85DE070CD2}" type="sibTrans" cxnId="{395EC5AC-18B9-4EFE-ABCC-68AFDE306BDF}">
      <dgm:prSet/>
      <dgm:spPr/>
      <dgm:t>
        <a:bodyPr/>
        <a:lstStyle/>
        <a:p>
          <a:endParaRPr lang="en-US"/>
        </a:p>
      </dgm:t>
    </dgm:pt>
    <dgm:pt modelId="{BB26D7BE-FE81-48DD-BA36-503AE4A277FA}">
      <dgm:prSet/>
      <dgm:spPr/>
      <dgm:t>
        <a:bodyPr/>
        <a:lstStyle/>
        <a:p>
          <a:r>
            <a:rPr lang="en-CA"/>
            <a:t>This has proven to be unbiased in many tests. Note that the forest’s variance decreases as the number of trees grows. Thus, more accurate predictions are likely to be obtained by choosing many trees.</a:t>
          </a:r>
          <a:r>
            <a:rPr lang="en-US"/>
            <a:t> </a:t>
          </a:r>
        </a:p>
      </dgm:t>
    </dgm:pt>
    <dgm:pt modelId="{7F28AA41-2F1A-4F27-BF58-DEB499F6B37C}" type="parTrans" cxnId="{3304DB48-9484-4845-BCCE-E46054EFDA51}">
      <dgm:prSet/>
      <dgm:spPr/>
      <dgm:t>
        <a:bodyPr/>
        <a:lstStyle/>
        <a:p>
          <a:endParaRPr lang="en-US"/>
        </a:p>
      </dgm:t>
    </dgm:pt>
    <dgm:pt modelId="{A6C04463-CFE1-48CF-A92A-61B1D8ED5583}" type="sibTrans" cxnId="{3304DB48-9484-4845-BCCE-E46054EFDA51}">
      <dgm:prSet/>
      <dgm:spPr/>
      <dgm:t>
        <a:bodyPr/>
        <a:lstStyle/>
        <a:p>
          <a:endParaRPr lang="en-US"/>
        </a:p>
      </dgm:t>
    </dgm:pt>
    <dgm:pt modelId="{44D4E3F9-A4C8-AF41-9340-A3FA7BC1CA7C}" type="pres">
      <dgm:prSet presAssocID="{5C7B332B-018B-4794-B2F7-C0CE869CF574}" presName="outerComposite" presStyleCnt="0">
        <dgm:presLayoutVars>
          <dgm:chMax val="5"/>
          <dgm:dir/>
          <dgm:resizeHandles val="exact"/>
        </dgm:presLayoutVars>
      </dgm:prSet>
      <dgm:spPr/>
    </dgm:pt>
    <dgm:pt modelId="{DD8FF8BC-396E-4A4A-816E-8264C7B63882}" type="pres">
      <dgm:prSet presAssocID="{5C7B332B-018B-4794-B2F7-C0CE869CF574}" presName="dummyMaxCanvas" presStyleCnt="0">
        <dgm:presLayoutVars/>
      </dgm:prSet>
      <dgm:spPr/>
    </dgm:pt>
    <dgm:pt modelId="{4BEB8EF4-6776-E246-B9E7-15A18C122F90}" type="pres">
      <dgm:prSet presAssocID="{5C7B332B-018B-4794-B2F7-C0CE869CF574}" presName="FiveNodes_1" presStyleLbl="node1" presStyleIdx="0" presStyleCnt="5">
        <dgm:presLayoutVars>
          <dgm:bulletEnabled val="1"/>
        </dgm:presLayoutVars>
      </dgm:prSet>
      <dgm:spPr/>
    </dgm:pt>
    <dgm:pt modelId="{D339B2C4-AE80-8341-9467-566B31BF0FA2}" type="pres">
      <dgm:prSet presAssocID="{5C7B332B-018B-4794-B2F7-C0CE869CF574}" presName="FiveNodes_2" presStyleLbl="node1" presStyleIdx="1" presStyleCnt="5">
        <dgm:presLayoutVars>
          <dgm:bulletEnabled val="1"/>
        </dgm:presLayoutVars>
      </dgm:prSet>
      <dgm:spPr/>
    </dgm:pt>
    <dgm:pt modelId="{3886DA4C-D51A-3E48-A2DA-A819F4ABC7B9}" type="pres">
      <dgm:prSet presAssocID="{5C7B332B-018B-4794-B2F7-C0CE869CF574}" presName="FiveNodes_3" presStyleLbl="node1" presStyleIdx="2" presStyleCnt="5">
        <dgm:presLayoutVars>
          <dgm:bulletEnabled val="1"/>
        </dgm:presLayoutVars>
      </dgm:prSet>
      <dgm:spPr/>
    </dgm:pt>
    <dgm:pt modelId="{770333EA-E0A3-4245-AF14-A4A74D1558A8}" type="pres">
      <dgm:prSet presAssocID="{5C7B332B-018B-4794-B2F7-C0CE869CF574}" presName="FiveNodes_4" presStyleLbl="node1" presStyleIdx="3" presStyleCnt="5">
        <dgm:presLayoutVars>
          <dgm:bulletEnabled val="1"/>
        </dgm:presLayoutVars>
      </dgm:prSet>
      <dgm:spPr/>
    </dgm:pt>
    <dgm:pt modelId="{F6D538B0-093E-4140-A6F9-B513B2F8F57C}" type="pres">
      <dgm:prSet presAssocID="{5C7B332B-018B-4794-B2F7-C0CE869CF574}" presName="FiveNodes_5" presStyleLbl="node1" presStyleIdx="4" presStyleCnt="5">
        <dgm:presLayoutVars>
          <dgm:bulletEnabled val="1"/>
        </dgm:presLayoutVars>
      </dgm:prSet>
      <dgm:spPr/>
    </dgm:pt>
    <dgm:pt modelId="{5A5B4A0F-6F38-B445-A9DA-323DDB9ACF52}" type="pres">
      <dgm:prSet presAssocID="{5C7B332B-018B-4794-B2F7-C0CE869CF574}" presName="FiveConn_1-2" presStyleLbl="fgAccFollowNode1" presStyleIdx="0" presStyleCnt="4">
        <dgm:presLayoutVars>
          <dgm:bulletEnabled val="1"/>
        </dgm:presLayoutVars>
      </dgm:prSet>
      <dgm:spPr/>
    </dgm:pt>
    <dgm:pt modelId="{FDDEE7BF-1F76-044C-8D58-A0204F7F75DC}" type="pres">
      <dgm:prSet presAssocID="{5C7B332B-018B-4794-B2F7-C0CE869CF574}" presName="FiveConn_2-3" presStyleLbl="fgAccFollowNode1" presStyleIdx="1" presStyleCnt="4">
        <dgm:presLayoutVars>
          <dgm:bulletEnabled val="1"/>
        </dgm:presLayoutVars>
      </dgm:prSet>
      <dgm:spPr/>
    </dgm:pt>
    <dgm:pt modelId="{C91EE28B-A8D7-8443-8AA6-05327FA391D4}" type="pres">
      <dgm:prSet presAssocID="{5C7B332B-018B-4794-B2F7-C0CE869CF574}" presName="FiveConn_3-4" presStyleLbl="fgAccFollowNode1" presStyleIdx="2" presStyleCnt="4">
        <dgm:presLayoutVars>
          <dgm:bulletEnabled val="1"/>
        </dgm:presLayoutVars>
      </dgm:prSet>
      <dgm:spPr/>
    </dgm:pt>
    <dgm:pt modelId="{D029CEC4-5751-434B-8C8C-875C2B18DD71}" type="pres">
      <dgm:prSet presAssocID="{5C7B332B-018B-4794-B2F7-C0CE869CF574}" presName="FiveConn_4-5" presStyleLbl="fgAccFollowNode1" presStyleIdx="3" presStyleCnt="4">
        <dgm:presLayoutVars>
          <dgm:bulletEnabled val="1"/>
        </dgm:presLayoutVars>
      </dgm:prSet>
      <dgm:spPr/>
    </dgm:pt>
    <dgm:pt modelId="{13962393-E7D8-C749-95F9-EFA4DFB77C70}" type="pres">
      <dgm:prSet presAssocID="{5C7B332B-018B-4794-B2F7-C0CE869CF574}" presName="FiveNodes_1_text" presStyleLbl="node1" presStyleIdx="4" presStyleCnt="5">
        <dgm:presLayoutVars>
          <dgm:bulletEnabled val="1"/>
        </dgm:presLayoutVars>
      </dgm:prSet>
      <dgm:spPr/>
    </dgm:pt>
    <dgm:pt modelId="{592FCAA4-624B-4945-A34C-058463453100}" type="pres">
      <dgm:prSet presAssocID="{5C7B332B-018B-4794-B2F7-C0CE869CF574}" presName="FiveNodes_2_text" presStyleLbl="node1" presStyleIdx="4" presStyleCnt="5">
        <dgm:presLayoutVars>
          <dgm:bulletEnabled val="1"/>
        </dgm:presLayoutVars>
      </dgm:prSet>
      <dgm:spPr/>
    </dgm:pt>
    <dgm:pt modelId="{76BC8EC9-3C75-2E4D-99D0-31ADCC93AC1A}" type="pres">
      <dgm:prSet presAssocID="{5C7B332B-018B-4794-B2F7-C0CE869CF574}" presName="FiveNodes_3_text" presStyleLbl="node1" presStyleIdx="4" presStyleCnt="5">
        <dgm:presLayoutVars>
          <dgm:bulletEnabled val="1"/>
        </dgm:presLayoutVars>
      </dgm:prSet>
      <dgm:spPr/>
    </dgm:pt>
    <dgm:pt modelId="{9D1CD4D5-8D25-1547-919F-16F463615030}" type="pres">
      <dgm:prSet presAssocID="{5C7B332B-018B-4794-B2F7-C0CE869CF574}" presName="FiveNodes_4_text" presStyleLbl="node1" presStyleIdx="4" presStyleCnt="5">
        <dgm:presLayoutVars>
          <dgm:bulletEnabled val="1"/>
        </dgm:presLayoutVars>
      </dgm:prSet>
      <dgm:spPr/>
    </dgm:pt>
    <dgm:pt modelId="{3488F5A9-2870-9E4B-82BA-5A834934A34C}" type="pres">
      <dgm:prSet presAssocID="{5C7B332B-018B-4794-B2F7-C0CE869CF574}" presName="FiveNodes_5_text" presStyleLbl="node1" presStyleIdx="4" presStyleCnt="5">
        <dgm:presLayoutVars>
          <dgm:bulletEnabled val="1"/>
        </dgm:presLayoutVars>
      </dgm:prSet>
      <dgm:spPr/>
    </dgm:pt>
  </dgm:ptLst>
  <dgm:cxnLst>
    <dgm:cxn modelId="{6BE2630C-34C6-4CDD-9267-5DE17C56E4F0}" srcId="{5C7B332B-018B-4794-B2F7-C0CE869CF574}" destId="{44590243-BCAE-4447-8CB6-F0E8495C5772}" srcOrd="0" destOrd="0" parTransId="{F0DABACF-6970-48AC-A122-29FDB2BB22AB}" sibTransId="{92A2D115-FE0D-4F82-8DE2-48BD81BF6EF0}"/>
    <dgm:cxn modelId="{3D19401B-18EF-7F43-98C7-D05ADBE74DE3}" type="presOf" srcId="{2F2F1C9E-5EFE-4A3E-89B9-318F70F4D3AA}" destId="{770333EA-E0A3-4245-AF14-A4A74D1558A8}" srcOrd="0" destOrd="0" presId="urn:microsoft.com/office/officeart/2005/8/layout/vProcess5"/>
    <dgm:cxn modelId="{1B585D32-C44E-1944-B4C6-DEAC9681A9D2}" type="presOf" srcId="{FB55B3C3-FC4E-4786-823A-09F2ADE4B4AA}" destId="{3886DA4C-D51A-3E48-A2DA-A819F4ABC7B9}" srcOrd="0" destOrd="0" presId="urn:microsoft.com/office/officeart/2005/8/layout/vProcess5"/>
    <dgm:cxn modelId="{C0CFCC39-9CDE-4A58-BD16-A60B7DA62A79}" srcId="{5C7B332B-018B-4794-B2F7-C0CE869CF574}" destId="{FB55B3C3-FC4E-4786-823A-09F2ADE4B4AA}" srcOrd="2" destOrd="0" parTransId="{C8E21F8D-BE00-4CD0-B98D-8A9824D1DC1A}" sibTransId="{4814FC70-9118-4098-AE00-A4B66B7A05AC}"/>
    <dgm:cxn modelId="{3304DB48-9484-4845-BCCE-E46054EFDA51}" srcId="{5C7B332B-018B-4794-B2F7-C0CE869CF574}" destId="{BB26D7BE-FE81-48DD-BA36-503AE4A277FA}" srcOrd="4" destOrd="0" parTransId="{7F28AA41-2F1A-4F27-BF58-DEB499F6B37C}" sibTransId="{A6C04463-CFE1-48CF-A92A-61B1D8ED5583}"/>
    <dgm:cxn modelId="{014F0658-B6ED-8E47-8A1C-9AAFFBF339C6}" type="presOf" srcId="{4814FC70-9118-4098-AE00-A4B66B7A05AC}" destId="{C91EE28B-A8D7-8443-8AA6-05327FA391D4}" srcOrd="0" destOrd="0" presId="urn:microsoft.com/office/officeart/2005/8/layout/vProcess5"/>
    <dgm:cxn modelId="{90D2E55B-63D6-A145-8B9F-864FE3647250}" type="presOf" srcId="{BB26D7BE-FE81-48DD-BA36-503AE4A277FA}" destId="{3488F5A9-2870-9E4B-82BA-5A834934A34C}" srcOrd="1" destOrd="0" presId="urn:microsoft.com/office/officeart/2005/8/layout/vProcess5"/>
    <dgm:cxn modelId="{619A0475-4F0F-4310-AD86-CE6909DFA685}" srcId="{5C7B332B-018B-4794-B2F7-C0CE869CF574}" destId="{BFFC28C9-9603-4A9D-9770-45D67FE57C32}" srcOrd="1" destOrd="0" parTransId="{1B7899F5-18F3-4016-9CA9-F4B2FAC4E7BD}" sibTransId="{010AB710-C13F-4491-A8CE-9731AA35F59E}"/>
    <dgm:cxn modelId="{A9EF4889-E1E4-3549-963D-174BF6EE53ED}" type="presOf" srcId="{BB26D7BE-FE81-48DD-BA36-503AE4A277FA}" destId="{F6D538B0-093E-4140-A6F9-B513B2F8F57C}" srcOrd="0" destOrd="0" presId="urn:microsoft.com/office/officeart/2005/8/layout/vProcess5"/>
    <dgm:cxn modelId="{5D29E590-EA46-D647-918F-50792830D3F0}" type="presOf" srcId="{BFFC28C9-9603-4A9D-9770-45D67FE57C32}" destId="{592FCAA4-624B-4945-A34C-058463453100}" srcOrd="1" destOrd="0" presId="urn:microsoft.com/office/officeart/2005/8/layout/vProcess5"/>
    <dgm:cxn modelId="{45C58694-33BA-F04D-90ED-F010667B6183}" type="presOf" srcId="{92A2D115-FE0D-4F82-8DE2-48BD81BF6EF0}" destId="{5A5B4A0F-6F38-B445-A9DA-323DDB9ACF52}" srcOrd="0" destOrd="0" presId="urn:microsoft.com/office/officeart/2005/8/layout/vProcess5"/>
    <dgm:cxn modelId="{42C261A9-4431-2241-B06B-DF577A736C45}" type="presOf" srcId="{FB55B3C3-FC4E-4786-823A-09F2ADE4B4AA}" destId="{76BC8EC9-3C75-2E4D-99D0-31ADCC93AC1A}" srcOrd="1" destOrd="0" presId="urn:microsoft.com/office/officeart/2005/8/layout/vProcess5"/>
    <dgm:cxn modelId="{395EC5AC-18B9-4EFE-ABCC-68AFDE306BDF}" srcId="{5C7B332B-018B-4794-B2F7-C0CE869CF574}" destId="{2F2F1C9E-5EFE-4A3E-89B9-318F70F4D3AA}" srcOrd="3" destOrd="0" parTransId="{567F50D6-C83B-42D8-8EA5-B60C1D5BDF68}" sibTransId="{E9B718EE-17E2-4519-96AC-1E85DE070CD2}"/>
    <dgm:cxn modelId="{C93563B8-7B96-B143-8252-C8C2761CA2AC}" type="presOf" srcId="{010AB710-C13F-4491-A8CE-9731AA35F59E}" destId="{FDDEE7BF-1F76-044C-8D58-A0204F7F75DC}" srcOrd="0" destOrd="0" presId="urn:microsoft.com/office/officeart/2005/8/layout/vProcess5"/>
    <dgm:cxn modelId="{DFAB28C3-FDF0-2144-9022-72B07E377E5C}" type="presOf" srcId="{BFFC28C9-9603-4A9D-9770-45D67FE57C32}" destId="{D339B2C4-AE80-8341-9467-566B31BF0FA2}" srcOrd="0" destOrd="0" presId="urn:microsoft.com/office/officeart/2005/8/layout/vProcess5"/>
    <dgm:cxn modelId="{2CDD2CE2-63AE-5143-974D-999B5B6763A3}" type="presOf" srcId="{44590243-BCAE-4447-8CB6-F0E8495C5772}" destId="{13962393-E7D8-C749-95F9-EFA4DFB77C70}" srcOrd="1" destOrd="0" presId="urn:microsoft.com/office/officeart/2005/8/layout/vProcess5"/>
    <dgm:cxn modelId="{147419F5-89BE-8F4C-8E99-6CFB5A938D56}" type="presOf" srcId="{44590243-BCAE-4447-8CB6-F0E8495C5772}" destId="{4BEB8EF4-6776-E246-B9E7-15A18C122F90}" srcOrd="0" destOrd="0" presId="urn:microsoft.com/office/officeart/2005/8/layout/vProcess5"/>
    <dgm:cxn modelId="{4829F0F7-DE3B-CF43-B7E4-85F7ED36A88E}" type="presOf" srcId="{E9B718EE-17E2-4519-96AC-1E85DE070CD2}" destId="{D029CEC4-5751-434B-8C8C-875C2B18DD71}" srcOrd="0" destOrd="0" presId="urn:microsoft.com/office/officeart/2005/8/layout/vProcess5"/>
    <dgm:cxn modelId="{28C2B4FA-98CA-F643-AE6F-D8EC28D0DCD4}" type="presOf" srcId="{5C7B332B-018B-4794-B2F7-C0CE869CF574}" destId="{44D4E3F9-A4C8-AF41-9340-A3FA7BC1CA7C}" srcOrd="0" destOrd="0" presId="urn:microsoft.com/office/officeart/2005/8/layout/vProcess5"/>
    <dgm:cxn modelId="{E20712FD-90CA-7F4B-9D16-A65739DA2286}" type="presOf" srcId="{2F2F1C9E-5EFE-4A3E-89B9-318F70F4D3AA}" destId="{9D1CD4D5-8D25-1547-919F-16F463615030}" srcOrd="1" destOrd="0" presId="urn:microsoft.com/office/officeart/2005/8/layout/vProcess5"/>
    <dgm:cxn modelId="{2D6ECE9F-0065-9E4D-9EDC-FF0B867F5E27}" type="presParOf" srcId="{44D4E3F9-A4C8-AF41-9340-A3FA7BC1CA7C}" destId="{DD8FF8BC-396E-4A4A-816E-8264C7B63882}" srcOrd="0" destOrd="0" presId="urn:microsoft.com/office/officeart/2005/8/layout/vProcess5"/>
    <dgm:cxn modelId="{FF8D65BE-411B-7D47-8349-B5977D2D7D71}" type="presParOf" srcId="{44D4E3F9-A4C8-AF41-9340-A3FA7BC1CA7C}" destId="{4BEB8EF4-6776-E246-B9E7-15A18C122F90}" srcOrd="1" destOrd="0" presId="urn:microsoft.com/office/officeart/2005/8/layout/vProcess5"/>
    <dgm:cxn modelId="{979A3237-2BCA-1040-B397-A5CD03B60847}" type="presParOf" srcId="{44D4E3F9-A4C8-AF41-9340-A3FA7BC1CA7C}" destId="{D339B2C4-AE80-8341-9467-566B31BF0FA2}" srcOrd="2" destOrd="0" presId="urn:microsoft.com/office/officeart/2005/8/layout/vProcess5"/>
    <dgm:cxn modelId="{B7DBABC4-3E61-D249-98A4-224F619B1764}" type="presParOf" srcId="{44D4E3F9-A4C8-AF41-9340-A3FA7BC1CA7C}" destId="{3886DA4C-D51A-3E48-A2DA-A819F4ABC7B9}" srcOrd="3" destOrd="0" presId="urn:microsoft.com/office/officeart/2005/8/layout/vProcess5"/>
    <dgm:cxn modelId="{F0128950-A195-EE40-8AD1-E8145D31F7F8}" type="presParOf" srcId="{44D4E3F9-A4C8-AF41-9340-A3FA7BC1CA7C}" destId="{770333EA-E0A3-4245-AF14-A4A74D1558A8}" srcOrd="4" destOrd="0" presId="urn:microsoft.com/office/officeart/2005/8/layout/vProcess5"/>
    <dgm:cxn modelId="{8D20B333-644F-114F-8339-B06458FA2317}" type="presParOf" srcId="{44D4E3F9-A4C8-AF41-9340-A3FA7BC1CA7C}" destId="{F6D538B0-093E-4140-A6F9-B513B2F8F57C}" srcOrd="5" destOrd="0" presId="urn:microsoft.com/office/officeart/2005/8/layout/vProcess5"/>
    <dgm:cxn modelId="{405E9CF1-F8F4-9C4B-9C7A-66C27263CF8F}" type="presParOf" srcId="{44D4E3F9-A4C8-AF41-9340-A3FA7BC1CA7C}" destId="{5A5B4A0F-6F38-B445-A9DA-323DDB9ACF52}" srcOrd="6" destOrd="0" presId="urn:microsoft.com/office/officeart/2005/8/layout/vProcess5"/>
    <dgm:cxn modelId="{D1BA9770-050F-9447-8B99-A10BC509E2D4}" type="presParOf" srcId="{44D4E3F9-A4C8-AF41-9340-A3FA7BC1CA7C}" destId="{FDDEE7BF-1F76-044C-8D58-A0204F7F75DC}" srcOrd="7" destOrd="0" presId="urn:microsoft.com/office/officeart/2005/8/layout/vProcess5"/>
    <dgm:cxn modelId="{B1783BB0-925F-E24F-AC5F-D6346E62F5B9}" type="presParOf" srcId="{44D4E3F9-A4C8-AF41-9340-A3FA7BC1CA7C}" destId="{C91EE28B-A8D7-8443-8AA6-05327FA391D4}" srcOrd="8" destOrd="0" presId="urn:microsoft.com/office/officeart/2005/8/layout/vProcess5"/>
    <dgm:cxn modelId="{8DCFA4A5-42DF-4E49-AC83-7BE9DE761D50}" type="presParOf" srcId="{44D4E3F9-A4C8-AF41-9340-A3FA7BC1CA7C}" destId="{D029CEC4-5751-434B-8C8C-875C2B18DD71}" srcOrd="9" destOrd="0" presId="urn:microsoft.com/office/officeart/2005/8/layout/vProcess5"/>
    <dgm:cxn modelId="{BDD551FE-5B0E-2944-A2C7-FE8C95D1EE84}" type="presParOf" srcId="{44D4E3F9-A4C8-AF41-9340-A3FA7BC1CA7C}" destId="{13962393-E7D8-C749-95F9-EFA4DFB77C70}" srcOrd="10" destOrd="0" presId="urn:microsoft.com/office/officeart/2005/8/layout/vProcess5"/>
    <dgm:cxn modelId="{4C24EE11-66AA-234D-BFF7-75FE108661F2}" type="presParOf" srcId="{44D4E3F9-A4C8-AF41-9340-A3FA7BC1CA7C}" destId="{592FCAA4-624B-4945-A34C-058463453100}" srcOrd="11" destOrd="0" presId="urn:microsoft.com/office/officeart/2005/8/layout/vProcess5"/>
    <dgm:cxn modelId="{6B66257B-8177-E74D-952C-40BDDBAAEC05}" type="presParOf" srcId="{44D4E3F9-A4C8-AF41-9340-A3FA7BC1CA7C}" destId="{76BC8EC9-3C75-2E4D-99D0-31ADCC93AC1A}" srcOrd="12" destOrd="0" presId="urn:microsoft.com/office/officeart/2005/8/layout/vProcess5"/>
    <dgm:cxn modelId="{C68C76C5-9F58-9745-B45E-92019FCD8B7D}" type="presParOf" srcId="{44D4E3F9-A4C8-AF41-9340-A3FA7BC1CA7C}" destId="{9D1CD4D5-8D25-1547-919F-16F463615030}" srcOrd="13" destOrd="0" presId="urn:microsoft.com/office/officeart/2005/8/layout/vProcess5"/>
    <dgm:cxn modelId="{E294D10C-BBF1-DC4B-8286-F076A2465C0B}" type="presParOf" srcId="{44D4E3F9-A4C8-AF41-9340-A3FA7BC1CA7C}" destId="{3488F5A9-2870-9E4B-82BA-5A834934A34C}"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14C09D5-6CE5-4A07-9FF0-02239ABE52D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D59D887-2492-4A5C-9EC1-CFEDACF8C0F7}">
      <dgm:prSet/>
      <dgm:spPr/>
      <dgm:t>
        <a:bodyPr/>
        <a:lstStyle/>
        <a:p>
          <a:pPr>
            <a:lnSpc>
              <a:spcPct val="100000"/>
            </a:lnSpc>
          </a:pPr>
          <a:r>
            <a:rPr lang="en-CA"/>
            <a:t>MDI measures the importance of a feature by calculating the </a:t>
          </a:r>
          <a:r>
            <a:rPr lang="en-CA" u="sng"/>
            <a:t>weighted</a:t>
          </a:r>
          <a:r>
            <a:rPr lang="en-CA"/>
            <a:t> decrease in node impurity (e.g., Gini impurity for classification, variance for regression) when that feature is used to split data in the trees. The "weight" in this context refers to the proportion of samples that reach the node where the split occurs.</a:t>
          </a:r>
          <a:endParaRPr lang="en-US" dirty="0"/>
        </a:p>
      </dgm:t>
    </dgm:pt>
    <dgm:pt modelId="{68D75663-6DEF-4452-8610-C2BEF1C32D82}" type="parTrans" cxnId="{B91F490F-4FD9-4B21-96CD-974F4FE481FB}">
      <dgm:prSet/>
      <dgm:spPr/>
      <dgm:t>
        <a:bodyPr/>
        <a:lstStyle/>
        <a:p>
          <a:endParaRPr lang="en-US"/>
        </a:p>
      </dgm:t>
    </dgm:pt>
    <dgm:pt modelId="{37C0668F-AFF3-48A6-94A7-4B015E032FDE}" type="sibTrans" cxnId="{B91F490F-4FD9-4B21-96CD-974F4FE481FB}">
      <dgm:prSet/>
      <dgm:spPr/>
      <dgm:t>
        <a:bodyPr/>
        <a:lstStyle/>
        <a:p>
          <a:endParaRPr lang="en-US"/>
        </a:p>
      </dgm:t>
    </dgm:pt>
    <dgm:pt modelId="{04EF4849-4DDF-4691-8789-2749E66EF036}">
      <dgm:prSet/>
      <dgm:spPr/>
      <dgm:t>
        <a:bodyPr/>
        <a:lstStyle/>
        <a:p>
          <a:pPr>
            <a:lnSpc>
              <a:spcPct val="100000"/>
            </a:lnSpc>
          </a:pPr>
          <a:r>
            <a:rPr lang="en-CA"/>
            <a:t>Pros: straightforward to calculate during the model training process and doesn't require additional computational resources post-training. It gives a good indication of how much a feature contributes to making the nodes purer, which directly impacts model accuracy.</a:t>
          </a:r>
          <a:endParaRPr lang="en-US"/>
        </a:p>
      </dgm:t>
    </dgm:pt>
    <dgm:pt modelId="{08C74781-66EA-4A7A-811A-5EFC6DFFDC00}" type="parTrans" cxnId="{6559D699-8550-4EC9-9EFA-1BF1AA4FFF2C}">
      <dgm:prSet/>
      <dgm:spPr/>
      <dgm:t>
        <a:bodyPr/>
        <a:lstStyle/>
        <a:p>
          <a:endParaRPr lang="en-US"/>
        </a:p>
      </dgm:t>
    </dgm:pt>
    <dgm:pt modelId="{7B769AAE-0D41-499A-9A65-25CE5B854BAE}" type="sibTrans" cxnId="{6559D699-8550-4EC9-9EFA-1BF1AA4FFF2C}">
      <dgm:prSet/>
      <dgm:spPr/>
      <dgm:t>
        <a:bodyPr/>
        <a:lstStyle/>
        <a:p>
          <a:endParaRPr lang="en-US"/>
        </a:p>
      </dgm:t>
    </dgm:pt>
    <dgm:pt modelId="{18DC67A2-4CFC-40A9-99D1-BCB3ACCBD14A}">
      <dgm:prSet/>
      <dgm:spPr/>
      <dgm:t>
        <a:bodyPr/>
        <a:lstStyle/>
        <a:p>
          <a:pPr>
            <a:lnSpc>
              <a:spcPct val="100000"/>
            </a:lnSpc>
          </a:pPr>
          <a:r>
            <a:rPr lang="en-CA"/>
            <a:t>Cons: can be biased towards features with more categories (in classification) or higher cardinality (in both classification and regression). It also doesn't account for the model's performance on unseen data, as it's based entirely on the training process.</a:t>
          </a:r>
          <a:endParaRPr lang="en-US"/>
        </a:p>
      </dgm:t>
    </dgm:pt>
    <dgm:pt modelId="{7436A22C-E914-4499-909B-6B7A0B5D599C}" type="parTrans" cxnId="{7DF30333-C5F6-4713-8BFD-22D446550163}">
      <dgm:prSet/>
      <dgm:spPr/>
      <dgm:t>
        <a:bodyPr/>
        <a:lstStyle/>
        <a:p>
          <a:endParaRPr lang="en-US"/>
        </a:p>
      </dgm:t>
    </dgm:pt>
    <dgm:pt modelId="{2188DE70-157C-404D-8A1B-64117789B2C1}" type="sibTrans" cxnId="{7DF30333-C5F6-4713-8BFD-22D446550163}">
      <dgm:prSet/>
      <dgm:spPr/>
      <dgm:t>
        <a:bodyPr/>
        <a:lstStyle/>
        <a:p>
          <a:endParaRPr lang="en-US"/>
        </a:p>
      </dgm:t>
    </dgm:pt>
    <dgm:pt modelId="{A9D6016D-44BF-4F3B-9069-36BB85AB2D07}" type="pres">
      <dgm:prSet presAssocID="{C14C09D5-6CE5-4A07-9FF0-02239ABE52DE}" presName="root" presStyleCnt="0">
        <dgm:presLayoutVars>
          <dgm:dir/>
          <dgm:resizeHandles val="exact"/>
        </dgm:presLayoutVars>
      </dgm:prSet>
      <dgm:spPr/>
    </dgm:pt>
    <dgm:pt modelId="{D922C40B-9601-48B2-8DC4-23807AF5FE9C}" type="pres">
      <dgm:prSet presAssocID="{9D59D887-2492-4A5C-9EC1-CFEDACF8C0F7}" presName="compNode" presStyleCnt="0"/>
      <dgm:spPr/>
    </dgm:pt>
    <dgm:pt modelId="{E7035EA6-2559-457B-8BB6-A79D527EF085}" type="pres">
      <dgm:prSet presAssocID="{9D59D887-2492-4A5C-9EC1-CFEDACF8C0F7}" presName="bgRect" presStyleLbl="bgShp" presStyleIdx="0" presStyleCnt="3"/>
      <dgm:spPr/>
    </dgm:pt>
    <dgm:pt modelId="{16A8CA5D-CEEE-4965-AFD6-EE20C611AA45}" type="pres">
      <dgm:prSet presAssocID="{9D59D887-2492-4A5C-9EC1-CFEDACF8C0F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Avocado"/>
        </a:ext>
      </dgm:extLst>
    </dgm:pt>
    <dgm:pt modelId="{7B8E10C7-B4BB-42CC-BC9F-E7A6E4867AB0}" type="pres">
      <dgm:prSet presAssocID="{9D59D887-2492-4A5C-9EC1-CFEDACF8C0F7}" presName="spaceRect" presStyleCnt="0"/>
      <dgm:spPr/>
    </dgm:pt>
    <dgm:pt modelId="{D966328B-A405-4A67-B67E-113D43FE2016}" type="pres">
      <dgm:prSet presAssocID="{9D59D887-2492-4A5C-9EC1-CFEDACF8C0F7}" presName="parTx" presStyleLbl="revTx" presStyleIdx="0" presStyleCnt="3">
        <dgm:presLayoutVars>
          <dgm:chMax val="0"/>
          <dgm:chPref val="0"/>
        </dgm:presLayoutVars>
      </dgm:prSet>
      <dgm:spPr/>
    </dgm:pt>
    <dgm:pt modelId="{7008A8BA-85EA-4E00-B67C-6ED7D1EA08B4}" type="pres">
      <dgm:prSet presAssocID="{37C0668F-AFF3-48A6-94A7-4B015E032FDE}" presName="sibTrans" presStyleCnt="0"/>
      <dgm:spPr/>
    </dgm:pt>
    <dgm:pt modelId="{89C5E618-B861-4CE6-8CB2-FCE9148B8C10}" type="pres">
      <dgm:prSet presAssocID="{04EF4849-4DDF-4691-8789-2749E66EF036}" presName="compNode" presStyleCnt="0"/>
      <dgm:spPr/>
    </dgm:pt>
    <dgm:pt modelId="{934A2AE8-AE19-4C14-89A8-B4C7C7FA45B3}" type="pres">
      <dgm:prSet presAssocID="{04EF4849-4DDF-4691-8789-2749E66EF036}" presName="bgRect" presStyleLbl="bgShp" presStyleIdx="1" presStyleCnt="3"/>
      <dgm:spPr/>
    </dgm:pt>
    <dgm:pt modelId="{EF099DC2-2599-442D-A8CB-0A5A3D880E1C}" type="pres">
      <dgm:prSet presAssocID="{04EF4849-4DDF-4691-8789-2749E66EF03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grammer"/>
        </a:ext>
      </dgm:extLst>
    </dgm:pt>
    <dgm:pt modelId="{D22871AA-225C-43E3-A54B-4AFD18BE427A}" type="pres">
      <dgm:prSet presAssocID="{04EF4849-4DDF-4691-8789-2749E66EF036}" presName="spaceRect" presStyleCnt="0"/>
      <dgm:spPr/>
    </dgm:pt>
    <dgm:pt modelId="{31094C3E-0453-488A-B1CD-B71443D36DEE}" type="pres">
      <dgm:prSet presAssocID="{04EF4849-4DDF-4691-8789-2749E66EF036}" presName="parTx" presStyleLbl="revTx" presStyleIdx="1" presStyleCnt="3">
        <dgm:presLayoutVars>
          <dgm:chMax val="0"/>
          <dgm:chPref val="0"/>
        </dgm:presLayoutVars>
      </dgm:prSet>
      <dgm:spPr/>
    </dgm:pt>
    <dgm:pt modelId="{8286E0C6-D121-46AF-A10C-14BF17B085F3}" type="pres">
      <dgm:prSet presAssocID="{7B769AAE-0D41-499A-9A65-25CE5B854BAE}" presName="sibTrans" presStyleCnt="0"/>
      <dgm:spPr/>
    </dgm:pt>
    <dgm:pt modelId="{60942294-777A-4751-8724-658595B4B1FB}" type="pres">
      <dgm:prSet presAssocID="{18DC67A2-4CFC-40A9-99D1-BCB3ACCBD14A}" presName="compNode" presStyleCnt="0"/>
      <dgm:spPr/>
    </dgm:pt>
    <dgm:pt modelId="{EF1FF55A-35F2-4E2C-A55F-CFE10564EEBE}" type="pres">
      <dgm:prSet presAssocID="{18DC67A2-4CFC-40A9-99D1-BCB3ACCBD14A}" presName="bgRect" presStyleLbl="bgShp" presStyleIdx="2" presStyleCnt="3"/>
      <dgm:spPr/>
    </dgm:pt>
    <dgm:pt modelId="{5863F5CE-0F82-4184-8178-C365C3ADCA1F}" type="pres">
      <dgm:prSet presAssocID="{18DC67A2-4CFC-40A9-99D1-BCB3ACCBD14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cales of Justice"/>
        </a:ext>
      </dgm:extLst>
    </dgm:pt>
    <dgm:pt modelId="{09823677-17E2-4CF2-AD61-55B329418908}" type="pres">
      <dgm:prSet presAssocID="{18DC67A2-4CFC-40A9-99D1-BCB3ACCBD14A}" presName="spaceRect" presStyleCnt="0"/>
      <dgm:spPr/>
    </dgm:pt>
    <dgm:pt modelId="{25FAAF22-0CEE-4C20-B1DA-43DE13913DC5}" type="pres">
      <dgm:prSet presAssocID="{18DC67A2-4CFC-40A9-99D1-BCB3ACCBD14A}" presName="parTx" presStyleLbl="revTx" presStyleIdx="2" presStyleCnt="3">
        <dgm:presLayoutVars>
          <dgm:chMax val="0"/>
          <dgm:chPref val="0"/>
        </dgm:presLayoutVars>
      </dgm:prSet>
      <dgm:spPr/>
    </dgm:pt>
  </dgm:ptLst>
  <dgm:cxnLst>
    <dgm:cxn modelId="{B91F490F-4FD9-4B21-96CD-974F4FE481FB}" srcId="{C14C09D5-6CE5-4A07-9FF0-02239ABE52DE}" destId="{9D59D887-2492-4A5C-9EC1-CFEDACF8C0F7}" srcOrd="0" destOrd="0" parTransId="{68D75663-6DEF-4452-8610-C2BEF1C32D82}" sibTransId="{37C0668F-AFF3-48A6-94A7-4B015E032FDE}"/>
    <dgm:cxn modelId="{7DF30333-C5F6-4713-8BFD-22D446550163}" srcId="{C14C09D5-6CE5-4A07-9FF0-02239ABE52DE}" destId="{18DC67A2-4CFC-40A9-99D1-BCB3ACCBD14A}" srcOrd="2" destOrd="0" parTransId="{7436A22C-E914-4499-909B-6B7A0B5D599C}" sibTransId="{2188DE70-157C-404D-8A1B-64117789B2C1}"/>
    <dgm:cxn modelId="{6559D699-8550-4EC9-9EFA-1BF1AA4FFF2C}" srcId="{C14C09D5-6CE5-4A07-9FF0-02239ABE52DE}" destId="{04EF4849-4DDF-4691-8789-2749E66EF036}" srcOrd="1" destOrd="0" parTransId="{08C74781-66EA-4A7A-811A-5EFC6DFFDC00}" sibTransId="{7B769AAE-0D41-499A-9A65-25CE5B854BAE}"/>
    <dgm:cxn modelId="{EC9648BE-4E2D-B546-84A4-E7C9D77A8435}" type="presOf" srcId="{9D59D887-2492-4A5C-9EC1-CFEDACF8C0F7}" destId="{D966328B-A405-4A67-B67E-113D43FE2016}" srcOrd="0" destOrd="0" presId="urn:microsoft.com/office/officeart/2018/2/layout/IconVerticalSolidList"/>
    <dgm:cxn modelId="{9F14D0C9-334F-5148-8B9B-8A21A337E01D}" type="presOf" srcId="{04EF4849-4DDF-4691-8789-2749E66EF036}" destId="{31094C3E-0453-488A-B1CD-B71443D36DEE}" srcOrd="0" destOrd="0" presId="urn:microsoft.com/office/officeart/2018/2/layout/IconVerticalSolidList"/>
    <dgm:cxn modelId="{EE16AACA-6224-4A41-AE30-C55F3576671C}" type="presOf" srcId="{18DC67A2-4CFC-40A9-99D1-BCB3ACCBD14A}" destId="{25FAAF22-0CEE-4C20-B1DA-43DE13913DC5}" srcOrd="0" destOrd="0" presId="urn:microsoft.com/office/officeart/2018/2/layout/IconVerticalSolidList"/>
    <dgm:cxn modelId="{E50305D8-AFB1-B549-9986-6B2B8A17335B}" type="presOf" srcId="{C14C09D5-6CE5-4A07-9FF0-02239ABE52DE}" destId="{A9D6016D-44BF-4F3B-9069-36BB85AB2D07}" srcOrd="0" destOrd="0" presId="urn:microsoft.com/office/officeart/2018/2/layout/IconVerticalSolidList"/>
    <dgm:cxn modelId="{BDEE3E6E-E491-C642-8D07-2B3150474C04}" type="presParOf" srcId="{A9D6016D-44BF-4F3B-9069-36BB85AB2D07}" destId="{D922C40B-9601-48B2-8DC4-23807AF5FE9C}" srcOrd="0" destOrd="0" presId="urn:microsoft.com/office/officeart/2018/2/layout/IconVerticalSolidList"/>
    <dgm:cxn modelId="{E1A3D753-B936-B44B-8DDD-6DB734AE27EA}" type="presParOf" srcId="{D922C40B-9601-48B2-8DC4-23807AF5FE9C}" destId="{E7035EA6-2559-457B-8BB6-A79D527EF085}" srcOrd="0" destOrd="0" presId="urn:microsoft.com/office/officeart/2018/2/layout/IconVerticalSolidList"/>
    <dgm:cxn modelId="{F14A21D9-E79F-B241-82B7-67272D4A43ED}" type="presParOf" srcId="{D922C40B-9601-48B2-8DC4-23807AF5FE9C}" destId="{16A8CA5D-CEEE-4965-AFD6-EE20C611AA45}" srcOrd="1" destOrd="0" presId="urn:microsoft.com/office/officeart/2018/2/layout/IconVerticalSolidList"/>
    <dgm:cxn modelId="{861A4444-E578-6840-9BE1-81A26CDEF130}" type="presParOf" srcId="{D922C40B-9601-48B2-8DC4-23807AF5FE9C}" destId="{7B8E10C7-B4BB-42CC-BC9F-E7A6E4867AB0}" srcOrd="2" destOrd="0" presId="urn:microsoft.com/office/officeart/2018/2/layout/IconVerticalSolidList"/>
    <dgm:cxn modelId="{897102CA-0E08-5C48-9F0F-8F40F521D38E}" type="presParOf" srcId="{D922C40B-9601-48B2-8DC4-23807AF5FE9C}" destId="{D966328B-A405-4A67-B67E-113D43FE2016}" srcOrd="3" destOrd="0" presId="urn:microsoft.com/office/officeart/2018/2/layout/IconVerticalSolidList"/>
    <dgm:cxn modelId="{E007DF76-1772-804C-9640-FCE777DE258C}" type="presParOf" srcId="{A9D6016D-44BF-4F3B-9069-36BB85AB2D07}" destId="{7008A8BA-85EA-4E00-B67C-6ED7D1EA08B4}" srcOrd="1" destOrd="0" presId="urn:microsoft.com/office/officeart/2018/2/layout/IconVerticalSolidList"/>
    <dgm:cxn modelId="{03FBE49C-AA91-3149-B4D4-62049E986E8C}" type="presParOf" srcId="{A9D6016D-44BF-4F3B-9069-36BB85AB2D07}" destId="{89C5E618-B861-4CE6-8CB2-FCE9148B8C10}" srcOrd="2" destOrd="0" presId="urn:microsoft.com/office/officeart/2018/2/layout/IconVerticalSolidList"/>
    <dgm:cxn modelId="{82DA79B4-3AAE-3A4A-8D1B-F0DFC7423171}" type="presParOf" srcId="{89C5E618-B861-4CE6-8CB2-FCE9148B8C10}" destId="{934A2AE8-AE19-4C14-89A8-B4C7C7FA45B3}" srcOrd="0" destOrd="0" presId="urn:microsoft.com/office/officeart/2018/2/layout/IconVerticalSolidList"/>
    <dgm:cxn modelId="{726C3155-F13D-2543-94E5-0428E9FE11D7}" type="presParOf" srcId="{89C5E618-B861-4CE6-8CB2-FCE9148B8C10}" destId="{EF099DC2-2599-442D-A8CB-0A5A3D880E1C}" srcOrd="1" destOrd="0" presId="urn:microsoft.com/office/officeart/2018/2/layout/IconVerticalSolidList"/>
    <dgm:cxn modelId="{F0EE75DE-B887-9F4B-912B-FA2481F70879}" type="presParOf" srcId="{89C5E618-B861-4CE6-8CB2-FCE9148B8C10}" destId="{D22871AA-225C-43E3-A54B-4AFD18BE427A}" srcOrd="2" destOrd="0" presId="urn:microsoft.com/office/officeart/2018/2/layout/IconVerticalSolidList"/>
    <dgm:cxn modelId="{3EC6827A-D5B2-6E42-B675-DC4A89E60D5C}" type="presParOf" srcId="{89C5E618-B861-4CE6-8CB2-FCE9148B8C10}" destId="{31094C3E-0453-488A-B1CD-B71443D36DEE}" srcOrd="3" destOrd="0" presId="urn:microsoft.com/office/officeart/2018/2/layout/IconVerticalSolidList"/>
    <dgm:cxn modelId="{626689DF-B98A-4948-9A20-E33D04A6AD64}" type="presParOf" srcId="{A9D6016D-44BF-4F3B-9069-36BB85AB2D07}" destId="{8286E0C6-D121-46AF-A10C-14BF17B085F3}" srcOrd="3" destOrd="0" presId="urn:microsoft.com/office/officeart/2018/2/layout/IconVerticalSolidList"/>
    <dgm:cxn modelId="{B0AE3103-AFA3-874A-A927-BEB81227FBC1}" type="presParOf" srcId="{A9D6016D-44BF-4F3B-9069-36BB85AB2D07}" destId="{60942294-777A-4751-8724-658595B4B1FB}" srcOrd="4" destOrd="0" presId="urn:microsoft.com/office/officeart/2018/2/layout/IconVerticalSolidList"/>
    <dgm:cxn modelId="{5E909620-7DE6-8C48-91B5-17D9E54057E4}" type="presParOf" srcId="{60942294-777A-4751-8724-658595B4B1FB}" destId="{EF1FF55A-35F2-4E2C-A55F-CFE10564EEBE}" srcOrd="0" destOrd="0" presId="urn:microsoft.com/office/officeart/2018/2/layout/IconVerticalSolidList"/>
    <dgm:cxn modelId="{02A49AFD-A6D8-FD4B-BD19-637694E5830B}" type="presParOf" srcId="{60942294-777A-4751-8724-658595B4B1FB}" destId="{5863F5CE-0F82-4184-8178-C365C3ADCA1F}" srcOrd="1" destOrd="0" presId="urn:microsoft.com/office/officeart/2018/2/layout/IconVerticalSolidList"/>
    <dgm:cxn modelId="{6B4CE812-25CE-984C-8EF5-6ACF5AA6EAB4}" type="presParOf" srcId="{60942294-777A-4751-8724-658595B4B1FB}" destId="{09823677-17E2-4CF2-AD61-55B329418908}" srcOrd="2" destOrd="0" presId="urn:microsoft.com/office/officeart/2018/2/layout/IconVerticalSolidList"/>
    <dgm:cxn modelId="{0E589211-7E7B-9C4A-8BAA-CAE2A3D8601D}" type="presParOf" srcId="{60942294-777A-4751-8724-658595B4B1FB}" destId="{25FAAF22-0CEE-4C20-B1DA-43DE13913DC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B60827-2B33-D44C-9765-576BF206E0DC}">
      <dsp:nvSpPr>
        <dsp:cNvPr id="0" name=""/>
        <dsp:cNvSpPr/>
      </dsp:nvSpPr>
      <dsp:spPr>
        <a:xfrm>
          <a:off x="2742" y="289757"/>
          <a:ext cx="2175415" cy="130524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0" i="0" kern="1200" dirty="0"/>
            <a:t>It is unexcelled in accuracy among current algorithms.</a:t>
          </a:r>
          <a:endParaRPr lang="en-US" sz="1200" kern="1200" dirty="0"/>
        </a:p>
      </dsp:txBody>
      <dsp:txXfrm>
        <a:off x="2742" y="289757"/>
        <a:ext cx="2175415" cy="1305249"/>
      </dsp:txXfrm>
    </dsp:sp>
    <dsp:sp modelId="{82C3CBD0-D282-D542-84C2-331C4F4DA8E0}">
      <dsp:nvSpPr>
        <dsp:cNvPr id="0" name=""/>
        <dsp:cNvSpPr/>
      </dsp:nvSpPr>
      <dsp:spPr>
        <a:xfrm>
          <a:off x="2395699" y="289757"/>
          <a:ext cx="2175415" cy="130524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0" i="0" kern="1200" dirty="0"/>
            <a:t>It runs efficiently on large data bases.</a:t>
          </a:r>
          <a:endParaRPr lang="en-US" sz="1200" kern="1200" dirty="0"/>
        </a:p>
      </dsp:txBody>
      <dsp:txXfrm>
        <a:off x="2395699" y="289757"/>
        <a:ext cx="2175415" cy="1305249"/>
      </dsp:txXfrm>
    </dsp:sp>
    <dsp:sp modelId="{F11CA3F6-402A-684C-9EAE-D923A2709FD2}">
      <dsp:nvSpPr>
        <dsp:cNvPr id="0" name=""/>
        <dsp:cNvSpPr/>
      </dsp:nvSpPr>
      <dsp:spPr>
        <a:xfrm>
          <a:off x="4788656" y="289757"/>
          <a:ext cx="2175415" cy="130524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0" i="0" kern="1200"/>
            <a:t>It can handle thousands of input variables without variable deletion. </a:t>
          </a:r>
          <a:endParaRPr lang="en-US" sz="1200" kern="1200"/>
        </a:p>
      </dsp:txBody>
      <dsp:txXfrm>
        <a:off x="4788656" y="289757"/>
        <a:ext cx="2175415" cy="1305249"/>
      </dsp:txXfrm>
    </dsp:sp>
    <dsp:sp modelId="{6EDF2F77-AE63-0B43-BE72-E2F1F66EC11B}">
      <dsp:nvSpPr>
        <dsp:cNvPr id="0" name=""/>
        <dsp:cNvSpPr/>
      </dsp:nvSpPr>
      <dsp:spPr>
        <a:xfrm>
          <a:off x="7181614" y="289757"/>
          <a:ext cx="2175415" cy="130524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0" i="0" kern="1200"/>
            <a:t>It gives estimates of what variables are important in the classification. </a:t>
          </a:r>
          <a:endParaRPr lang="en-US" sz="1200" kern="1200"/>
        </a:p>
      </dsp:txBody>
      <dsp:txXfrm>
        <a:off x="7181614" y="289757"/>
        <a:ext cx="2175415" cy="1305249"/>
      </dsp:txXfrm>
    </dsp:sp>
    <dsp:sp modelId="{22F21646-7785-A743-844F-31BCFD0C8C24}">
      <dsp:nvSpPr>
        <dsp:cNvPr id="0" name=""/>
        <dsp:cNvSpPr/>
      </dsp:nvSpPr>
      <dsp:spPr>
        <a:xfrm>
          <a:off x="2742" y="1812548"/>
          <a:ext cx="2175415" cy="130524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0" i="0" kern="1200"/>
            <a:t>It generates an internal unbiased estimate of the generalization error as the forest building progresses. </a:t>
          </a:r>
          <a:endParaRPr lang="en-US" sz="1200" kern="1200"/>
        </a:p>
      </dsp:txBody>
      <dsp:txXfrm>
        <a:off x="2742" y="1812548"/>
        <a:ext cx="2175415" cy="1305249"/>
      </dsp:txXfrm>
    </dsp:sp>
    <dsp:sp modelId="{D9A60D1A-EB67-D946-928D-630339B88738}">
      <dsp:nvSpPr>
        <dsp:cNvPr id="0" name=""/>
        <dsp:cNvSpPr/>
      </dsp:nvSpPr>
      <dsp:spPr>
        <a:xfrm>
          <a:off x="2395699" y="1812548"/>
          <a:ext cx="2175415" cy="130524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0" i="0" kern="1200" dirty="0"/>
            <a:t>It has an effective method for estimating missing data and maintains accuracy when a large proportion of the data are missing. </a:t>
          </a:r>
          <a:endParaRPr lang="en-US" sz="1200" kern="1200" dirty="0"/>
        </a:p>
      </dsp:txBody>
      <dsp:txXfrm>
        <a:off x="2395699" y="1812548"/>
        <a:ext cx="2175415" cy="1305249"/>
      </dsp:txXfrm>
    </dsp:sp>
    <dsp:sp modelId="{0F72E95E-63EE-FC4C-95F6-5B32FF36EAD1}">
      <dsp:nvSpPr>
        <dsp:cNvPr id="0" name=""/>
        <dsp:cNvSpPr/>
      </dsp:nvSpPr>
      <dsp:spPr>
        <a:xfrm>
          <a:off x="4788656" y="1812548"/>
          <a:ext cx="2175415" cy="130524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0" i="0" kern="1200"/>
            <a:t>It has methods for balancing error in class population unbalanced data sets. </a:t>
          </a:r>
          <a:endParaRPr lang="en-US" sz="1200" kern="1200"/>
        </a:p>
      </dsp:txBody>
      <dsp:txXfrm>
        <a:off x="4788656" y="1812548"/>
        <a:ext cx="2175415" cy="1305249"/>
      </dsp:txXfrm>
    </dsp:sp>
    <dsp:sp modelId="{E2600AE8-D8E1-8A4A-8764-F7771DF46C55}">
      <dsp:nvSpPr>
        <dsp:cNvPr id="0" name=""/>
        <dsp:cNvSpPr/>
      </dsp:nvSpPr>
      <dsp:spPr>
        <a:xfrm>
          <a:off x="7181614" y="1812548"/>
          <a:ext cx="2175415" cy="130524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0" i="0" kern="1200"/>
            <a:t>Generated forests can be saved for future use on other data. </a:t>
          </a:r>
          <a:endParaRPr lang="en-US" sz="1200" kern="1200"/>
        </a:p>
      </dsp:txBody>
      <dsp:txXfrm>
        <a:off x="7181614" y="1812548"/>
        <a:ext cx="2175415" cy="1305249"/>
      </dsp:txXfrm>
    </dsp:sp>
    <dsp:sp modelId="{89522E23-1C08-324E-951D-CC56F2D1D45F}">
      <dsp:nvSpPr>
        <dsp:cNvPr id="0" name=""/>
        <dsp:cNvSpPr/>
      </dsp:nvSpPr>
      <dsp:spPr>
        <a:xfrm>
          <a:off x="2742" y="3335339"/>
          <a:ext cx="2175415" cy="130524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0" i="0" kern="1200"/>
            <a:t>Prototypes are computed that give information about the relation between the variables and the classification.</a:t>
          </a:r>
          <a:endParaRPr lang="en-US" sz="1200" kern="1200"/>
        </a:p>
      </dsp:txBody>
      <dsp:txXfrm>
        <a:off x="2742" y="3335339"/>
        <a:ext cx="2175415" cy="1305249"/>
      </dsp:txXfrm>
    </dsp:sp>
    <dsp:sp modelId="{1B9F789E-AA93-7C42-BC8A-46E3A176829D}">
      <dsp:nvSpPr>
        <dsp:cNvPr id="0" name=""/>
        <dsp:cNvSpPr/>
      </dsp:nvSpPr>
      <dsp:spPr>
        <a:xfrm>
          <a:off x="2395699" y="3335339"/>
          <a:ext cx="2175415" cy="130524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0" i="0" kern="1200"/>
            <a:t>It computes proximities between pairs of cases that can be used in clustering, locating outliers, or (by scaling) give interesting views of the data.</a:t>
          </a:r>
          <a:endParaRPr lang="en-US" sz="1200" kern="1200"/>
        </a:p>
      </dsp:txBody>
      <dsp:txXfrm>
        <a:off x="2395699" y="3335339"/>
        <a:ext cx="2175415" cy="1305249"/>
      </dsp:txXfrm>
    </dsp:sp>
    <dsp:sp modelId="{41907302-7FF7-0A44-81B2-EB5C6E55F4F9}">
      <dsp:nvSpPr>
        <dsp:cNvPr id="0" name=""/>
        <dsp:cNvSpPr/>
      </dsp:nvSpPr>
      <dsp:spPr>
        <a:xfrm>
          <a:off x="4788656" y="3335339"/>
          <a:ext cx="2175415" cy="130524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0" i="0" kern="1200"/>
            <a:t>The capabilities of the above can be extended to unlabeled data, leading to unsupervised clustering, data views and outlier detection. </a:t>
          </a:r>
          <a:endParaRPr lang="en-US" sz="1200" kern="1200"/>
        </a:p>
      </dsp:txBody>
      <dsp:txXfrm>
        <a:off x="4788656" y="3335339"/>
        <a:ext cx="2175415" cy="1305249"/>
      </dsp:txXfrm>
    </dsp:sp>
    <dsp:sp modelId="{8AEC2BAE-DAF2-904D-B210-6C072469F90C}">
      <dsp:nvSpPr>
        <dsp:cNvPr id="0" name=""/>
        <dsp:cNvSpPr/>
      </dsp:nvSpPr>
      <dsp:spPr>
        <a:xfrm>
          <a:off x="7181614" y="3335339"/>
          <a:ext cx="2175415" cy="130524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0" i="0" kern="1200"/>
            <a:t>It offers an experimental method for detecting variable interactions.</a:t>
          </a:r>
          <a:endParaRPr lang="en-US" sz="1200" kern="1200"/>
        </a:p>
      </dsp:txBody>
      <dsp:txXfrm>
        <a:off x="7181614" y="3335339"/>
        <a:ext cx="2175415" cy="13052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E5E720-959E-4B26-B40F-BE733E1118E3}">
      <dsp:nvSpPr>
        <dsp:cNvPr id="0" name=""/>
        <dsp:cNvSpPr/>
      </dsp:nvSpPr>
      <dsp:spPr>
        <a:xfrm>
          <a:off x="0" y="5962"/>
          <a:ext cx="5746967" cy="12837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2FA31F-0C3D-4DBA-BB8F-3B16A99E1D60}">
      <dsp:nvSpPr>
        <dsp:cNvPr id="0" name=""/>
        <dsp:cNvSpPr/>
      </dsp:nvSpPr>
      <dsp:spPr>
        <a:xfrm>
          <a:off x="388331" y="294804"/>
          <a:ext cx="706748" cy="70605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66AF085-B9B9-45A3-83B2-2E56EBE26787}">
      <dsp:nvSpPr>
        <dsp:cNvPr id="0" name=""/>
        <dsp:cNvSpPr/>
      </dsp:nvSpPr>
      <dsp:spPr>
        <a:xfrm>
          <a:off x="1483411" y="5962"/>
          <a:ext cx="3880006" cy="1284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995" tIns="135995" rIns="135995" bIns="135995" numCol="1" spcCol="1270" anchor="ctr" anchorCtr="0">
          <a:noAutofit/>
        </a:bodyPr>
        <a:lstStyle/>
        <a:p>
          <a:pPr marL="0" lvl="0" indent="0" algn="l" defTabSz="622300">
            <a:lnSpc>
              <a:spcPct val="100000"/>
            </a:lnSpc>
            <a:spcBef>
              <a:spcPct val="0"/>
            </a:spcBef>
            <a:spcAft>
              <a:spcPct val="35000"/>
            </a:spcAft>
            <a:buNone/>
          </a:pPr>
          <a:r>
            <a:rPr lang="en-CA" sz="1400" b="0" i="0" kern="1200"/>
            <a:t>Each tree is grown as follows: </a:t>
          </a:r>
          <a:endParaRPr lang="en-US" sz="1400" kern="1200"/>
        </a:p>
      </dsp:txBody>
      <dsp:txXfrm>
        <a:off x="1483411" y="5962"/>
        <a:ext cx="3880006" cy="1284996"/>
      </dsp:txXfrm>
    </dsp:sp>
    <dsp:sp modelId="{A15A4932-19EB-4279-8A13-EE90C20B3A95}">
      <dsp:nvSpPr>
        <dsp:cNvPr id="0" name=""/>
        <dsp:cNvSpPr/>
      </dsp:nvSpPr>
      <dsp:spPr>
        <a:xfrm>
          <a:off x="0" y="1584672"/>
          <a:ext cx="5746967" cy="12837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B158F9-1A59-468C-BF29-34703B2DCD0C}">
      <dsp:nvSpPr>
        <dsp:cNvPr id="0" name=""/>
        <dsp:cNvSpPr/>
      </dsp:nvSpPr>
      <dsp:spPr>
        <a:xfrm>
          <a:off x="388331" y="1873514"/>
          <a:ext cx="706748" cy="70605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CDAEF08-58A3-44EA-AC3D-51F6831000AD}">
      <dsp:nvSpPr>
        <dsp:cNvPr id="0" name=""/>
        <dsp:cNvSpPr/>
      </dsp:nvSpPr>
      <dsp:spPr>
        <a:xfrm>
          <a:off x="1483411" y="1584672"/>
          <a:ext cx="3880006" cy="1284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995" tIns="135995" rIns="135995" bIns="135995" numCol="1" spcCol="1270" anchor="ctr" anchorCtr="0">
          <a:noAutofit/>
        </a:bodyPr>
        <a:lstStyle/>
        <a:p>
          <a:pPr marL="0" lvl="0" indent="0" algn="l" defTabSz="622300">
            <a:lnSpc>
              <a:spcPct val="100000"/>
            </a:lnSpc>
            <a:spcBef>
              <a:spcPct val="0"/>
            </a:spcBef>
            <a:spcAft>
              <a:spcPct val="35000"/>
            </a:spcAft>
            <a:buNone/>
          </a:pPr>
          <a:r>
            <a:rPr lang="en-CA" sz="1400" b="0" i="0" kern="1200" dirty="0"/>
            <a:t>If the number of cases in the training set is N, sample N cases at random - but </a:t>
          </a:r>
          <a:r>
            <a:rPr lang="en-CA" sz="1400" b="0" i="1" kern="1200" dirty="0"/>
            <a:t>with replacement</a:t>
          </a:r>
          <a:r>
            <a:rPr lang="en-CA" sz="1400" b="0" i="0" kern="1200" dirty="0"/>
            <a:t>, from the original data. This sample will be the training set for growing the tree. </a:t>
          </a:r>
          <a:endParaRPr lang="en-US" sz="1400" kern="1200" dirty="0"/>
        </a:p>
      </dsp:txBody>
      <dsp:txXfrm>
        <a:off x="1483411" y="1584672"/>
        <a:ext cx="3880006" cy="1284996"/>
      </dsp:txXfrm>
    </dsp:sp>
    <dsp:sp modelId="{E1271C61-E82C-4DF5-8A51-65C0E0C94D90}">
      <dsp:nvSpPr>
        <dsp:cNvPr id="0" name=""/>
        <dsp:cNvSpPr/>
      </dsp:nvSpPr>
      <dsp:spPr>
        <a:xfrm>
          <a:off x="0" y="3163382"/>
          <a:ext cx="5746967" cy="12837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158DD5-D3AE-417B-92EC-B4B7D60689DE}">
      <dsp:nvSpPr>
        <dsp:cNvPr id="0" name=""/>
        <dsp:cNvSpPr/>
      </dsp:nvSpPr>
      <dsp:spPr>
        <a:xfrm>
          <a:off x="388331" y="3452224"/>
          <a:ext cx="706748" cy="70605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9BB285F-9038-4591-834B-C0FBA86C4D81}">
      <dsp:nvSpPr>
        <dsp:cNvPr id="0" name=""/>
        <dsp:cNvSpPr/>
      </dsp:nvSpPr>
      <dsp:spPr>
        <a:xfrm>
          <a:off x="1459646" y="3163382"/>
          <a:ext cx="3927536" cy="1284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995" tIns="135995" rIns="135995" bIns="135995" numCol="1" spcCol="1270" anchor="ctr" anchorCtr="0">
          <a:noAutofit/>
        </a:bodyPr>
        <a:lstStyle/>
        <a:p>
          <a:pPr marL="0" lvl="0" indent="0" algn="l" defTabSz="622300">
            <a:lnSpc>
              <a:spcPct val="100000"/>
            </a:lnSpc>
            <a:spcBef>
              <a:spcPct val="0"/>
            </a:spcBef>
            <a:spcAft>
              <a:spcPct val="35000"/>
            </a:spcAft>
            <a:buNone/>
          </a:pPr>
          <a:r>
            <a:rPr lang="en-CA" sz="1400" b="0" i="0" kern="1200" dirty="0"/>
            <a:t>If there are M input variables, a number m&lt;&lt;M is specified such that at each node, m variables are selected at random out of the M and the best split on these m is used to split the node. The value of m is held constant during the forest growing. </a:t>
          </a:r>
          <a:endParaRPr lang="en-US" sz="1400" kern="1200" dirty="0"/>
        </a:p>
      </dsp:txBody>
      <dsp:txXfrm>
        <a:off x="1459646" y="3163382"/>
        <a:ext cx="3927536" cy="1284996"/>
      </dsp:txXfrm>
    </dsp:sp>
    <dsp:sp modelId="{16755F54-CF59-4340-A730-268413FE1525}">
      <dsp:nvSpPr>
        <dsp:cNvPr id="0" name=""/>
        <dsp:cNvSpPr/>
      </dsp:nvSpPr>
      <dsp:spPr>
        <a:xfrm>
          <a:off x="0" y="4742093"/>
          <a:ext cx="5746967" cy="12837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1244C6-07FC-4173-8990-2A9F3209916A}">
      <dsp:nvSpPr>
        <dsp:cNvPr id="0" name=""/>
        <dsp:cNvSpPr/>
      </dsp:nvSpPr>
      <dsp:spPr>
        <a:xfrm>
          <a:off x="388331" y="5030934"/>
          <a:ext cx="706748" cy="70605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1A4C529-6A56-4203-9C88-983EE4760179}">
      <dsp:nvSpPr>
        <dsp:cNvPr id="0" name=""/>
        <dsp:cNvSpPr/>
      </dsp:nvSpPr>
      <dsp:spPr>
        <a:xfrm>
          <a:off x="1483411" y="4742093"/>
          <a:ext cx="3880006" cy="1284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995" tIns="135995" rIns="135995" bIns="135995" numCol="1" spcCol="1270" anchor="ctr" anchorCtr="0">
          <a:noAutofit/>
        </a:bodyPr>
        <a:lstStyle/>
        <a:p>
          <a:pPr marL="0" lvl="0" indent="0" algn="l" defTabSz="622300">
            <a:lnSpc>
              <a:spcPct val="100000"/>
            </a:lnSpc>
            <a:spcBef>
              <a:spcPct val="0"/>
            </a:spcBef>
            <a:spcAft>
              <a:spcPct val="35000"/>
            </a:spcAft>
            <a:buNone/>
          </a:pPr>
          <a:r>
            <a:rPr lang="en-CA" sz="1400" b="0" i="0" kern="1200"/>
            <a:t>Each tree is grown to the largest extent possible. There is no pruning. </a:t>
          </a:r>
          <a:endParaRPr lang="en-US" sz="1400" kern="1200"/>
        </a:p>
      </dsp:txBody>
      <dsp:txXfrm>
        <a:off x="1483411" y="4742093"/>
        <a:ext cx="3880006" cy="12849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EB8EF4-6776-E246-B9E7-15A18C122F90}">
      <dsp:nvSpPr>
        <dsp:cNvPr id="0" name=""/>
        <dsp:cNvSpPr/>
      </dsp:nvSpPr>
      <dsp:spPr>
        <a:xfrm>
          <a:off x="0" y="0"/>
          <a:ext cx="5260803" cy="947660"/>
        </a:xfrm>
        <a:prstGeom prst="roundRect">
          <a:avLst>
            <a:gd name="adj" fmla="val 10000"/>
          </a:avLst>
        </a:prstGeom>
        <a:gradFill rotWithShape="0">
          <a:gsLst>
            <a:gs pos="0">
              <a:schemeClr val="accent5">
                <a:hueOff val="0"/>
                <a:satOff val="0"/>
                <a:lumOff val="0"/>
                <a:alphaOff val="0"/>
                <a:tint val="96000"/>
                <a:lumMod val="104000"/>
              </a:schemeClr>
            </a:gs>
            <a:gs pos="100000">
              <a:schemeClr val="accent5">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CA" sz="1300" kern="1200"/>
            <a:t>About one-third of the cases (observations) are left out of the bootstrap sample and not used in the construction of the </a:t>
          </a:r>
          <a:r>
            <a:rPr lang="en-CA" sz="1300" b="0" i="0" kern="1200"/>
            <a:t>kth</a:t>
          </a:r>
          <a:r>
            <a:rPr lang="en-CA" sz="1300" kern="1200"/>
            <a:t> tree. </a:t>
          </a:r>
          <a:endParaRPr lang="en-US" sz="1300" kern="1200"/>
        </a:p>
      </dsp:txBody>
      <dsp:txXfrm>
        <a:off x="27756" y="27756"/>
        <a:ext cx="4127327" cy="892148"/>
      </dsp:txXfrm>
    </dsp:sp>
    <dsp:sp modelId="{D339B2C4-AE80-8341-9467-566B31BF0FA2}">
      <dsp:nvSpPr>
        <dsp:cNvPr id="0" name=""/>
        <dsp:cNvSpPr/>
      </dsp:nvSpPr>
      <dsp:spPr>
        <a:xfrm>
          <a:off x="392852" y="1079279"/>
          <a:ext cx="5260803" cy="947660"/>
        </a:xfrm>
        <a:prstGeom prst="roundRect">
          <a:avLst>
            <a:gd name="adj" fmla="val 10000"/>
          </a:avLst>
        </a:prstGeom>
        <a:gradFill rotWithShape="0">
          <a:gsLst>
            <a:gs pos="0">
              <a:schemeClr val="accent5">
                <a:hueOff val="1202033"/>
                <a:satOff val="-2441"/>
                <a:lumOff val="1569"/>
                <a:alphaOff val="0"/>
                <a:tint val="96000"/>
                <a:lumMod val="104000"/>
              </a:schemeClr>
            </a:gs>
            <a:gs pos="100000">
              <a:schemeClr val="accent5">
                <a:hueOff val="1202033"/>
                <a:satOff val="-2441"/>
                <a:lumOff val="1569"/>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CA" sz="1300" kern="1200"/>
            <a:t>In this way, a test set classification is obtained for each case in about one-third of the trees. </a:t>
          </a:r>
          <a:endParaRPr lang="en-US" sz="1300" kern="1200"/>
        </a:p>
      </dsp:txBody>
      <dsp:txXfrm>
        <a:off x="420608" y="1107035"/>
        <a:ext cx="4196459" cy="892148"/>
      </dsp:txXfrm>
    </dsp:sp>
    <dsp:sp modelId="{3886DA4C-D51A-3E48-A2DA-A819F4ABC7B9}">
      <dsp:nvSpPr>
        <dsp:cNvPr id="0" name=""/>
        <dsp:cNvSpPr/>
      </dsp:nvSpPr>
      <dsp:spPr>
        <a:xfrm>
          <a:off x="785704" y="2158559"/>
          <a:ext cx="5260803" cy="947660"/>
        </a:xfrm>
        <a:prstGeom prst="roundRect">
          <a:avLst>
            <a:gd name="adj" fmla="val 10000"/>
          </a:avLst>
        </a:prstGeom>
        <a:gradFill rotWithShape="0">
          <a:gsLst>
            <a:gs pos="0">
              <a:schemeClr val="accent5">
                <a:hueOff val="2404066"/>
                <a:satOff val="-4882"/>
                <a:lumOff val="3137"/>
                <a:alphaOff val="0"/>
                <a:tint val="96000"/>
                <a:lumMod val="104000"/>
              </a:schemeClr>
            </a:gs>
            <a:gs pos="100000">
              <a:schemeClr val="accent5">
                <a:hueOff val="2404066"/>
                <a:satOff val="-4882"/>
                <a:lumOff val="3137"/>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CA" sz="1300" kern="1200"/>
            <a:t>In each run, the class is selected when it gets most of the votes among the OOB cases. </a:t>
          </a:r>
          <a:endParaRPr lang="en-US" sz="1300" kern="1200"/>
        </a:p>
      </dsp:txBody>
      <dsp:txXfrm>
        <a:off x="813460" y="2186315"/>
        <a:ext cx="4196459" cy="892148"/>
      </dsp:txXfrm>
    </dsp:sp>
    <dsp:sp modelId="{770333EA-E0A3-4245-AF14-A4A74D1558A8}">
      <dsp:nvSpPr>
        <dsp:cNvPr id="0" name=""/>
        <dsp:cNvSpPr/>
      </dsp:nvSpPr>
      <dsp:spPr>
        <a:xfrm>
          <a:off x="1178556" y="3237839"/>
          <a:ext cx="5260803" cy="947660"/>
        </a:xfrm>
        <a:prstGeom prst="roundRect">
          <a:avLst>
            <a:gd name="adj" fmla="val 10000"/>
          </a:avLst>
        </a:prstGeom>
        <a:gradFill rotWithShape="0">
          <a:gsLst>
            <a:gs pos="0">
              <a:schemeClr val="accent5">
                <a:hueOff val="3606099"/>
                <a:satOff val="-7323"/>
                <a:lumOff val="4706"/>
                <a:alphaOff val="0"/>
                <a:tint val="96000"/>
                <a:lumMod val="104000"/>
              </a:schemeClr>
            </a:gs>
            <a:gs pos="100000">
              <a:schemeClr val="accent5">
                <a:hueOff val="3606099"/>
                <a:satOff val="-7323"/>
                <a:lumOff val="4706"/>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CA" sz="1300" kern="1200"/>
            <a:t>The proportion of times that the selected class for the observation is not equal to the true class over all observations in OOB set is called the OOB error estimate.</a:t>
          </a:r>
          <a:endParaRPr lang="en-US" sz="1300" kern="1200"/>
        </a:p>
      </dsp:txBody>
      <dsp:txXfrm>
        <a:off x="1206312" y="3265595"/>
        <a:ext cx="4196459" cy="892148"/>
      </dsp:txXfrm>
    </dsp:sp>
    <dsp:sp modelId="{F6D538B0-093E-4140-A6F9-B513B2F8F57C}">
      <dsp:nvSpPr>
        <dsp:cNvPr id="0" name=""/>
        <dsp:cNvSpPr/>
      </dsp:nvSpPr>
      <dsp:spPr>
        <a:xfrm>
          <a:off x="1571408" y="4317118"/>
          <a:ext cx="5260803" cy="947660"/>
        </a:xfrm>
        <a:prstGeom prst="roundRect">
          <a:avLst>
            <a:gd name="adj" fmla="val 10000"/>
          </a:avLst>
        </a:prstGeom>
        <a:gradFill rotWithShape="0">
          <a:gsLst>
            <a:gs pos="0">
              <a:schemeClr val="accent5">
                <a:hueOff val="4808132"/>
                <a:satOff val="-9764"/>
                <a:lumOff val="6275"/>
                <a:alphaOff val="0"/>
                <a:tint val="96000"/>
                <a:lumMod val="104000"/>
              </a:schemeClr>
            </a:gs>
            <a:gs pos="100000">
              <a:schemeClr val="accent5">
                <a:hueOff val="4808132"/>
                <a:satOff val="-9764"/>
                <a:lumOff val="6275"/>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CA" sz="1300" kern="1200"/>
            <a:t>This has proven to be unbiased in many tests. Note that the forest’s variance decreases as the number of trees grows. Thus, more accurate predictions are likely to be obtained by choosing many trees.</a:t>
          </a:r>
          <a:r>
            <a:rPr lang="en-US" sz="1300" kern="1200"/>
            <a:t> </a:t>
          </a:r>
        </a:p>
      </dsp:txBody>
      <dsp:txXfrm>
        <a:off x="1599164" y="4344874"/>
        <a:ext cx="4196459" cy="892148"/>
      </dsp:txXfrm>
    </dsp:sp>
    <dsp:sp modelId="{5A5B4A0F-6F38-B445-A9DA-323DDB9ACF52}">
      <dsp:nvSpPr>
        <dsp:cNvPr id="0" name=""/>
        <dsp:cNvSpPr/>
      </dsp:nvSpPr>
      <dsp:spPr>
        <a:xfrm>
          <a:off x="4644824" y="692318"/>
          <a:ext cx="615979" cy="615979"/>
        </a:xfrm>
        <a:prstGeom prst="downArrow">
          <a:avLst>
            <a:gd name="adj1" fmla="val 55000"/>
            <a:gd name="adj2" fmla="val 45000"/>
          </a:avLst>
        </a:prstGeom>
        <a:solidFill>
          <a:schemeClr val="accent5">
            <a:tint val="40000"/>
            <a:alpha val="90000"/>
            <a:hueOff val="0"/>
            <a:satOff val="0"/>
            <a:lumOff val="0"/>
            <a:alphaOff val="0"/>
          </a:schemeClr>
        </a:solidFill>
        <a:ln w="9525" cap="rnd"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4783419" y="692318"/>
        <a:ext cx="338789" cy="463524"/>
      </dsp:txXfrm>
    </dsp:sp>
    <dsp:sp modelId="{FDDEE7BF-1F76-044C-8D58-A0204F7F75DC}">
      <dsp:nvSpPr>
        <dsp:cNvPr id="0" name=""/>
        <dsp:cNvSpPr/>
      </dsp:nvSpPr>
      <dsp:spPr>
        <a:xfrm>
          <a:off x="5037676" y="1771598"/>
          <a:ext cx="615979" cy="615979"/>
        </a:xfrm>
        <a:prstGeom prst="downArrow">
          <a:avLst>
            <a:gd name="adj1" fmla="val 55000"/>
            <a:gd name="adj2" fmla="val 45000"/>
          </a:avLst>
        </a:prstGeom>
        <a:solidFill>
          <a:schemeClr val="accent5">
            <a:tint val="40000"/>
            <a:alpha val="90000"/>
            <a:hueOff val="1432725"/>
            <a:satOff val="-1155"/>
            <a:lumOff val="309"/>
            <a:alphaOff val="0"/>
          </a:schemeClr>
        </a:solidFill>
        <a:ln w="9525" cap="rnd"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5176271" y="1771598"/>
        <a:ext cx="338789" cy="463524"/>
      </dsp:txXfrm>
    </dsp:sp>
    <dsp:sp modelId="{C91EE28B-A8D7-8443-8AA6-05327FA391D4}">
      <dsp:nvSpPr>
        <dsp:cNvPr id="0" name=""/>
        <dsp:cNvSpPr/>
      </dsp:nvSpPr>
      <dsp:spPr>
        <a:xfrm>
          <a:off x="5430528" y="2835083"/>
          <a:ext cx="615979" cy="615979"/>
        </a:xfrm>
        <a:prstGeom prst="downArrow">
          <a:avLst>
            <a:gd name="adj1" fmla="val 55000"/>
            <a:gd name="adj2" fmla="val 45000"/>
          </a:avLst>
        </a:prstGeom>
        <a:solidFill>
          <a:schemeClr val="accent5">
            <a:tint val="40000"/>
            <a:alpha val="90000"/>
            <a:hueOff val="2865450"/>
            <a:satOff val="-2310"/>
            <a:lumOff val="617"/>
            <a:alphaOff val="0"/>
          </a:schemeClr>
        </a:solidFill>
        <a:ln w="9525" cap="rnd"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5569123" y="2835083"/>
        <a:ext cx="338789" cy="463524"/>
      </dsp:txXfrm>
    </dsp:sp>
    <dsp:sp modelId="{D029CEC4-5751-434B-8C8C-875C2B18DD71}">
      <dsp:nvSpPr>
        <dsp:cNvPr id="0" name=""/>
        <dsp:cNvSpPr/>
      </dsp:nvSpPr>
      <dsp:spPr>
        <a:xfrm>
          <a:off x="5823380" y="3924892"/>
          <a:ext cx="615979" cy="615979"/>
        </a:xfrm>
        <a:prstGeom prst="downArrow">
          <a:avLst>
            <a:gd name="adj1" fmla="val 55000"/>
            <a:gd name="adj2" fmla="val 45000"/>
          </a:avLst>
        </a:prstGeom>
        <a:solidFill>
          <a:schemeClr val="accent5">
            <a:tint val="40000"/>
            <a:alpha val="90000"/>
            <a:hueOff val="4298175"/>
            <a:satOff val="-3465"/>
            <a:lumOff val="926"/>
            <a:alphaOff val="0"/>
          </a:schemeClr>
        </a:solidFill>
        <a:ln w="9525" cap="rnd"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5961975" y="3924892"/>
        <a:ext cx="338789" cy="46352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035EA6-2559-457B-8BB6-A79D527EF085}">
      <dsp:nvSpPr>
        <dsp:cNvPr id="0" name=""/>
        <dsp:cNvSpPr/>
      </dsp:nvSpPr>
      <dsp:spPr>
        <a:xfrm>
          <a:off x="0" y="2878"/>
          <a:ext cx="7188279" cy="137578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A8CA5D-CEEE-4965-AFD6-EE20C611AA45}">
      <dsp:nvSpPr>
        <dsp:cNvPr id="0" name=""/>
        <dsp:cNvSpPr/>
      </dsp:nvSpPr>
      <dsp:spPr>
        <a:xfrm>
          <a:off x="416173" y="312428"/>
          <a:ext cx="757418" cy="75667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966328B-A405-4A67-B67E-113D43FE2016}">
      <dsp:nvSpPr>
        <dsp:cNvPr id="0" name=""/>
        <dsp:cNvSpPr/>
      </dsp:nvSpPr>
      <dsp:spPr>
        <a:xfrm>
          <a:off x="1589765" y="2878"/>
          <a:ext cx="5430071" cy="1377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46" tIns="145746" rIns="145746" bIns="145746" numCol="1" spcCol="1270" anchor="ctr" anchorCtr="0">
          <a:noAutofit/>
        </a:bodyPr>
        <a:lstStyle/>
        <a:p>
          <a:pPr marL="0" lvl="0" indent="0" algn="l" defTabSz="622300">
            <a:lnSpc>
              <a:spcPct val="100000"/>
            </a:lnSpc>
            <a:spcBef>
              <a:spcPct val="0"/>
            </a:spcBef>
            <a:spcAft>
              <a:spcPct val="35000"/>
            </a:spcAft>
            <a:buNone/>
          </a:pPr>
          <a:r>
            <a:rPr lang="en-CA" sz="1400" kern="1200"/>
            <a:t>MDI measures the importance of a feature by calculating the </a:t>
          </a:r>
          <a:r>
            <a:rPr lang="en-CA" sz="1400" u="sng" kern="1200"/>
            <a:t>weighted</a:t>
          </a:r>
          <a:r>
            <a:rPr lang="en-CA" sz="1400" kern="1200"/>
            <a:t> decrease in node impurity (e.g., Gini impurity for classification, variance for regression) when that feature is used to split data in the trees. The "weight" in this context refers to the proportion of samples that reach the node where the split occurs.</a:t>
          </a:r>
          <a:endParaRPr lang="en-US" sz="1400" kern="1200" dirty="0"/>
        </a:p>
      </dsp:txBody>
      <dsp:txXfrm>
        <a:off x="1589765" y="2878"/>
        <a:ext cx="5430071" cy="1377124"/>
      </dsp:txXfrm>
    </dsp:sp>
    <dsp:sp modelId="{934A2AE8-AE19-4C14-89A8-B4C7C7FA45B3}">
      <dsp:nvSpPr>
        <dsp:cNvPr id="0" name=""/>
        <dsp:cNvSpPr/>
      </dsp:nvSpPr>
      <dsp:spPr>
        <a:xfrm>
          <a:off x="0" y="1669924"/>
          <a:ext cx="7188279" cy="137578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099DC2-2599-442D-A8CB-0A5A3D880E1C}">
      <dsp:nvSpPr>
        <dsp:cNvPr id="0" name=""/>
        <dsp:cNvSpPr/>
      </dsp:nvSpPr>
      <dsp:spPr>
        <a:xfrm>
          <a:off x="416173" y="1979475"/>
          <a:ext cx="757418" cy="75667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1094C3E-0453-488A-B1CD-B71443D36DEE}">
      <dsp:nvSpPr>
        <dsp:cNvPr id="0" name=""/>
        <dsp:cNvSpPr/>
      </dsp:nvSpPr>
      <dsp:spPr>
        <a:xfrm>
          <a:off x="1589765" y="1669924"/>
          <a:ext cx="5430071" cy="1377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46" tIns="145746" rIns="145746" bIns="145746" numCol="1" spcCol="1270" anchor="ctr" anchorCtr="0">
          <a:noAutofit/>
        </a:bodyPr>
        <a:lstStyle/>
        <a:p>
          <a:pPr marL="0" lvl="0" indent="0" algn="l" defTabSz="622300">
            <a:lnSpc>
              <a:spcPct val="100000"/>
            </a:lnSpc>
            <a:spcBef>
              <a:spcPct val="0"/>
            </a:spcBef>
            <a:spcAft>
              <a:spcPct val="35000"/>
            </a:spcAft>
            <a:buNone/>
          </a:pPr>
          <a:r>
            <a:rPr lang="en-CA" sz="1400" kern="1200"/>
            <a:t>Pros: straightforward to calculate during the model training process and doesn't require additional computational resources post-training. It gives a good indication of how much a feature contributes to making the nodes purer, which directly impacts model accuracy.</a:t>
          </a:r>
          <a:endParaRPr lang="en-US" sz="1400" kern="1200"/>
        </a:p>
      </dsp:txBody>
      <dsp:txXfrm>
        <a:off x="1589765" y="1669924"/>
        <a:ext cx="5430071" cy="1377124"/>
      </dsp:txXfrm>
    </dsp:sp>
    <dsp:sp modelId="{EF1FF55A-35F2-4E2C-A55F-CFE10564EEBE}">
      <dsp:nvSpPr>
        <dsp:cNvPr id="0" name=""/>
        <dsp:cNvSpPr/>
      </dsp:nvSpPr>
      <dsp:spPr>
        <a:xfrm>
          <a:off x="0" y="3336970"/>
          <a:ext cx="7188279" cy="137578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63F5CE-0F82-4184-8178-C365C3ADCA1F}">
      <dsp:nvSpPr>
        <dsp:cNvPr id="0" name=""/>
        <dsp:cNvSpPr/>
      </dsp:nvSpPr>
      <dsp:spPr>
        <a:xfrm>
          <a:off x="416173" y="3646521"/>
          <a:ext cx="757418" cy="75667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5FAAF22-0CEE-4C20-B1DA-43DE13913DC5}">
      <dsp:nvSpPr>
        <dsp:cNvPr id="0" name=""/>
        <dsp:cNvSpPr/>
      </dsp:nvSpPr>
      <dsp:spPr>
        <a:xfrm>
          <a:off x="1589765" y="3336970"/>
          <a:ext cx="5430071" cy="1377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46" tIns="145746" rIns="145746" bIns="145746" numCol="1" spcCol="1270" anchor="ctr" anchorCtr="0">
          <a:noAutofit/>
        </a:bodyPr>
        <a:lstStyle/>
        <a:p>
          <a:pPr marL="0" lvl="0" indent="0" algn="l" defTabSz="622300">
            <a:lnSpc>
              <a:spcPct val="100000"/>
            </a:lnSpc>
            <a:spcBef>
              <a:spcPct val="0"/>
            </a:spcBef>
            <a:spcAft>
              <a:spcPct val="35000"/>
            </a:spcAft>
            <a:buNone/>
          </a:pPr>
          <a:r>
            <a:rPr lang="en-CA" sz="1400" kern="1200"/>
            <a:t>Cons: can be biased towards features with more categories (in classification) or higher cardinality (in both classification and regression). It also doesn't account for the model's performance on unseen data, as it's based entirely on the training process.</a:t>
          </a:r>
          <a:endParaRPr lang="en-US" sz="1400" kern="1200"/>
        </a:p>
      </dsp:txBody>
      <dsp:txXfrm>
        <a:off x="1589765" y="3336970"/>
        <a:ext cx="5430071" cy="137712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D72BC0-D1A4-F24F-93AD-510CABD952D5}" type="datetimeFigureOut">
              <a:rPr lang="en-US" smtClean="0"/>
              <a:t>3/3/25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A43C4B-2C1C-9C4B-B0B1-CEC450567AD5}" type="slidenum">
              <a:rPr lang="en-US" smtClean="0"/>
              <a:t>‹#›</a:t>
            </a:fld>
            <a:endParaRPr lang="en-US"/>
          </a:p>
        </p:txBody>
      </p:sp>
    </p:spTree>
    <p:extLst>
      <p:ext uri="{BB962C8B-B14F-4D97-AF65-F5344CB8AC3E}">
        <p14:creationId xmlns:p14="http://schemas.microsoft.com/office/powerpoint/2010/main" val="1598823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A43C4B-2C1C-9C4B-B0B1-CEC450567AD5}" type="slidenum">
              <a:rPr lang="en-US" smtClean="0"/>
              <a:t>15</a:t>
            </a:fld>
            <a:endParaRPr lang="en-US"/>
          </a:p>
        </p:txBody>
      </p:sp>
    </p:spTree>
    <p:extLst>
      <p:ext uri="{BB962C8B-B14F-4D97-AF65-F5344CB8AC3E}">
        <p14:creationId xmlns:p14="http://schemas.microsoft.com/office/powerpoint/2010/main" val="2824096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008460-8B2F-4AAA-A4E2-10730069204C}" type="datetimeFigureOut">
              <a:rPr lang="en-US" smtClean="0"/>
              <a:t>3/3/25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3624227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008460-8B2F-4AAA-A4E2-10730069204C}" type="datetimeFigureOut">
              <a:rPr lang="en-US" smtClean="0"/>
              <a:t>3/3/25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876793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008460-8B2F-4AAA-A4E2-10730069204C}" type="datetimeFigureOut">
              <a:rPr lang="en-US" smtClean="0"/>
              <a:t>3/3/25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4189511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008460-8B2F-4AAA-A4E2-10730069204C}" type="datetimeFigureOut">
              <a:rPr lang="en-US" smtClean="0"/>
              <a:t>3/3/25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1888727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008460-8B2F-4AAA-A4E2-10730069204C}" type="datetimeFigureOut">
              <a:rPr lang="en-US" smtClean="0"/>
              <a:t>3/3/25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1533833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008460-8B2F-4AAA-A4E2-10730069204C}" type="datetimeFigureOut">
              <a:rPr lang="en-US" smtClean="0"/>
              <a:t>3/3/25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1415658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008460-8B2F-4AAA-A4E2-10730069204C}" type="datetimeFigureOut">
              <a:rPr lang="en-US" smtClean="0"/>
              <a:t>3/3/25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2432071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008460-8B2F-4AAA-A4E2-10730069204C}" type="datetimeFigureOut">
              <a:rPr lang="en-US" smtClean="0"/>
              <a:t>3/3/25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261102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008460-8B2F-4AAA-A4E2-10730069204C}" type="datetimeFigureOut">
              <a:rPr lang="en-US" smtClean="0"/>
              <a:t>3/3/25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897746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008460-8B2F-4AAA-A4E2-10730069204C}" type="datetimeFigureOut">
              <a:rPr lang="en-US" smtClean="0"/>
              <a:pPr/>
              <a:t>3/3/25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946259B-8396-46CD-AD42-FDEDA89DA278}" type="slidenum">
              <a:rPr lang="en-US" smtClean="0"/>
              <a:pPr/>
              <a:t>‹#›</a:t>
            </a:fld>
            <a:endParaRPr lang="en-US" dirty="0"/>
          </a:p>
        </p:txBody>
      </p:sp>
    </p:spTree>
    <p:extLst>
      <p:ext uri="{BB962C8B-B14F-4D97-AF65-F5344CB8AC3E}">
        <p14:creationId xmlns:p14="http://schemas.microsoft.com/office/powerpoint/2010/main" val="2405176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008460-8B2F-4AAA-A4E2-10730069204C}" type="datetimeFigureOut">
              <a:rPr lang="en-US" smtClean="0"/>
              <a:pPr/>
              <a:t>3/3/25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946259B-8396-46CD-AD42-FDEDA89DA278}"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766913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1008460-8B2F-4AAA-A4E2-10730069204C}" type="datetimeFigureOut">
              <a:rPr lang="en-US" smtClean="0"/>
              <a:pPr/>
              <a:t>3/3/25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946259B-8396-46CD-AD42-FDEDA89DA278}" type="slidenum">
              <a:rPr lang="en-US" smtClean="0"/>
              <a:pPr/>
              <a:t>‹#›</a:t>
            </a:fld>
            <a:endParaRPr lang="en-US" dirty="0"/>
          </a:p>
        </p:txBody>
      </p:sp>
    </p:spTree>
    <p:extLst>
      <p:ext uri="{BB962C8B-B14F-4D97-AF65-F5344CB8AC3E}">
        <p14:creationId xmlns:p14="http://schemas.microsoft.com/office/powerpoint/2010/main" val="22049691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1008460-8B2F-4AAA-A4E2-10730069204C}" type="datetimeFigureOut">
              <a:rPr lang="en-US" smtClean="0"/>
              <a:pPr/>
              <a:t>3/3/25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946259B-8396-46CD-AD42-FDEDA89DA278}"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548784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1008460-8B2F-4AAA-A4E2-10730069204C}" type="datetimeFigureOut">
              <a:rPr lang="en-US" smtClean="0"/>
              <a:pPr/>
              <a:t>3/3/25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946259B-8396-46CD-AD42-FDEDA89DA278}" type="slidenum">
              <a:rPr lang="en-US" smtClean="0"/>
              <a:pPr/>
              <a:t>‹#›</a:t>
            </a:fld>
            <a:endParaRPr lang="en-US" dirty="0"/>
          </a:p>
        </p:txBody>
      </p:sp>
    </p:spTree>
    <p:extLst>
      <p:ext uri="{BB962C8B-B14F-4D97-AF65-F5344CB8AC3E}">
        <p14:creationId xmlns:p14="http://schemas.microsoft.com/office/powerpoint/2010/main" val="16707714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008460-8B2F-4AAA-A4E2-10730069204C}" type="datetimeFigureOut">
              <a:rPr lang="en-US" smtClean="0"/>
              <a:t>3/3/25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668859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008460-8B2F-4AAA-A4E2-10730069204C}" type="datetimeFigureOut">
              <a:rPr lang="en-US" smtClean="0"/>
              <a:t>3/3/25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3537305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1008460-8B2F-4AAA-A4E2-10730069204C}" type="datetimeFigureOut">
              <a:rPr lang="en-US" smtClean="0"/>
              <a:pPr/>
              <a:t>3/3/25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0946259B-8396-46CD-AD42-FDEDA89DA278}" type="slidenum">
              <a:rPr lang="en-US" smtClean="0"/>
              <a:pPr/>
              <a:t>‹#›</a:t>
            </a:fld>
            <a:endParaRPr lang="en-US" dirty="0"/>
          </a:p>
        </p:txBody>
      </p:sp>
    </p:spTree>
    <p:extLst>
      <p:ext uri="{BB962C8B-B14F-4D97-AF65-F5344CB8AC3E}">
        <p14:creationId xmlns:p14="http://schemas.microsoft.com/office/powerpoint/2010/main" val="1612270733"/>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stat.berkeley.edu/~breiman/RandomForests/cc_home.ht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hyperlink" Target="https://www.cs.cmu.edu/~qyj/papersA08/11-rfbook.pdf"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0.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descr="Vibrant green forest">
            <a:extLst>
              <a:ext uri="{FF2B5EF4-FFF2-40B4-BE49-F238E27FC236}">
                <a16:creationId xmlns:a16="http://schemas.microsoft.com/office/drawing/2014/main" id="{025B1329-D92F-59F7-614B-32D7235054B0}"/>
              </a:ext>
            </a:extLst>
          </p:cNvPr>
          <p:cNvPicPr>
            <a:picLocks noChangeAspect="1"/>
          </p:cNvPicPr>
          <p:nvPr/>
        </p:nvPicPr>
        <p:blipFill rotWithShape="1">
          <a:blip r:embed="rId2"/>
          <a:srcRect t="8782" b="6948"/>
          <a:stretch/>
        </p:blipFill>
        <p:spPr>
          <a:xfrm>
            <a:off x="21" y="11"/>
            <a:ext cx="12191979" cy="6857989"/>
          </a:xfrm>
          <a:prstGeom prst="rect">
            <a:avLst/>
          </a:prstGeom>
        </p:spPr>
      </p:pic>
      <p:sp>
        <p:nvSpPr>
          <p:cNvPr id="2" name="Title 1">
            <a:extLst>
              <a:ext uri="{FF2B5EF4-FFF2-40B4-BE49-F238E27FC236}">
                <a16:creationId xmlns:a16="http://schemas.microsoft.com/office/drawing/2014/main" id="{EC5276D6-9F5B-24D4-3E25-AC163393FEDF}"/>
              </a:ext>
            </a:extLst>
          </p:cNvPr>
          <p:cNvSpPr>
            <a:spLocks noGrp="1"/>
          </p:cNvSpPr>
          <p:nvPr>
            <p:ph type="ctrTitle"/>
          </p:nvPr>
        </p:nvSpPr>
        <p:spPr>
          <a:xfrm>
            <a:off x="3369924" y="1221661"/>
            <a:ext cx="5054885" cy="3257872"/>
          </a:xfrm>
        </p:spPr>
        <p:txBody>
          <a:bodyPr anchor="b">
            <a:normAutofit/>
          </a:bodyPr>
          <a:lstStyle/>
          <a:p>
            <a:pPr algn="ctr"/>
            <a:r>
              <a:rPr lang="en-US" sz="8000" b="1" dirty="0">
                <a:solidFill>
                  <a:schemeClr val="bg1"/>
                </a:solidFill>
              </a:rPr>
              <a:t>Random Forest</a:t>
            </a:r>
          </a:p>
        </p:txBody>
      </p:sp>
    </p:spTree>
    <p:extLst>
      <p:ext uri="{BB962C8B-B14F-4D97-AF65-F5344CB8AC3E}">
        <p14:creationId xmlns:p14="http://schemas.microsoft.com/office/powerpoint/2010/main" val="2288413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06483-731B-7357-4EF7-7F3D693A3E76}"/>
              </a:ext>
            </a:extLst>
          </p:cNvPr>
          <p:cNvSpPr>
            <a:spLocks noGrp="1"/>
          </p:cNvSpPr>
          <p:nvPr>
            <p:ph type="title"/>
          </p:nvPr>
        </p:nvSpPr>
        <p:spPr/>
        <p:txBody>
          <a:bodyPr/>
          <a:lstStyle/>
          <a:p>
            <a:r>
              <a:rPr lang="en-US" dirty="0"/>
              <a:t>Overview</a:t>
            </a:r>
          </a:p>
        </p:txBody>
      </p:sp>
      <p:sp>
        <p:nvSpPr>
          <p:cNvPr id="6" name="Content Placeholder 5">
            <a:extLst>
              <a:ext uri="{FF2B5EF4-FFF2-40B4-BE49-F238E27FC236}">
                <a16:creationId xmlns:a16="http://schemas.microsoft.com/office/drawing/2014/main" id="{77C9237B-01C7-AB29-969E-881860FBDA47}"/>
              </a:ext>
            </a:extLst>
          </p:cNvPr>
          <p:cNvSpPr>
            <a:spLocks noGrp="1"/>
          </p:cNvSpPr>
          <p:nvPr>
            <p:ph idx="1"/>
          </p:nvPr>
        </p:nvSpPr>
        <p:spPr/>
        <p:txBody>
          <a:bodyPr/>
          <a:lstStyle/>
          <a:p>
            <a:r>
              <a:rPr lang="en-CA" b="0" i="0" u="none" strike="noStrike" dirty="0">
                <a:solidFill>
                  <a:srgbClr val="161616"/>
                </a:solidFill>
                <a:effectLst/>
                <a:latin typeface="IBM Plex Sans" panose="020F0502020204030204" pitchFamily="34" charset="0"/>
              </a:rPr>
              <a:t>Random forest is a commonly-used machine learning algorithm trademarked by Leo </a:t>
            </a:r>
            <a:r>
              <a:rPr lang="en-CA" b="0" i="0" u="none" strike="noStrike" dirty="0" err="1">
                <a:solidFill>
                  <a:srgbClr val="161616"/>
                </a:solidFill>
                <a:effectLst/>
                <a:latin typeface="IBM Plex Sans" panose="020F0502020204030204" pitchFamily="34" charset="0"/>
              </a:rPr>
              <a:t>Breiman</a:t>
            </a:r>
            <a:r>
              <a:rPr lang="en-CA" b="0" i="0" u="none" strike="noStrike" dirty="0">
                <a:solidFill>
                  <a:srgbClr val="161616"/>
                </a:solidFill>
                <a:effectLst/>
                <a:latin typeface="IBM Plex Sans" panose="020F0502020204030204" pitchFamily="34" charset="0"/>
              </a:rPr>
              <a:t> and Adele Cutler</a:t>
            </a:r>
          </a:p>
          <a:p>
            <a:r>
              <a:rPr lang="en-CA" dirty="0">
                <a:solidFill>
                  <a:srgbClr val="161616"/>
                </a:solidFill>
                <a:latin typeface="IBM Plex Sans" panose="020F0502020204030204" pitchFamily="34" charset="0"/>
              </a:rPr>
              <a:t>It’s an extension of BAGGING (1996, 2001): </a:t>
            </a:r>
            <a:r>
              <a:rPr lang="en-CA" dirty="0">
                <a:solidFill>
                  <a:srgbClr val="161616"/>
                </a:solidFill>
                <a:latin typeface="IBM Plex Sans" panose="020F0502020204030204" pitchFamily="34" charset="0"/>
                <a:hlinkClick r:id="rId2"/>
              </a:rPr>
              <a:t>https://www.stat.berkeley.edu/~breiman/RandomForests/cc_home.htm</a:t>
            </a:r>
            <a:r>
              <a:rPr lang="en-CA" dirty="0">
                <a:solidFill>
                  <a:srgbClr val="161616"/>
                </a:solidFill>
                <a:latin typeface="IBM Plex Sans" panose="020F0502020204030204" pitchFamily="34" charset="0"/>
              </a:rPr>
              <a:t> </a:t>
            </a:r>
            <a:endParaRPr lang="en-CA" b="0" i="0" u="none" strike="noStrike" dirty="0">
              <a:solidFill>
                <a:srgbClr val="161616"/>
              </a:solidFill>
              <a:effectLst/>
              <a:latin typeface="IBM Plex Sans" panose="020F0502020204030204" pitchFamily="34" charset="0"/>
            </a:endParaRPr>
          </a:p>
          <a:p>
            <a:r>
              <a:rPr lang="en-CA" b="0" i="0" u="none" strike="noStrike" dirty="0">
                <a:solidFill>
                  <a:srgbClr val="333333"/>
                </a:solidFill>
                <a:effectLst/>
                <a:latin typeface="Helvetica Neue" panose="02000503000000020004" pitchFamily="2" charset="0"/>
              </a:rPr>
              <a:t>They have become a very popular “out-of-the-box” or “off-the-shelf” learning algorithm that enjoys good predictive performance with relatively little hyperparameter tuning.  </a:t>
            </a:r>
            <a:r>
              <a:rPr lang="en-CA" b="0" i="0" u="none" strike="noStrike" dirty="0">
                <a:solidFill>
                  <a:srgbClr val="161616"/>
                </a:solidFill>
                <a:effectLst/>
                <a:latin typeface="IBM Plex Sans" panose="020F0502020204030204" pitchFamily="34" charset="0"/>
              </a:rPr>
              <a:t>Its ease of use and flexibility have fueled its adoption, as it handles both classification and regression problems.</a:t>
            </a:r>
          </a:p>
          <a:p>
            <a:r>
              <a:rPr lang="en-CA" b="0" i="1" u="none" strike="noStrike" dirty="0">
                <a:solidFill>
                  <a:srgbClr val="333333"/>
                </a:solidFill>
                <a:effectLst/>
                <a:latin typeface="Helvetica Neue" panose="02000503000000020004" pitchFamily="2" charset="0"/>
              </a:rPr>
              <a:t>Random forests</a:t>
            </a:r>
            <a:r>
              <a:rPr lang="en-CA" b="0" i="0" u="none" strike="noStrike" dirty="0">
                <a:solidFill>
                  <a:srgbClr val="333333"/>
                </a:solidFill>
                <a:effectLst/>
                <a:latin typeface="Helvetica Neue" panose="02000503000000020004" pitchFamily="2" charset="0"/>
              </a:rPr>
              <a:t> are a modification of bagged decision trees that build a large collection of </a:t>
            </a:r>
            <a:r>
              <a:rPr lang="en-CA" b="1" i="1" u="none" strike="noStrike" dirty="0">
                <a:solidFill>
                  <a:srgbClr val="333333"/>
                </a:solidFill>
                <a:effectLst/>
                <a:latin typeface="Helvetica Neue" panose="02000503000000020004" pitchFamily="2" charset="0"/>
              </a:rPr>
              <a:t>de-correlated </a:t>
            </a:r>
            <a:r>
              <a:rPr lang="en-CA" b="1" i="0" u="none" strike="noStrike" dirty="0">
                <a:solidFill>
                  <a:srgbClr val="333333"/>
                </a:solidFill>
                <a:effectLst/>
                <a:latin typeface="Helvetica Neue" panose="02000503000000020004" pitchFamily="2" charset="0"/>
              </a:rPr>
              <a:t>trees </a:t>
            </a:r>
            <a:r>
              <a:rPr lang="en-CA" b="0" i="0" u="none" strike="noStrike" dirty="0">
                <a:solidFill>
                  <a:srgbClr val="333333"/>
                </a:solidFill>
                <a:effectLst/>
                <a:latin typeface="Helvetica Neue" panose="02000503000000020004" pitchFamily="2" charset="0"/>
              </a:rPr>
              <a:t>to further improve predictive performance. </a:t>
            </a:r>
            <a:endParaRPr lang="en-US" dirty="0"/>
          </a:p>
        </p:txBody>
      </p:sp>
    </p:spTree>
    <p:extLst>
      <p:ext uri="{BB962C8B-B14F-4D97-AF65-F5344CB8AC3E}">
        <p14:creationId xmlns:p14="http://schemas.microsoft.com/office/powerpoint/2010/main" val="1264721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6DE42FE-30E9-1952-4ECB-2DD1C338D3E8}"/>
              </a:ext>
            </a:extLst>
          </p:cNvPr>
          <p:cNvSpPr>
            <a:spLocks noGrp="1"/>
          </p:cNvSpPr>
          <p:nvPr>
            <p:ph type="title"/>
          </p:nvPr>
        </p:nvSpPr>
        <p:spPr>
          <a:xfrm>
            <a:off x="2592925" y="624110"/>
            <a:ext cx="8911687" cy="833987"/>
          </a:xfrm>
        </p:spPr>
        <p:txBody>
          <a:bodyPr/>
          <a:lstStyle/>
          <a:p>
            <a:r>
              <a:rPr lang="en-US" dirty="0"/>
              <a:t>Features of Radom Forests</a:t>
            </a:r>
          </a:p>
        </p:txBody>
      </p:sp>
      <p:graphicFrame>
        <p:nvGraphicFramePr>
          <p:cNvPr id="9" name="Content Placeholder 6">
            <a:extLst>
              <a:ext uri="{FF2B5EF4-FFF2-40B4-BE49-F238E27FC236}">
                <a16:creationId xmlns:a16="http://schemas.microsoft.com/office/drawing/2014/main" id="{7EB63520-9B66-06BC-0D7E-31C11ED90BD7}"/>
              </a:ext>
            </a:extLst>
          </p:cNvPr>
          <p:cNvGraphicFramePr>
            <a:graphicFrameLocks noGrp="1"/>
          </p:cNvGraphicFramePr>
          <p:nvPr>
            <p:ph idx="1"/>
            <p:extLst>
              <p:ext uri="{D42A27DB-BD31-4B8C-83A1-F6EECF244321}">
                <p14:modId xmlns:p14="http://schemas.microsoft.com/office/powerpoint/2010/main" val="1944168270"/>
              </p:ext>
            </p:extLst>
          </p:nvPr>
        </p:nvGraphicFramePr>
        <p:xfrm>
          <a:off x="2589212" y="1458097"/>
          <a:ext cx="9359772" cy="49303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96622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BE0789E-91A7-4246-978E-A17FE1BF95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795735"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3C6C0BD2-8B3C-4042-B4EE-5DB7665A37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a:solidFill>
            <a:schemeClr val="bg2"/>
          </a:solidFill>
        </p:grpSpPr>
        <p:sp>
          <p:nvSpPr>
            <p:cNvPr id="23" name="Freeform 27">
              <a:extLst>
                <a:ext uri="{FF2B5EF4-FFF2-40B4-BE49-F238E27FC236}">
                  <a16:creationId xmlns:a16="http://schemas.microsoft.com/office/drawing/2014/main" id="{5F53669F-C1E6-43B8-AC6F-B44CE56BF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txBody>
            <a:bodyPr/>
            <a:lstStyle/>
            <a:p>
              <a:endParaRPr lang="en-US"/>
            </a:p>
          </p:txBody>
        </p:sp>
        <p:sp>
          <p:nvSpPr>
            <p:cNvPr id="12" name="Freeform 28">
              <a:extLst>
                <a:ext uri="{FF2B5EF4-FFF2-40B4-BE49-F238E27FC236}">
                  <a16:creationId xmlns:a16="http://schemas.microsoft.com/office/drawing/2014/main" id="{53966C25-DAEA-4318-8FBC-EC6FF8F5A1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txBody>
            <a:bodyPr/>
            <a:lstStyle/>
            <a:p>
              <a:endParaRPr lang="en-US"/>
            </a:p>
          </p:txBody>
        </p:sp>
        <p:sp>
          <p:nvSpPr>
            <p:cNvPr id="25" name="Freeform 29">
              <a:extLst>
                <a:ext uri="{FF2B5EF4-FFF2-40B4-BE49-F238E27FC236}">
                  <a16:creationId xmlns:a16="http://schemas.microsoft.com/office/drawing/2014/main" id="{ED6EA716-EAD4-4023-8673-0809A1E24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txBody>
            <a:bodyPr/>
            <a:lstStyle/>
            <a:p>
              <a:endParaRPr lang="en-US"/>
            </a:p>
          </p:txBody>
        </p:sp>
        <p:sp>
          <p:nvSpPr>
            <p:cNvPr id="14" name="Freeform 30">
              <a:extLst>
                <a:ext uri="{FF2B5EF4-FFF2-40B4-BE49-F238E27FC236}">
                  <a16:creationId xmlns:a16="http://schemas.microsoft.com/office/drawing/2014/main" id="{84261748-EFC0-4729-A7BB-A88FDAF6FA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txBody>
            <a:bodyPr/>
            <a:lstStyle/>
            <a:p>
              <a:endParaRPr lang="en-US"/>
            </a:p>
          </p:txBody>
        </p:sp>
        <p:sp>
          <p:nvSpPr>
            <p:cNvPr id="27" name="Freeform 31">
              <a:extLst>
                <a:ext uri="{FF2B5EF4-FFF2-40B4-BE49-F238E27FC236}">
                  <a16:creationId xmlns:a16="http://schemas.microsoft.com/office/drawing/2014/main" id="{2C14F808-CC69-494F-98AC-CB750416C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txBody>
            <a:bodyPr/>
            <a:lstStyle/>
            <a:p>
              <a:endParaRPr lang="en-US"/>
            </a:p>
          </p:txBody>
        </p:sp>
        <p:sp>
          <p:nvSpPr>
            <p:cNvPr id="16" name="Freeform 32">
              <a:extLst>
                <a:ext uri="{FF2B5EF4-FFF2-40B4-BE49-F238E27FC236}">
                  <a16:creationId xmlns:a16="http://schemas.microsoft.com/office/drawing/2014/main" id="{F1CA3607-84D0-4085-A363-796A17B1D7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txBody>
            <a:bodyPr/>
            <a:lstStyle/>
            <a:p>
              <a:endParaRPr lang="en-US"/>
            </a:p>
          </p:txBody>
        </p:sp>
        <p:sp>
          <p:nvSpPr>
            <p:cNvPr id="17" name="Freeform 33">
              <a:extLst>
                <a:ext uri="{FF2B5EF4-FFF2-40B4-BE49-F238E27FC236}">
                  <a16:creationId xmlns:a16="http://schemas.microsoft.com/office/drawing/2014/main" id="{491E6160-2958-4A90-8B50-EDA182AAB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txBody>
            <a:bodyPr/>
            <a:lstStyle/>
            <a:p>
              <a:endParaRPr lang="en-US"/>
            </a:p>
          </p:txBody>
        </p:sp>
        <p:sp>
          <p:nvSpPr>
            <p:cNvPr id="18" name="Freeform 34">
              <a:extLst>
                <a:ext uri="{FF2B5EF4-FFF2-40B4-BE49-F238E27FC236}">
                  <a16:creationId xmlns:a16="http://schemas.microsoft.com/office/drawing/2014/main" id="{559F6CB7-E057-499B-A859-3602769892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txBody>
            <a:bodyPr/>
            <a:lstStyle/>
            <a:p>
              <a:endParaRPr lang="en-US"/>
            </a:p>
          </p:txBody>
        </p:sp>
        <p:sp>
          <p:nvSpPr>
            <p:cNvPr id="19" name="Freeform 35">
              <a:extLst>
                <a:ext uri="{FF2B5EF4-FFF2-40B4-BE49-F238E27FC236}">
                  <a16:creationId xmlns:a16="http://schemas.microsoft.com/office/drawing/2014/main" id="{FF12353D-CF89-4D03-8075-C161824E2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txBody>
            <a:bodyPr/>
            <a:lstStyle/>
            <a:p>
              <a:endParaRPr lang="en-US"/>
            </a:p>
          </p:txBody>
        </p:sp>
        <p:sp>
          <p:nvSpPr>
            <p:cNvPr id="20" name="Freeform 36">
              <a:extLst>
                <a:ext uri="{FF2B5EF4-FFF2-40B4-BE49-F238E27FC236}">
                  <a16:creationId xmlns:a16="http://schemas.microsoft.com/office/drawing/2014/main" id="{5B91C9D6-FAF2-445B-AF1B-43992602A9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txBody>
            <a:bodyPr/>
            <a:lstStyle/>
            <a:p>
              <a:endParaRPr lang="en-US"/>
            </a:p>
          </p:txBody>
        </p:sp>
        <p:sp>
          <p:nvSpPr>
            <p:cNvPr id="21" name="Freeform 37">
              <a:extLst>
                <a:ext uri="{FF2B5EF4-FFF2-40B4-BE49-F238E27FC236}">
                  <a16:creationId xmlns:a16="http://schemas.microsoft.com/office/drawing/2014/main" id="{570F7A1D-86B1-4AD1-B4A3-9AE2A52C85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txBody>
            <a:bodyPr/>
            <a:lstStyle/>
            <a:p>
              <a:endParaRPr lang="en-US"/>
            </a:p>
          </p:txBody>
        </p:sp>
        <p:sp>
          <p:nvSpPr>
            <p:cNvPr id="22" name="Freeform 38">
              <a:extLst>
                <a:ext uri="{FF2B5EF4-FFF2-40B4-BE49-F238E27FC236}">
                  <a16:creationId xmlns:a16="http://schemas.microsoft.com/office/drawing/2014/main" id="{52C6EBA8-95CC-4FE6-A8E4-3A6911E8A4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txBody>
            <a:bodyPr/>
            <a:lstStyle/>
            <a:p>
              <a:endParaRPr lang="en-US"/>
            </a:p>
          </p:txBody>
        </p:sp>
      </p:grpSp>
      <p:sp>
        <p:nvSpPr>
          <p:cNvPr id="2" name="Title 1">
            <a:extLst>
              <a:ext uri="{FF2B5EF4-FFF2-40B4-BE49-F238E27FC236}">
                <a16:creationId xmlns:a16="http://schemas.microsoft.com/office/drawing/2014/main" id="{29044D77-2445-23AF-B418-F123B94DB463}"/>
              </a:ext>
            </a:extLst>
          </p:cNvPr>
          <p:cNvSpPr>
            <a:spLocks noGrp="1"/>
          </p:cNvSpPr>
          <p:nvPr>
            <p:ph type="title"/>
          </p:nvPr>
        </p:nvSpPr>
        <p:spPr>
          <a:xfrm>
            <a:off x="1217056" y="1093380"/>
            <a:ext cx="3068182" cy="4671240"/>
          </a:xfrm>
        </p:spPr>
        <p:txBody>
          <a:bodyPr anchor="ctr">
            <a:normAutofit/>
          </a:bodyPr>
          <a:lstStyle/>
          <a:p>
            <a:pPr algn="r"/>
            <a:r>
              <a:rPr lang="en-US"/>
              <a:t>Use cases</a:t>
            </a:r>
          </a:p>
        </p:txBody>
      </p:sp>
      <p:sp>
        <p:nvSpPr>
          <p:cNvPr id="24" name="Freeform 11">
            <a:extLst>
              <a:ext uri="{FF2B5EF4-FFF2-40B4-BE49-F238E27FC236}">
                <a16:creationId xmlns:a16="http://schemas.microsoft.com/office/drawing/2014/main" id="{15EDA122-4530-45D2-A70A-B1A967AAE5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179901"/>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n-US"/>
          </a:p>
        </p:txBody>
      </p:sp>
      <p:sp>
        <p:nvSpPr>
          <p:cNvPr id="26" name="Rectangle 25">
            <a:extLst>
              <a:ext uri="{FF2B5EF4-FFF2-40B4-BE49-F238E27FC236}">
                <a16:creationId xmlns:a16="http://schemas.microsoft.com/office/drawing/2014/main" id="{9782F52E-0F94-4BFC-9F89-B054DDEAB9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5736" y="0"/>
            <a:ext cx="7396264"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Content Placeholder 2">
            <a:extLst>
              <a:ext uri="{FF2B5EF4-FFF2-40B4-BE49-F238E27FC236}">
                <a16:creationId xmlns:a16="http://schemas.microsoft.com/office/drawing/2014/main" id="{C4BB3B5B-31D2-8EA0-F743-1E266617ABB1}"/>
              </a:ext>
            </a:extLst>
          </p:cNvPr>
          <p:cNvSpPr>
            <a:spLocks noGrp="1"/>
          </p:cNvSpPr>
          <p:nvPr>
            <p:ph idx="1"/>
          </p:nvPr>
        </p:nvSpPr>
        <p:spPr>
          <a:xfrm>
            <a:off x="5317286" y="681386"/>
            <a:ext cx="6219103" cy="5495228"/>
          </a:xfrm>
        </p:spPr>
        <p:txBody>
          <a:bodyPr anchor="ctr">
            <a:normAutofit fontScale="92500"/>
          </a:bodyPr>
          <a:lstStyle/>
          <a:p>
            <a:pPr fontAlgn="base">
              <a:buFont typeface="Arial" panose="020B0604020202020204" pitchFamily="34" charset="0"/>
              <a:buChar char="•"/>
            </a:pPr>
            <a:r>
              <a:rPr lang="en-CA" sz="2400" b="1" i="0" u="none" strike="noStrike" dirty="0">
                <a:solidFill>
                  <a:srgbClr val="FF0000"/>
                </a:solidFill>
                <a:effectLst/>
                <a:latin typeface="inherit"/>
              </a:rPr>
              <a:t>Finance:</a:t>
            </a:r>
            <a:r>
              <a:rPr lang="en-CA" sz="2400" b="0" i="0" u="none" strike="noStrike" dirty="0">
                <a:effectLst/>
                <a:latin typeface="inherit"/>
              </a:rPr>
              <a:t> It is a preferred algorithm over others as it reduces time spent on data management and pre-processing tasks. It can be used to evaluate customers with high credit risk, to detect fraud, and option pricing problems.</a:t>
            </a:r>
          </a:p>
          <a:p>
            <a:pPr fontAlgn="base">
              <a:buFont typeface="Arial" panose="020B0604020202020204" pitchFamily="34" charset="0"/>
              <a:buChar char="•"/>
            </a:pPr>
            <a:r>
              <a:rPr lang="en-CA" sz="2400" b="1" i="0" u="none" strike="noStrike" dirty="0">
                <a:solidFill>
                  <a:srgbClr val="FF0000"/>
                </a:solidFill>
                <a:effectLst/>
                <a:latin typeface="inherit"/>
              </a:rPr>
              <a:t>Healthcare:</a:t>
            </a:r>
            <a:r>
              <a:rPr lang="en-CA" sz="2400" b="0" i="0" u="none" strike="noStrike" dirty="0">
                <a:effectLst/>
                <a:latin typeface="inherit"/>
              </a:rPr>
              <a:t> The random forest algorithm has applications within </a:t>
            </a:r>
            <a:r>
              <a:rPr lang="en-CA" sz="2400" b="0" i="0" strike="noStrike" dirty="0">
                <a:effectLst/>
                <a:latin typeface="inherit"/>
                <a:hlinkClick r:id="rId2">
                  <a:extLst>
                    <a:ext uri="{A12FA001-AC4F-418D-AE19-62706E023703}">
                      <ahyp:hlinkClr xmlns:ahyp="http://schemas.microsoft.com/office/drawing/2018/hyperlinkcolor" val="tx"/>
                    </a:ext>
                  </a:extLst>
                </a:hlinkClick>
              </a:rPr>
              <a:t>computational biology</a:t>
            </a:r>
            <a:r>
              <a:rPr lang="en-CA" sz="2400" b="0" i="0" strike="noStrike" dirty="0">
                <a:effectLst/>
                <a:latin typeface="inherit"/>
              </a:rPr>
              <a:t> </a:t>
            </a:r>
            <a:r>
              <a:rPr lang="en-CA" sz="2400" b="0" i="0" u="none" strike="noStrike" dirty="0">
                <a:effectLst/>
                <a:latin typeface="inherit"/>
              </a:rPr>
              <a:t>allowing doctors to tackle problems such as gene expression classification, biomarker discovery, and sequence annotation. As a result, doctors can make estimates around drug responses to specific medications.</a:t>
            </a:r>
          </a:p>
          <a:p>
            <a:pPr fontAlgn="base">
              <a:buFont typeface="Arial" panose="020B0604020202020204" pitchFamily="34" charset="0"/>
              <a:buChar char="•"/>
            </a:pPr>
            <a:r>
              <a:rPr lang="en-CA" sz="2400" b="1" i="0" u="none" strike="noStrike" dirty="0">
                <a:solidFill>
                  <a:srgbClr val="FF0000"/>
                </a:solidFill>
                <a:effectLst/>
                <a:latin typeface="inherit"/>
              </a:rPr>
              <a:t>E-commerce:</a:t>
            </a:r>
            <a:r>
              <a:rPr lang="en-CA" sz="2400" b="0" i="0" u="none" strike="noStrike" dirty="0">
                <a:effectLst/>
                <a:latin typeface="inherit"/>
              </a:rPr>
              <a:t> It can be used for recommendation engines for cross-sell purposes.</a:t>
            </a:r>
          </a:p>
          <a:p>
            <a:endParaRPr lang="en-US" dirty="0"/>
          </a:p>
        </p:txBody>
      </p:sp>
    </p:spTree>
    <p:extLst>
      <p:ext uri="{BB962C8B-B14F-4D97-AF65-F5344CB8AC3E}">
        <p14:creationId xmlns:p14="http://schemas.microsoft.com/office/powerpoint/2010/main" val="2002133128"/>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7248E-4E17-0844-D8C9-4E4B86114870}"/>
              </a:ext>
            </a:extLst>
          </p:cNvPr>
          <p:cNvSpPr>
            <a:spLocks noGrp="1"/>
          </p:cNvSpPr>
          <p:nvPr>
            <p:ph type="title"/>
          </p:nvPr>
        </p:nvSpPr>
        <p:spPr>
          <a:xfrm>
            <a:off x="1717813" y="657123"/>
            <a:ext cx="2776531" cy="595208"/>
          </a:xfrm>
        </p:spPr>
        <p:txBody>
          <a:bodyPr>
            <a:normAutofit fontScale="90000"/>
          </a:bodyPr>
          <a:lstStyle/>
          <a:p>
            <a:pPr algn="ctr"/>
            <a:r>
              <a:rPr lang="en-US" dirty="0"/>
              <a:t>Algorithm</a:t>
            </a:r>
          </a:p>
        </p:txBody>
      </p:sp>
      <p:graphicFrame>
        <p:nvGraphicFramePr>
          <p:cNvPr id="5" name="Content Placeholder 2">
            <a:extLst>
              <a:ext uri="{FF2B5EF4-FFF2-40B4-BE49-F238E27FC236}">
                <a16:creationId xmlns:a16="http://schemas.microsoft.com/office/drawing/2014/main" id="{A3CFD002-ABC5-4D08-59B7-0CA5687C0A3A}"/>
              </a:ext>
            </a:extLst>
          </p:cNvPr>
          <p:cNvGraphicFramePr>
            <a:graphicFrameLocks noGrp="1"/>
          </p:cNvGraphicFramePr>
          <p:nvPr>
            <p:ph idx="1"/>
            <p:extLst>
              <p:ext uri="{D42A27DB-BD31-4B8C-83A1-F6EECF244321}">
                <p14:modId xmlns:p14="http://schemas.microsoft.com/office/powerpoint/2010/main" val="1538100063"/>
              </p:ext>
            </p:extLst>
          </p:nvPr>
        </p:nvGraphicFramePr>
        <p:xfrm>
          <a:off x="5881816" y="327991"/>
          <a:ext cx="5746967" cy="60330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descr="Text, letter&#10;&#10;Description automatically generated">
            <a:extLst>
              <a:ext uri="{FF2B5EF4-FFF2-40B4-BE49-F238E27FC236}">
                <a16:creationId xmlns:a16="http://schemas.microsoft.com/office/drawing/2014/main" id="{F5BBB871-F275-E0C9-1417-113252D9C325}"/>
              </a:ext>
            </a:extLst>
          </p:cNvPr>
          <p:cNvPicPr>
            <a:picLocks noChangeAspect="1"/>
          </p:cNvPicPr>
          <p:nvPr/>
        </p:nvPicPr>
        <p:blipFill>
          <a:blip r:embed="rId7"/>
          <a:stretch>
            <a:fillRect/>
          </a:stretch>
        </p:blipFill>
        <p:spPr>
          <a:xfrm>
            <a:off x="374135" y="1458097"/>
            <a:ext cx="5334687" cy="4399006"/>
          </a:xfrm>
          <a:prstGeom prst="rect">
            <a:avLst/>
          </a:prstGeom>
        </p:spPr>
      </p:pic>
    </p:spTree>
    <p:extLst>
      <p:ext uri="{BB962C8B-B14F-4D97-AF65-F5344CB8AC3E}">
        <p14:creationId xmlns:p14="http://schemas.microsoft.com/office/powerpoint/2010/main" val="1952389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7B5A23F-7276-435D-91DA-09104D7777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35481" cy="6858000"/>
          </a:xfrm>
          <a:prstGeom prst="rect">
            <a:avLst/>
          </a:prstGeom>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F3ECD7F-BF61-4CB1-AA15-464BB771E7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66F1B29-3A08-4DB7-9F92-4C09B3BCFF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8229600" cy="6858000"/>
          </a:xfrm>
          <a:prstGeom prst="rect">
            <a:avLst/>
          </a:prstGeom>
          <a:solidFill>
            <a:schemeClr val="bg2">
              <a:lumMod val="10000"/>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44A5AAD1-9616-4E1C-B3AC-E5497A6A3C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659027"/>
            <a:ext cx="9042690" cy="1035152"/>
          </a:xfrm>
          <a:custGeom>
            <a:avLst/>
            <a:gdLst>
              <a:gd name="T0" fmla="*/ 1900 w 1902"/>
              <a:gd name="T1" fmla="*/ 77 h 163"/>
              <a:gd name="T2" fmla="*/ 1826 w 1902"/>
              <a:gd name="T3" fmla="*/ 3 h 163"/>
              <a:gd name="T4" fmla="*/ 1825 w 1902"/>
              <a:gd name="T5" fmla="*/ 2 h 163"/>
              <a:gd name="T6" fmla="*/ 1819 w 1902"/>
              <a:gd name="T7" fmla="*/ 0 h 163"/>
              <a:gd name="T8" fmla="*/ 1363 w 1902"/>
              <a:gd name="T9" fmla="*/ 0 h 163"/>
              <a:gd name="T10" fmla="*/ 1348 w 1902"/>
              <a:gd name="T11" fmla="*/ 0 h 163"/>
              <a:gd name="T12" fmla="*/ 1225 w 1902"/>
              <a:gd name="T13" fmla="*/ 0 h 163"/>
              <a:gd name="T14" fmla="*/ 1033 w 1902"/>
              <a:gd name="T15" fmla="*/ 0 h 163"/>
              <a:gd name="T16" fmla="*/ 892 w 1902"/>
              <a:gd name="T17" fmla="*/ 0 h 163"/>
              <a:gd name="T18" fmla="*/ 786 w 1902"/>
              <a:gd name="T19" fmla="*/ 0 h 163"/>
              <a:gd name="T20" fmla="*/ 577 w 1902"/>
              <a:gd name="T21" fmla="*/ 0 h 163"/>
              <a:gd name="T22" fmla="*/ 562 w 1902"/>
              <a:gd name="T23" fmla="*/ 0 h 163"/>
              <a:gd name="T24" fmla="*/ 439 w 1902"/>
              <a:gd name="T25" fmla="*/ 0 h 163"/>
              <a:gd name="T26" fmla="*/ 106 w 1902"/>
              <a:gd name="T27" fmla="*/ 0 h 163"/>
              <a:gd name="T28" fmla="*/ 0 w 1902"/>
              <a:gd name="T29" fmla="*/ 0 h 163"/>
              <a:gd name="T30" fmla="*/ 0 w 1902"/>
              <a:gd name="T31" fmla="*/ 163 h 163"/>
              <a:gd name="T32" fmla="*/ 106 w 1902"/>
              <a:gd name="T33" fmla="*/ 163 h 163"/>
              <a:gd name="T34" fmla="*/ 439 w 1902"/>
              <a:gd name="T35" fmla="*/ 163 h 163"/>
              <a:gd name="T36" fmla="*/ 562 w 1902"/>
              <a:gd name="T37" fmla="*/ 163 h 163"/>
              <a:gd name="T38" fmla="*/ 577 w 1902"/>
              <a:gd name="T39" fmla="*/ 163 h 163"/>
              <a:gd name="T40" fmla="*/ 786 w 1902"/>
              <a:gd name="T41" fmla="*/ 163 h 163"/>
              <a:gd name="T42" fmla="*/ 892 w 1902"/>
              <a:gd name="T43" fmla="*/ 163 h 163"/>
              <a:gd name="T44" fmla="*/ 1033 w 1902"/>
              <a:gd name="T45" fmla="*/ 163 h 163"/>
              <a:gd name="T46" fmla="*/ 1225 w 1902"/>
              <a:gd name="T47" fmla="*/ 163 h 163"/>
              <a:gd name="T48" fmla="*/ 1348 w 1902"/>
              <a:gd name="T49" fmla="*/ 163 h 163"/>
              <a:gd name="T50" fmla="*/ 1363 w 1902"/>
              <a:gd name="T51" fmla="*/ 163 h 163"/>
              <a:gd name="T52" fmla="*/ 1819 w 1902"/>
              <a:gd name="T53" fmla="*/ 163 h 163"/>
              <a:gd name="T54" fmla="*/ 1825 w 1902"/>
              <a:gd name="T55" fmla="*/ 161 h 163"/>
              <a:gd name="T56" fmla="*/ 1826 w 1902"/>
              <a:gd name="T57" fmla="*/ 160 h 163"/>
              <a:gd name="T58" fmla="*/ 1900 w 1902"/>
              <a:gd name="T59" fmla="*/ 86 h 163"/>
              <a:gd name="T60" fmla="*/ 1900 w 1902"/>
              <a:gd name="T61" fmla="*/ 7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02" h="163">
                <a:moveTo>
                  <a:pt x="1900" y="77"/>
                </a:moveTo>
                <a:cubicBezTo>
                  <a:pt x="1826" y="3"/>
                  <a:pt x="1826" y="3"/>
                  <a:pt x="1826" y="3"/>
                </a:cubicBezTo>
                <a:cubicBezTo>
                  <a:pt x="1825" y="2"/>
                  <a:pt x="1825" y="2"/>
                  <a:pt x="1825" y="2"/>
                </a:cubicBezTo>
                <a:cubicBezTo>
                  <a:pt x="1823" y="1"/>
                  <a:pt x="1821" y="0"/>
                  <a:pt x="1819" y="0"/>
                </a:cubicBezTo>
                <a:cubicBezTo>
                  <a:pt x="1363" y="0"/>
                  <a:pt x="1363" y="0"/>
                  <a:pt x="1363" y="0"/>
                </a:cubicBezTo>
                <a:cubicBezTo>
                  <a:pt x="1348" y="0"/>
                  <a:pt x="1348" y="0"/>
                  <a:pt x="1348" y="0"/>
                </a:cubicBezTo>
                <a:cubicBezTo>
                  <a:pt x="1225" y="0"/>
                  <a:pt x="1225" y="0"/>
                  <a:pt x="1225" y="0"/>
                </a:cubicBezTo>
                <a:cubicBezTo>
                  <a:pt x="1033" y="0"/>
                  <a:pt x="1033" y="0"/>
                  <a:pt x="1033" y="0"/>
                </a:cubicBezTo>
                <a:cubicBezTo>
                  <a:pt x="892" y="0"/>
                  <a:pt x="892" y="0"/>
                  <a:pt x="892" y="0"/>
                </a:cubicBezTo>
                <a:cubicBezTo>
                  <a:pt x="786" y="0"/>
                  <a:pt x="786" y="0"/>
                  <a:pt x="786" y="0"/>
                </a:cubicBezTo>
                <a:cubicBezTo>
                  <a:pt x="577" y="0"/>
                  <a:pt x="577" y="0"/>
                  <a:pt x="577" y="0"/>
                </a:cubicBezTo>
                <a:cubicBezTo>
                  <a:pt x="562" y="0"/>
                  <a:pt x="562" y="0"/>
                  <a:pt x="562" y="0"/>
                </a:cubicBezTo>
                <a:cubicBezTo>
                  <a:pt x="439" y="0"/>
                  <a:pt x="439" y="0"/>
                  <a:pt x="439" y="0"/>
                </a:cubicBezTo>
                <a:cubicBezTo>
                  <a:pt x="106" y="0"/>
                  <a:pt x="106" y="0"/>
                  <a:pt x="106" y="0"/>
                </a:cubicBezTo>
                <a:cubicBezTo>
                  <a:pt x="0" y="0"/>
                  <a:pt x="0" y="0"/>
                  <a:pt x="0" y="0"/>
                </a:cubicBezTo>
                <a:cubicBezTo>
                  <a:pt x="0" y="163"/>
                  <a:pt x="0" y="163"/>
                  <a:pt x="0" y="163"/>
                </a:cubicBezTo>
                <a:cubicBezTo>
                  <a:pt x="106" y="163"/>
                  <a:pt x="106" y="163"/>
                  <a:pt x="106" y="163"/>
                </a:cubicBezTo>
                <a:cubicBezTo>
                  <a:pt x="439" y="163"/>
                  <a:pt x="439" y="163"/>
                  <a:pt x="439" y="163"/>
                </a:cubicBezTo>
                <a:cubicBezTo>
                  <a:pt x="562" y="163"/>
                  <a:pt x="562" y="163"/>
                  <a:pt x="562" y="163"/>
                </a:cubicBezTo>
                <a:cubicBezTo>
                  <a:pt x="577" y="163"/>
                  <a:pt x="577" y="163"/>
                  <a:pt x="577" y="163"/>
                </a:cubicBezTo>
                <a:cubicBezTo>
                  <a:pt x="786" y="163"/>
                  <a:pt x="786" y="163"/>
                  <a:pt x="786" y="163"/>
                </a:cubicBezTo>
                <a:cubicBezTo>
                  <a:pt x="892" y="163"/>
                  <a:pt x="892" y="163"/>
                  <a:pt x="892" y="163"/>
                </a:cubicBezTo>
                <a:cubicBezTo>
                  <a:pt x="1033" y="163"/>
                  <a:pt x="1033" y="163"/>
                  <a:pt x="1033" y="163"/>
                </a:cubicBezTo>
                <a:cubicBezTo>
                  <a:pt x="1225" y="163"/>
                  <a:pt x="1225" y="163"/>
                  <a:pt x="1225" y="163"/>
                </a:cubicBezTo>
                <a:cubicBezTo>
                  <a:pt x="1348" y="163"/>
                  <a:pt x="1348" y="163"/>
                  <a:pt x="1348" y="163"/>
                </a:cubicBezTo>
                <a:cubicBezTo>
                  <a:pt x="1363" y="163"/>
                  <a:pt x="1363" y="163"/>
                  <a:pt x="1363" y="163"/>
                </a:cubicBezTo>
                <a:cubicBezTo>
                  <a:pt x="1819" y="163"/>
                  <a:pt x="1819" y="163"/>
                  <a:pt x="1819" y="163"/>
                </a:cubicBezTo>
                <a:cubicBezTo>
                  <a:pt x="1821" y="163"/>
                  <a:pt x="1823" y="162"/>
                  <a:pt x="1825" y="161"/>
                </a:cubicBezTo>
                <a:cubicBezTo>
                  <a:pt x="1825" y="160"/>
                  <a:pt x="1825" y="160"/>
                  <a:pt x="1826" y="160"/>
                </a:cubicBezTo>
                <a:cubicBezTo>
                  <a:pt x="1900" y="86"/>
                  <a:pt x="1900" y="86"/>
                  <a:pt x="1900" y="86"/>
                </a:cubicBezTo>
                <a:cubicBezTo>
                  <a:pt x="1902" y="83"/>
                  <a:pt x="1902" y="79"/>
                  <a:pt x="1900" y="7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36971C5F-EABC-1B17-CD6A-578A04A33D86}"/>
              </a:ext>
            </a:extLst>
          </p:cNvPr>
          <p:cNvSpPr>
            <a:spLocks noGrp="1"/>
          </p:cNvSpPr>
          <p:nvPr>
            <p:ph type="title"/>
          </p:nvPr>
        </p:nvSpPr>
        <p:spPr>
          <a:xfrm>
            <a:off x="541867" y="787400"/>
            <a:ext cx="7145866" cy="778933"/>
          </a:xfrm>
        </p:spPr>
        <p:txBody>
          <a:bodyPr anchor="ctr">
            <a:normAutofit/>
          </a:bodyPr>
          <a:lstStyle/>
          <a:p>
            <a:r>
              <a:rPr lang="en-CA" sz="3200">
                <a:solidFill>
                  <a:srgbClr val="FEFFFF"/>
                </a:solidFill>
                <a:latin typeface="Helvetica Neue" panose="02000503000000020004" pitchFamily="2" charset="0"/>
              </a:rPr>
              <a:t>S</a:t>
            </a:r>
            <a:r>
              <a:rPr lang="en-CA" sz="3200" b="0" u="none" strike="noStrike">
                <a:solidFill>
                  <a:srgbClr val="FEFFFF"/>
                </a:solidFill>
                <a:effectLst/>
                <a:latin typeface="Helvetica Neue" panose="02000503000000020004" pitchFamily="2" charset="0"/>
              </a:rPr>
              <a:t>plit-variable randomization</a:t>
            </a:r>
            <a:endParaRPr lang="en-US" sz="3200">
              <a:solidFill>
                <a:srgbClr val="FEFFFF"/>
              </a:solidFill>
            </a:endParaRPr>
          </a:p>
        </p:txBody>
      </p:sp>
      <p:sp>
        <p:nvSpPr>
          <p:cNvPr id="3" name="Content Placeholder 2">
            <a:extLst>
              <a:ext uri="{FF2B5EF4-FFF2-40B4-BE49-F238E27FC236}">
                <a16:creationId xmlns:a16="http://schemas.microsoft.com/office/drawing/2014/main" id="{39FAC3E9-F683-45FC-B94B-509D444E0E66}"/>
              </a:ext>
            </a:extLst>
          </p:cNvPr>
          <p:cNvSpPr>
            <a:spLocks noGrp="1"/>
          </p:cNvSpPr>
          <p:nvPr>
            <p:ph idx="1"/>
          </p:nvPr>
        </p:nvSpPr>
        <p:spPr>
          <a:xfrm>
            <a:off x="541866" y="2032000"/>
            <a:ext cx="7145867" cy="3879222"/>
          </a:xfrm>
        </p:spPr>
        <p:txBody>
          <a:bodyPr>
            <a:normAutofit/>
          </a:bodyPr>
          <a:lstStyle/>
          <a:p>
            <a:r>
              <a:rPr lang="en-CA" b="0" i="0" u="none" strike="noStrike">
                <a:solidFill>
                  <a:srgbClr val="FEFFFF"/>
                </a:solidFill>
                <a:effectLst/>
                <a:latin typeface="Helvetica Neue" panose="02000503000000020004" pitchFamily="2" charset="0"/>
              </a:rPr>
              <a:t>During the bagging process, random forests perform </a:t>
            </a:r>
            <a:r>
              <a:rPr lang="en-CA" b="0" i="1" u="none" strike="noStrike">
                <a:solidFill>
                  <a:srgbClr val="FEFFFF"/>
                </a:solidFill>
                <a:effectLst/>
                <a:latin typeface="Helvetica Neue" panose="02000503000000020004" pitchFamily="2" charset="0"/>
              </a:rPr>
              <a:t>split-variable randomization</a:t>
            </a:r>
            <a:r>
              <a:rPr lang="en-CA" b="0" i="0" u="none" strike="noStrike">
                <a:solidFill>
                  <a:srgbClr val="FEFFFF"/>
                </a:solidFill>
                <a:effectLst/>
                <a:latin typeface="Helvetica Neue" panose="02000503000000020004" pitchFamily="2" charset="0"/>
              </a:rPr>
              <a:t> where each time a split is to be performed, the search for the split variable is limited to a random subset of </a:t>
            </a:r>
            <a:r>
              <a:rPr lang="en-CA" b="0" i="1" u="none" strike="noStrike">
                <a:solidFill>
                  <a:srgbClr val="FEFFFF"/>
                </a:solidFill>
                <a:effectLst/>
                <a:latin typeface="Helvetica Neue" panose="02000503000000020004" pitchFamily="2" charset="0"/>
              </a:rPr>
              <a:t>p</a:t>
            </a:r>
            <a:r>
              <a:rPr lang="en-CA" b="0" i="0" u="none" strike="noStrike">
                <a:solidFill>
                  <a:srgbClr val="FEFFFF"/>
                </a:solidFill>
                <a:effectLst/>
                <a:latin typeface="Helvetica Neue" panose="02000503000000020004" pitchFamily="2" charset="0"/>
              </a:rPr>
              <a:t> features</a:t>
            </a:r>
          </a:p>
          <a:p>
            <a:r>
              <a:rPr lang="en-CA">
                <a:solidFill>
                  <a:srgbClr val="FEFFFF"/>
                </a:solidFill>
                <a:latin typeface="Helvetica Neue" panose="02000503000000020004" pitchFamily="2" charset="0"/>
              </a:rPr>
              <a:t>p/3 is for regressions and sqrt(p) is for classification</a:t>
            </a:r>
          </a:p>
          <a:p>
            <a:r>
              <a:rPr lang="en-CA" b="0" i="0" u="none" strike="noStrike">
                <a:solidFill>
                  <a:srgbClr val="FEFFFF"/>
                </a:solidFill>
                <a:effectLst/>
                <a:latin typeface="Helvetica Neue" panose="02000503000000020004" pitchFamily="2" charset="0"/>
              </a:rPr>
              <a:t>When </a:t>
            </a:r>
            <a:r>
              <a:rPr lang="en-CA" b="0" i="0" u="none" strike="noStrike">
                <a:solidFill>
                  <a:srgbClr val="FEFFFF"/>
                </a:solidFill>
                <a:effectLst/>
                <a:latin typeface="Consolas" panose="020B0609020204030204" pitchFamily="49" charset="0"/>
                <a:cs typeface="Consolas" panose="020B0609020204030204" pitchFamily="49" charset="0"/>
              </a:rPr>
              <a:t>mtry</a:t>
            </a:r>
            <a:r>
              <a:rPr lang="en-CA" b="0" i="0" u="none" strike="noStrike">
                <a:solidFill>
                  <a:srgbClr val="FEFFFF"/>
                </a:solidFill>
                <a:effectLst/>
                <a:latin typeface="Helvetica Neue" panose="02000503000000020004" pitchFamily="2" charset="0"/>
              </a:rPr>
              <a:t> = p, it becomes bagging</a:t>
            </a:r>
          </a:p>
          <a:p>
            <a:r>
              <a:rPr lang="en-CA" b="0" i="0" u="none" strike="noStrike">
                <a:solidFill>
                  <a:srgbClr val="FEFFFF"/>
                </a:solidFill>
                <a:effectLst/>
                <a:latin typeface="Helvetica Neue" panose="02000503000000020004" pitchFamily="2" charset="0"/>
              </a:rPr>
              <a:t>Since the algorithm randomly selects a bootstrap sample to train on </a:t>
            </a:r>
            <a:r>
              <a:rPr lang="en-CA" b="1" i="1" u="none" strike="noStrike">
                <a:solidFill>
                  <a:srgbClr val="FEFFFF"/>
                </a:solidFill>
                <a:effectLst/>
                <a:latin typeface="Helvetica Neue" panose="02000503000000020004" pitchFamily="2" charset="0"/>
              </a:rPr>
              <a:t>and</a:t>
            </a:r>
            <a:r>
              <a:rPr lang="en-CA" b="0" i="0" u="none" strike="noStrike">
                <a:solidFill>
                  <a:srgbClr val="FEFFFF"/>
                </a:solidFill>
                <a:effectLst/>
                <a:latin typeface="Helvetica Neue" panose="02000503000000020004" pitchFamily="2" charset="0"/>
              </a:rPr>
              <a:t> a random sample of features to use at each split, a more diverse set of trees is produced which tends to lessen tree correlation beyond bagged trees and often dramatically increase predictive power.</a:t>
            </a:r>
          </a:p>
          <a:p>
            <a:endParaRPr lang="en-US">
              <a:solidFill>
                <a:srgbClr val="FEFFFF"/>
              </a:solidFill>
            </a:endParaRPr>
          </a:p>
        </p:txBody>
      </p:sp>
      <p:pic>
        <p:nvPicPr>
          <p:cNvPr id="7" name="Graphic 6" descr="Shopping bag">
            <a:extLst>
              <a:ext uri="{FF2B5EF4-FFF2-40B4-BE49-F238E27FC236}">
                <a16:creationId xmlns:a16="http://schemas.microsoft.com/office/drawing/2014/main" id="{5D9F3504-70BB-F6E3-1287-83296805995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13057" y="2462282"/>
            <a:ext cx="3001931" cy="3001931"/>
          </a:xfrm>
          <a:prstGeom prst="rect">
            <a:avLst/>
          </a:prstGeom>
        </p:spPr>
      </p:pic>
    </p:spTree>
    <p:extLst>
      <p:ext uri="{BB962C8B-B14F-4D97-AF65-F5344CB8AC3E}">
        <p14:creationId xmlns:p14="http://schemas.microsoft.com/office/powerpoint/2010/main" val="3866445298"/>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7E42047-F7E7-4687-BBE0-D4BDC8E77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 y="-1"/>
            <a:ext cx="1220724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1" name="Group 10">
            <a:extLst>
              <a:ext uri="{FF2B5EF4-FFF2-40B4-BE49-F238E27FC236}">
                <a16:creationId xmlns:a16="http://schemas.microsoft.com/office/drawing/2014/main" id="{8D6F839A-C8D9-4FBC-8EFD-9E56D12F4C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906785" y="228600"/>
            <a:ext cx="2851523" cy="6638625"/>
            <a:chOff x="2487613" y="285750"/>
            <a:chExt cx="2428875" cy="5654676"/>
          </a:xfrm>
        </p:grpSpPr>
        <p:sp>
          <p:nvSpPr>
            <p:cNvPr id="12" name="Freeform 11">
              <a:extLst>
                <a:ext uri="{FF2B5EF4-FFF2-40B4-BE49-F238E27FC236}">
                  <a16:creationId xmlns:a16="http://schemas.microsoft.com/office/drawing/2014/main" id="{D1F0D09B-BA85-41B1-A8DE-73728B72E5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3" name="Freeform 12">
              <a:extLst>
                <a:ext uri="{FF2B5EF4-FFF2-40B4-BE49-F238E27FC236}">
                  <a16:creationId xmlns:a16="http://schemas.microsoft.com/office/drawing/2014/main" id="{FB2D0F0C-3A27-4FC3-A6A3-D2095D9B2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4" name="Freeform 13">
              <a:extLst>
                <a:ext uri="{FF2B5EF4-FFF2-40B4-BE49-F238E27FC236}">
                  <a16:creationId xmlns:a16="http://schemas.microsoft.com/office/drawing/2014/main" id="{FA1C69EF-E6E6-4BDD-B62F-637FC9F3C3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5" name="Freeform 14">
              <a:extLst>
                <a:ext uri="{FF2B5EF4-FFF2-40B4-BE49-F238E27FC236}">
                  <a16:creationId xmlns:a16="http://schemas.microsoft.com/office/drawing/2014/main" id="{75B4F36E-07F6-4E6F-A9D9-A7F6D9585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6" name="Freeform 15">
              <a:extLst>
                <a:ext uri="{FF2B5EF4-FFF2-40B4-BE49-F238E27FC236}">
                  <a16:creationId xmlns:a16="http://schemas.microsoft.com/office/drawing/2014/main" id="{7D9136C7-12F1-4F21-A438-ED7668DDF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7" name="Freeform 16">
              <a:extLst>
                <a:ext uri="{FF2B5EF4-FFF2-40B4-BE49-F238E27FC236}">
                  <a16:creationId xmlns:a16="http://schemas.microsoft.com/office/drawing/2014/main" id="{C718EF12-B769-45D9-9B6E-7AEAA3108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8" name="Freeform 17">
              <a:extLst>
                <a:ext uri="{FF2B5EF4-FFF2-40B4-BE49-F238E27FC236}">
                  <a16:creationId xmlns:a16="http://schemas.microsoft.com/office/drawing/2014/main" id="{534EAD53-3968-459E-B27C-09126A0FE3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19" name="Freeform 18">
              <a:extLst>
                <a:ext uri="{FF2B5EF4-FFF2-40B4-BE49-F238E27FC236}">
                  <a16:creationId xmlns:a16="http://schemas.microsoft.com/office/drawing/2014/main" id="{67658BFE-59E2-4A2D-9E8A-18F81C350B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20" name="Freeform 19">
              <a:extLst>
                <a:ext uri="{FF2B5EF4-FFF2-40B4-BE49-F238E27FC236}">
                  <a16:creationId xmlns:a16="http://schemas.microsoft.com/office/drawing/2014/main" id="{3FEC8A9E-385D-4407-9671-E30238022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21" name="Freeform 20">
              <a:extLst>
                <a:ext uri="{FF2B5EF4-FFF2-40B4-BE49-F238E27FC236}">
                  <a16:creationId xmlns:a16="http://schemas.microsoft.com/office/drawing/2014/main" id="{EFC82234-632C-4B76-A8FF-2C9C0DCA68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22" name="Freeform 21">
              <a:extLst>
                <a:ext uri="{FF2B5EF4-FFF2-40B4-BE49-F238E27FC236}">
                  <a16:creationId xmlns:a16="http://schemas.microsoft.com/office/drawing/2014/main" id="{662A4DB3-C195-4230-953D-307E4100F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23" name="Freeform 22">
              <a:extLst>
                <a:ext uri="{FF2B5EF4-FFF2-40B4-BE49-F238E27FC236}">
                  <a16:creationId xmlns:a16="http://schemas.microsoft.com/office/drawing/2014/main" id="{94D310CF-9541-4CD7-855B-E2E1EF3437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25" name="Group 24">
            <a:extLst>
              <a:ext uri="{FF2B5EF4-FFF2-40B4-BE49-F238E27FC236}">
                <a16:creationId xmlns:a16="http://schemas.microsoft.com/office/drawing/2014/main" id="{70EDA856-A216-4EEC-9AB6-A59FFC70361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47733" y="-786"/>
            <a:ext cx="2356675" cy="6854040"/>
            <a:chOff x="6627813" y="194833"/>
            <a:chExt cx="1952625" cy="5678918"/>
          </a:xfrm>
        </p:grpSpPr>
        <p:sp>
          <p:nvSpPr>
            <p:cNvPr id="26" name="Freeform 27">
              <a:extLst>
                <a:ext uri="{FF2B5EF4-FFF2-40B4-BE49-F238E27FC236}">
                  <a16:creationId xmlns:a16="http://schemas.microsoft.com/office/drawing/2014/main" id="{36F815B8-AFA8-45E9-A3D1-977F2D1921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27" name="Freeform 28">
              <a:extLst>
                <a:ext uri="{FF2B5EF4-FFF2-40B4-BE49-F238E27FC236}">
                  <a16:creationId xmlns:a16="http://schemas.microsoft.com/office/drawing/2014/main" id="{5D8FF653-8B3F-4B96-904D-1A4482EAEE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28" name="Freeform 29">
              <a:extLst>
                <a:ext uri="{FF2B5EF4-FFF2-40B4-BE49-F238E27FC236}">
                  <a16:creationId xmlns:a16="http://schemas.microsoft.com/office/drawing/2014/main" id="{4DD2E775-AB45-4AF1-B5B7-54948CFB9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29" name="Freeform 30">
              <a:extLst>
                <a:ext uri="{FF2B5EF4-FFF2-40B4-BE49-F238E27FC236}">
                  <a16:creationId xmlns:a16="http://schemas.microsoft.com/office/drawing/2014/main" id="{7BDE7E7B-E3AA-4A24-8F9D-CE77C96CA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30" name="Freeform 31">
              <a:extLst>
                <a:ext uri="{FF2B5EF4-FFF2-40B4-BE49-F238E27FC236}">
                  <a16:creationId xmlns:a16="http://schemas.microsoft.com/office/drawing/2014/main" id="{D129CAA9-35E5-48CE-88AE-9806695CB8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31" name="Freeform 32">
              <a:extLst>
                <a:ext uri="{FF2B5EF4-FFF2-40B4-BE49-F238E27FC236}">
                  <a16:creationId xmlns:a16="http://schemas.microsoft.com/office/drawing/2014/main" id="{A73989FF-4EFF-4181-81A4-72EF2E67D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32" name="Freeform 33">
              <a:extLst>
                <a:ext uri="{FF2B5EF4-FFF2-40B4-BE49-F238E27FC236}">
                  <a16:creationId xmlns:a16="http://schemas.microsoft.com/office/drawing/2014/main" id="{8C2C17BD-8FA0-4F42-B2CD-5E5A9F542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33" name="Freeform 34">
              <a:extLst>
                <a:ext uri="{FF2B5EF4-FFF2-40B4-BE49-F238E27FC236}">
                  <a16:creationId xmlns:a16="http://schemas.microsoft.com/office/drawing/2014/main" id="{EEE99CF3-AD71-46FB-8E7D-67825F7816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34" name="Freeform 35">
              <a:extLst>
                <a:ext uri="{FF2B5EF4-FFF2-40B4-BE49-F238E27FC236}">
                  <a16:creationId xmlns:a16="http://schemas.microsoft.com/office/drawing/2014/main" id="{D0F9D5ED-7591-4E88-9FDA-4C1DC47E9D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35" name="Freeform 36">
              <a:extLst>
                <a:ext uri="{FF2B5EF4-FFF2-40B4-BE49-F238E27FC236}">
                  <a16:creationId xmlns:a16="http://schemas.microsoft.com/office/drawing/2014/main" id="{88FA7C13-D80D-4514-B9DB-87AE076AC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36" name="Freeform 37">
              <a:extLst>
                <a:ext uri="{FF2B5EF4-FFF2-40B4-BE49-F238E27FC236}">
                  <a16:creationId xmlns:a16="http://schemas.microsoft.com/office/drawing/2014/main" id="{202C78DF-D842-450B-A87D-E035719E4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37" name="Freeform 38">
              <a:extLst>
                <a:ext uri="{FF2B5EF4-FFF2-40B4-BE49-F238E27FC236}">
                  <a16:creationId xmlns:a16="http://schemas.microsoft.com/office/drawing/2014/main" id="{A4789F83-2423-47F8-8958-48E477BAE0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2" name="Title 1">
            <a:extLst>
              <a:ext uri="{FF2B5EF4-FFF2-40B4-BE49-F238E27FC236}">
                <a16:creationId xmlns:a16="http://schemas.microsoft.com/office/drawing/2014/main" id="{0960FF4F-2B54-C8F6-84EE-366DCFF4B418}"/>
              </a:ext>
            </a:extLst>
          </p:cNvPr>
          <p:cNvSpPr>
            <a:spLocks noGrp="1"/>
          </p:cNvSpPr>
          <p:nvPr>
            <p:ph type="title"/>
          </p:nvPr>
        </p:nvSpPr>
        <p:spPr>
          <a:xfrm>
            <a:off x="4659520" y="624110"/>
            <a:ext cx="6845092" cy="1280890"/>
          </a:xfrm>
        </p:spPr>
        <p:txBody>
          <a:bodyPr>
            <a:normAutofit/>
          </a:bodyPr>
          <a:lstStyle/>
          <a:p>
            <a:r>
              <a:rPr lang="en-US" b="1" dirty="0"/>
              <a:t>Tuning and Hyperparameters</a:t>
            </a:r>
          </a:p>
        </p:txBody>
      </p:sp>
      <p:sp>
        <p:nvSpPr>
          <p:cNvPr id="39" name="Rectangle 38">
            <a:extLst>
              <a:ext uri="{FF2B5EF4-FFF2-40B4-BE49-F238E27FC236}">
                <a16:creationId xmlns:a16="http://schemas.microsoft.com/office/drawing/2014/main" id="{2C509E7A-337A-4664-BEC2-03F9BCA0A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1632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 name="Freeform 11">
            <a:extLst>
              <a:ext uri="{FF2B5EF4-FFF2-40B4-BE49-F238E27FC236}">
                <a16:creationId xmlns:a16="http://schemas.microsoft.com/office/drawing/2014/main" id="{D9AB99AB-E300-4B19-97C3-9A12EA3C7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2716320"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pic>
        <p:nvPicPr>
          <p:cNvPr id="5" name="Picture 4" descr="Vibrant green forest">
            <a:extLst>
              <a:ext uri="{FF2B5EF4-FFF2-40B4-BE49-F238E27FC236}">
                <a16:creationId xmlns:a16="http://schemas.microsoft.com/office/drawing/2014/main" id="{69A32964-ACE2-5F7C-D73F-755A50D687ED}"/>
              </a:ext>
            </a:extLst>
          </p:cNvPr>
          <p:cNvPicPr>
            <a:picLocks noChangeAspect="1"/>
          </p:cNvPicPr>
          <p:nvPr/>
        </p:nvPicPr>
        <p:blipFill>
          <a:blip r:embed="rId2"/>
          <a:srcRect l="34259" r="39261" b="-2"/>
          <a:stretch/>
        </p:blipFill>
        <p:spPr>
          <a:xfrm>
            <a:off x="20" y="1730"/>
            <a:ext cx="2720524" cy="6858000"/>
          </a:xfrm>
          <a:prstGeom prst="rect">
            <a:avLst/>
          </a:prstGeom>
        </p:spPr>
      </p:pic>
      <p:sp>
        <p:nvSpPr>
          <p:cNvPr id="3" name="Content Placeholder 2">
            <a:extLst>
              <a:ext uri="{FF2B5EF4-FFF2-40B4-BE49-F238E27FC236}">
                <a16:creationId xmlns:a16="http://schemas.microsoft.com/office/drawing/2014/main" id="{2B614DC9-C383-CCA3-49E0-28186F152ABA}"/>
              </a:ext>
            </a:extLst>
          </p:cNvPr>
          <p:cNvSpPr>
            <a:spLocks noGrp="1"/>
          </p:cNvSpPr>
          <p:nvPr>
            <p:ph idx="1"/>
          </p:nvPr>
        </p:nvSpPr>
        <p:spPr>
          <a:xfrm>
            <a:off x="4184010" y="1410942"/>
            <a:ext cx="7579622" cy="4911580"/>
          </a:xfrm>
        </p:spPr>
        <p:txBody>
          <a:bodyPr>
            <a:normAutofit fontScale="92500" lnSpcReduction="10000"/>
          </a:bodyPr>
          <a:lstStyle/>
          <a:p>
            <a:r>
              <a:rPr lang="en-CA" sz="2400" b="0" i="0" u="none" strike="noStrike" dirty="0">
                <a:effectLst/>
                <a:latin typeface="Helvetica Neue" panose="02000503000000020004" pitchFamily="2" charset="0"/>
              </a:rPr>
              <a:t>Random forests have become popular because they tend to provide very good out-of-the-box performance. Although they have several hyperparameters that can be tuned, the default values tend to produce good results.</a:t>
            </a:r>
          </a:p>
          <a:p>
            <a:r>
              <a:rPr lang="en-CA" sz="2400" dirty="0">
                <a:latin typeface="Helvetica Neue" panose="02000503000000020004" pitchFamily="2" charset="0"/>
              </a:rPr>
              <a:t>T</a:t>
            </a:r>
            <a:r>
              <a:rPr lang="en-CA" sz="2400" b="0" i="0" u="none" strike="noStrike" dirty="0">
                <a:effectLst/>
                <a:latin typeface="Helvetica Neue" panose="02000503000000020004" pitchFamily="2" charset="0"/>
              </a:rPr>
              <a:t>here is no need for cross-validation or a separate test set to obtain an unbiased estimate of the prediction error. It is estimated internally as each tree is constructed using a different bootstrap sample from the original data.</a:t>
            </a:r>
          </a:p>
          <a:p>
            <a:r>
              <a:rPr lang="en-CA" sz="2400" b="0" i="0" u="none" strike="noStrike" dirty="0">
                <a:effectLst/>
                <a:latin typeface="Helvetica Neue" panose="02000503000000020004" pitchFamily="2" charset="0"/>
              </a:rPr>
              <a:t>Although random forest models should not overfit when increasing the number of trees (</a:t>
            </a:r>
            <a:r>
              <a:rPr lang="en-CA" sz="2400" dirty="0" err="1"/>
              <a:t>ntree</a:t>
            </a:r>
            <a:r>
              <a:rPr lang="en-CA" sz="2400" b="0" i="0" u="none" strike="noStrike" dirty="0">
                <a:effectLst/>
                <a:latin typeface="Helvetica Neue" panose="02000503000000020004" pitchFamily="2" charset="0"/>
              </a:rPr>
              <a:t>) in the forest, in practice </a:t>
            </a:r>
            <a:r>
              <a:rPr lang="en-CA" sz="2400" dirty="0" err="1"/>
              <a:t>maxnodes</a:t>
            </a:r>
            <a:r>
              <a:rPr lang="en-CA" sz="2400" b="0" i="0" u="none" strike="noStrike" dirty="0">
                <a:effectLst/>
                <a:latin typeface="Helvetica Neue" panose="02000503000000020004" pitchFamily="2" charset="0"/>
              </a:rPr>
              <a:t> and </a:t>
            </a:r>
            <a:r>
              <a:rPr lang="en-CA" sz="2400" dirty="0" err="1"/>
              <a:t>mtry</a:t>
            </a:r>
            <a:r>
              <a:rPr lang="en-CA" sz="2400" b="0" i="0" u="none" strike="noStrike" dirty="0">
                <a:effectLst/>
                <a:latin typeface="Helvetica Neue" panose="02000503000000020004" pitchFamily="2" charset="0"/>
              </a:rPr>
              <a:t> are used as hyperparameters in the field.</a:t>
            </a:r>
            <a:endParaRPr lang="en-US" sz="2400" dirty="0"/>
          </a:p>
        </p:txBody>
      </p:sp>
    </p:spTree>
    <p:extLst>
      <p:ext uri="{BB962C8B-B14F-4D97-AF65-F5344CB8AC3E}">
        <p14:creationId xmlns:p14="http://schemas.microsoft.com/office/powerpoint/2010/main" val="2983283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3D9AEEE-1CCD-43C0-BA3E-16D60A6E2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907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1B1A41-2039-82CF-8701-C317937831B8}"/>
              </a:ext>
            </a:extLst>
          </p:cNvPr>
          <p:cNvSpPr>
            <a:spLocks noGrp="1"/>
          </p:cNvSpPr>
          <p:nvPr>
            <p:ph type="title"/>
          </p:nvPr>
        </p:nvSpPr>
        <p:spPr>
          <a:xfrm>
            <a:off x="976184" y="3101093"/>
            <a:ext cx="2737761" cy="3029344"/>
          </a:xfrm>
        </p:spPr>
        <p:txBody>
          <a:bodyPr>
            <a:normAutofit/>
          </a:bodyPr>
          <a:lstStyle/>
          <a:p>
            <a:r>
              <a:rPr lang="en-US" sz="3200" dirty="0">
                <a:solidFill>
                  <a:schemeClr val="bg1"/>
                </a:solidFill>
              </a:rPr>
              <a:t>Two training methods – 1: </a:t>
            </a:r>
            <a:r>
              <a:rPr lang="en-US" sz="3200" b="1" dirty="0">
                <a:solidFill>
                  <a:srgbClr val="FF0000"/>
                </a:solidFill>
              </a:rPr>
              <a:t>Using OOB errors</a:t>
            </a:r>
          </a:p>
        </p:txBody>
      </p:sp>
      <p:sp>
        <p:nvSpPr>
          <p:cNvPr id="11" name="Freeform 11">
            <a:extLst>
              <a:ext uri="{FF2B5EF4-FFF2-40B4-BE49-F238E27FC236}">
                <a16:creationId xmlns:a16="http://schemas.microsoft.com/office/drawing/2014/main" id="{60F880A6-33D3-4EEC-A780-B73559B9F2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179901"/>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n-US"/>
          </a:p>
        </p:txBody>
      </p:sp>
      <p:sp useBgFill="1">
        <p:nvSpPr>
          <p:cNvPr id="13" name="Rectangle 12">
            <a:extLst>
              <a:ext uri="{FF2B5EF4-FFF2-40B4-BE49-F238E27FC236}">
                <a16:creationId xmlns:a16="http://schemas.microsoft.com/office/drawing/2014/main" id="{2C6246ED-0535-4496-A8F6-1E80CC4E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5736" y="0"/>
            <a:ext cx="739626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55DF12D5-E9FA-A020-19E6-052272A19C8A}"/>
              </a:ext>
            </a:extLst>
          </p:cNvPr>
          <p:cNvGraphicFramePr>
            <a:graphicFrameLocks noGrp="1"/>
          </p:cNvGraphicFramePr>
          <p:nvPr>
            <p:ph idx="1"/>
            <p:extLst>
              <p:ext uri="{D42A27DB-BD31-4B8C-83A1-F6EECF244321}">
                <p14:modId xmlns:p14="http://schemas.microsoft.com/office/powerpoint/2010/main" val="4156196394"/>
              </p:ext>
            </p:extLst>
          </p:nvPr>
        </p:nvGraphicFramePr>
        <p:xfrm>
          <a:off x="4713144" y="641551"/>
          <a:ext cx="6832212" cy="52647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3016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F3B02-94E2-D58B-D956-6AC91B301597}"/>
              </a:ext>
            </a:extLst>
          </p:cNvPr>
          <p:cNvSpPr>
            <a:spLocks noGrp="1"/>
          </p:cNvSpPr>
          <p:nvPr>
            <p:ph type="title"/>
          </p:nvPr>
        </p:nvSpPr>
        <p:spPr>
          <a:xfrm>
            <a:off x="2592925" y="624110"/>
            <a:ext cx="8911687" cy="735133"/>
          </a:xfrm>
        </p:spPr>
        <p:txBody>
          <a:bodyPr/>
          <a:lstStyle/>
          <a:p>
            <a:r>
              <a:rPr lang="en-US" dirty="0"/>
              <a:t>Using OOB errors - Regression</a:t>
            </a:r>
          </a:p>
        </p:txBody>
      </p:sp>
      <p:pic>
        <p:nvPicPr>
          <p:cNvPr id="1026" name="Picture 2">
            <a:extLst>
              <a:ext uri="{FF2B5EF4-FFF2-40B4-BE49-F238E27FC236}">
                <a16:creationId xmlns:a16="http://schemas.microsoft.com/office/drawing/2014/main" id="{56F0BF57-BB77-64C4-7EAB-0A68A2C9D9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493" y="1359243"/>
            <a:ext cx="6718300" cy="2286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Text&#10;&#10;Description automatically generated">
            <a:extLst>
              <a:ext uri="{FF2B5EF4-FFF2-40B4-BE49-F238E27FC236}">
                <a16:creationId xmlns:a16="http://schemas.microsoft.com/office/drawing/2014/main" id="{E171A76F-9519-B856-8FF3-572830A14C6D}"/>
              </a:ext>
            </a:extLst>
          </p:cNvPr>
          <p:cNvPicPr>
            <a:picLocks noChangeAspect="1"/>
          </p:cNvPicPr>
          <p:nvPr/>
        </p:nvPicPr>
        <p:blipFill>
          <a:blip r:embed="rId3"/>
          <a:stretch>
            <a:fillRect/>
          </a:stretch>
        </p:blipFill>
        <p:spPr>
          <a:xfrm>
            <a:off x="430493" y="3885857"/>
            <a:ext cx="2971800" cy="1612900"/>
          </a:xfrm>
          <a:prstGeom prst="rect">
            <a:avLst/>
          </a:prstGeom>
        </p:spPr>
      </p:pic>
      <p:pic>
        <p:nvPicPr>
          <p:cNvPr id="9" name="Picture 8" descr="Chart&#10;&#10;Description automatically generated">
            <a:extLst>
              <a:ext uri="{FF2B5EF4-FFF2-40B4-BE49-F238E27FC236}">
                <a16:creationId xmlns:a16="http://schemas.microsoft.com/office/drawing/2014/main" id="{B6C40D0E-1C17-4CB2-17B3-E0B1B6B2596E}"/>
              </a:ext>
            </a:extLst>
          </p:cNvPr>
          <p:cNvPicPr>
            <a:picLocks noChangeAspect="1"/>
          </p:cNvPicPr>
          <p:nvPr/>
        </p:nvPicPr>
        <p:blipFill>
          <a:blip r:embed="rId4"/>
          <a:stretch>
            <a:fillRect/>
          </a:stretch>
        </p:blipFill>
        <p:spPr>
          <a:xfrm>
            <a:off x="5872154" y="3175686"/>
            <a:ext cx="6319845" cy="3682314"/>
          </a:xfrm>
          <a:prstGeom prst="rect">
            <a:avLst/>
          </a:prstGeom>
        </p:spPr>
      </p:pic>
    </p:spTree>
    <p:extLst>
      <p:ext uri="{BB962C8B-B14F-4D97-AF65-F5344CB8AC3E}">
        <p14:creationId xmlns:p14="http://schemas.microsoft.com/office/powerpoint/2010/main" val="243435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57DF0-EBDD-7D7C-6BE9-B0FA55463B33}"/>
              </a:ext>
            </a:extLst>
          </p:cNvPr>
          <p:cNvSpPr>
            <a:spLocks noGrp="1"/>
          </p:cNvSpPr>
          <p:nvPr>
            <p:ph type="title"/>
          </p:nvPr>
        </p:nvSpPr>
        <p:spPr>
          <a:xfrm>
            <a:off x="2580568" y="421579"/>
            <a:ext cx="8911687" cy="829696"/>
          </a:xfrm>
        </p:spPr>
        <p:txBody>
          <a:bodyPr/>
          <a:lstStyle/>
          <a:p>
            <a:r>
              <a:rPr lang="en-US" dirty="0"/>
              <a:t>Using OOB errors - Classification</a:t>
            </a:r>
          </a:p>
        </p:txBody>
      </p:sp>
      <p:pic>
        <p:nvPicPr>
          <p:cNvPr id="5" name="Picture 4" descr="Text&#10;&#10;Description automatically generated">
            <a:extLst>
              <a:ext uri="{FF2B5EF4-FFF2-40B4-BE49-F238E27FC236}">
                <a16:creationId xmlns:a16="http://schemas.microsoft.com/office/drawing/2014/main" id="{336CCDCE-3C62-80F0-9488-460E0512D3AD}"/>
              </a:ext>
            </a:extLst>
          </p:cNvPr>
          <p:cNvPicPr>
            <a:picLocks noChangeAspect="1"/>
          </p:cNvPicPr>
          <p:nvPr/>
        </p:nvPicPr>
        <p:blipFill>
          <a:blip r:embed="rId2"/>
          <a:stretch>
            <a:fillRect/>
          </a:stretch>
        </p:blipFill>
        <p:spPr>
          <a:xfrm>
            <a:off x="1758436" y="1434527"/>
            <a:ext cx="7772400" cy="2085911"/>
          </a:xfrm>
          <a:prstGeom prst="rect">
            <a:avLst/>
          </a:prstGeom>
        </p:spPr>
      </p:pic>
      <p:pic>
        <p:nvPicPr>
          <p:cNvPr id="7" name="Picture 6" descr="A picture containing text&#10;&#10;Description automatically generated">
            <a:extLst>
              <a:ext uri="{FF2B5EF4-FFF2-40B4-BE49-F238E27FC236}">
                <a16:creationId xmlns:a16="http://schemas.microsoft.com/office/drawing/2014/main" id="{2FE76C63-418C-9E55-41A2-8DD102AA3D0C}"/>
              </a:ext>
            </a:extLst>
          </p:cNvPr>
          <p:cNvPicPr>
            <a:picLocks noChangeAspect="1"/>
          </p:cNvPicPr>
          <p:nvPr/>
        </p:nvPicPr>
        <p:blipFill>
          <a:blip r:embed="rId3"/>
          <a:stretch>
            <a:fillRect/>
          </a:stretch>
        </p:blipFill>
        <p:spPr>
          <a:xfrm>
            <a:off x="1758436" y="3703690"/>
            <a:ext cx="3308524" cy="2732731"/>
          </a:xfrm>
          <a:prstGeom prst="rect">
            <a:avLst/>
          </a:prstGeom>
        </p:spPr>
      </p:pic>
      <p:pic>
        <p:nvPicPr>
          <p:cNvPr id="9" name="Picture 8" descr="Chart, scatter chart&#10;&#10;Description automatically generated">
            <a:extLst>
              <a:ext uri="{FF2B5EF4-FFF2-40B4-BE49-F238E27FC236}">
                <a16:creationId xmlns:a16="http://schemas.microsoft.com/office/drawing/2014/main" id="{8DC3F1C6-F4B7-A467-BF65-85D16F19E293}"/>
              </a:ext>
            </a:extLst>
          </p:cNvPr>
          <p:cNvPicPr>
            <a:picLocks noChangeAspect="1"/>
          </p:cNvPicPr>
          <p:nvPr/>
        </p:nvPicPr>
        <p:blipFill>
          <a:blip r:embed="rId4"/>
          <a:stretch>
            <a:fillRect/>
          </a:stretch>
        </p:blipFill>
        <p:spPr>
          <a:xfrm>
            <a:off x="5684108" y="2015442"/>
            <a:ext cx="6176320" cy="4572597"/>
          </a:xfrm>
          <a:prstGeom prst="rect">
            <a:avLst/>
          </a:prstGeom>
        </p:spPr>
      </p:pic>
    </p:spTree>
    <p:extLst>
      <p:ext uri="{BB962C8B-B14F-4D97-AF65-F5344CB8AC3E}">
        <p14:creationId xmlns:p14="http://schemas.microsoft.com/office/powerpoint/2010/main" val="1196858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1439A-0C1F-A0B7-F08D-6E26FD2601F8}"/>
              </a:ext>
            </a:extLst>
          </p:cNvPr>
          <p:cNvSpPr>
            <a:spLocks noGrp="1"/>
          </p:cNvSpPr>
          <p:nvPr>
            <p:ph type="title"/>
          </p:nvPr>
        </p:nvSpPr>
        <p:spPr>
          <a:xfrm>
            <a:off x="1640156" y="620980"/>
            <a:ext cx="8911687" cy="757429"/>
          </a:xfrm>
        </p:spPr>
        <p:txBody>
          <a:bodyPr/>
          <a:lstStyle/>
          <a:p>
            <a:r>
              <a:rPr lang="en-US" dirty="0"/>
              <a:t>Using OOB errors – Classification (AUC)</a:t>
            </a:r>
          </a:p>
        </p:txBody>
      </p:sp>
      <p:pic>
        <p:nvPicPr>
          <p:cNvPr id="5" name="Picture 4" descr="Text&#10;&#10;Description automatically generated">
            <a:extLst>
              <a:ext uri="{FF2B5EF4-FFF2-40B4-BE49-F238E27FC236}">
                <a16:creationId xmlns:a16="http://schemas.microsoft.com/office/drawing/2014/main" id="{2F1EF3BA-4AEF-BBA3-055E-1A7A0E4C3159}"/>
              </a:ext>
            </a:extLst>
          </p:cNvPr>
          <p:cNvPicPr>
            <a:picLocks noChangeAspect="1"/>
          </p:cNvPicPr>
          <p:nvPr/>
        </p:nvPicPr>
        <p:blipFill>
          <a:blip r:embed="rId2"/>
          <a:stretch>
            <a:fillRect/>
          </a:stretch>
        </p:blipFill>
        <p:spPr>
          <a:xfrm>
            <a:off x="1822753" y="2305050"/>
            <a:ext cx="3454400" cy="2247900"/>
          </a:xfrm>
          <a:prstGeom prst="rect">
            <a:avLst/>
          </a:prstGeom>
        </p:spPr>
      </p:pic>
      <p:sp>
        <p:nvSpPr>
          <p:cNvPr id="6" name="TextBox 5">
            <a:extLst>
              <a:ext uri="{FF2B5EF4-FFF2-40B4-BE49-F238E27FC236}">
                <a16:creationId xmlns:a16="http://schemas.microsoft.com/office/drawing/2014/main" id="{DF1F775D-2972-78FB-BB95-9241BA0A56F2}"/>
              </a:ext>
            </a:extLst>
          </p:cNvPr>
          <p:cNvSpPr txBox="1"/>
          <p:nvPr/>
        </p:nvSpPr>
        <p:spPr>
          <a:xfrm>
            <a:off x="678578" y="1443413"/>
            <a:ext cx="10910448" cy="646331"/>
          </a:xfrm>
          <a:prstGeom prst="rect">
            <a:avLst/>
          </a:prstGeom>
          <a:noFill/>
        </p:spPr>
        <p:txBody>
          <a:bodyPr wrap="square" rtlCol="0">
            <a:spAutoFit/>
          </a:bodyPr>
          <a:lstStyle/>
          <a:p>
            <a:r>
              <a:rPr lang="en-CA" dirty="0"/>
              <a:t>votes</a:t>
            </a:r>
            <a:r>
              <a:rPr lang="en-CA" b="0" i="0" u="none" strike="noStrike" dirty="0">
                <a:solidFill>
                  <a:srgbClr val="525960"/>
                </a:solidFill>
                <a:effectLst/>
                <a:latin typeface="-apple-system"/>
              </a:rPr>
              <a:t> (classification only) is a matrix with one row for each input data point and one column for each class, giving the fraction or number of (OOB) </a:t>
            </a:r>
            <a:r>
              <a:rPr lang="en-CA" b="0" i="0" u="none" strike="noStrike" dirty="0">
                <a:solidFill>
                  <a:srgbClr val="525960"/>
                </a:solidFill>
                <a:effectLst/>
                <a:latin typeface="Consolas" panose="020B0609020204030204" pitchFamily="49" charset="0"/>
                <a:cs typeface="Consolas" panose="020B0609020204030204" pitchFamily="49" charset="0"/>
              </a:rPr>
              <a:t>votes</a:t>
            </a:r>
            <a:r>
              <a:rPr lang="en-CA" b="0" i="0" u="none" strike="noStrike" dirty="0">
                <a:solidFill>
                  <a:srgbClr val="525960"/>
                </a:solidFill>
                <a:effectLst/>
                <a:latin typeface="-apple-system"/>
              </a:rPr>
              <a:t> from the random forest.</a:t>
            </a:r>
            <a:endParaRPr lang="en-US" dirty="0"/>
          </a:p>
        </p:txBody>
      </p:sp>
      <p:pic>
        <p:nvPicPr>
          <p:cNvPr id="8" name="Picture 7">
            <a:extLst>
              <a:ext uri="{FF2B5EF4-FFF2-40B4-BE49-F238E27FC236}">
                <a16:creationId xmlns:a16="http://schemas.microsoft.com/office/drawing/2014/main" id="{5627EA33-F36D-6166-3450-F622E883EA92}"/>
              </a:ext>
            </a:extLst>
          </p:cNvPr>
          <p:cNvPicPr>
            <a:picLocks noChangeAspect="1"/>
          </p:cNvPicPr>
          <p:nvPr/>
        </p:nvPicPr>
        <p:blipFill>
          <a:blip r:embed="rId3"/>
          <a:stretch>
            <a:fillRect/>
          </a:stretch>
        </p:blipFill>
        <p:spPr>
          <a:xfrm>
            <a:off x="6030645" y="2305050"/>
            <a:ext cx="2603500" cy="622300"/>
          </a:xfrm>
          <a:prstGeom prst="rect">
            <a:avLst/>
          </a:prstGeom>
        </p:spPr>
      </p:pic>
      <p:pic>
        <p:nvPicPr>
          <p:cNvPr id="10" name="Picture 9" descr="Graphical user interface, text, application&#10;&#10;Description automatically generated">
            <a:extLst>
              <a:ext uri="{FF2B5EF4-FFF2-40B4-BE49-F238E27FC236}">
                <a16:creationId xmlns:a16="http://schemas.microsoft.com/office/drawing/2014/main" id="{E2F381AB-9A33-C715-4A14-43FB0C37ACF4}"/>
              </a:ext>
            </a:extLst>
          </p:cNvPr>
          <p:cNvPicPr>
            <a:picLocks noChangeAspect="1"/>
          </p:cNvPicPr>
          <p:nvPr/>
        </p:nvPicPr>
        <p:blipFill>
          <a:blip r:embed="rId4"/>
          <a:stretch>
            <a:fillRect/>
          </a:stretch>
        </p:blipFill>
        <p:spPr>
          <a:xfrm>
            <a:off x="1822753" y="5157900"/>
            <a:ext cx="6648634" cy="1099774"/>
          </a:xfrm>
          <a:prstGeom prst="rect">
            <a:avLst/>
          </a:prstGeom>
        </p:spPr>
      </p:pic>
    </p:spTree>
    <p:extLst>
      <p:ext uri="{BB962C8B-B14F-4D97-AF65-F5344CB8AC3E}">
        <p14:creationId xmlns:p14="http://schemas.microsoft.com/office/powerpoint/2010/main" val="2099763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99BD6-4179-F1E4-8061-87A289906778}"/>
              </a:ext>
            </a:extLst>
          </p:cNvPr>
          <p:cNvSpPr>
            <a:spLocks noGrp="1"/>
          </p:cNvSpPr>
          <p:nvPr>
            <p:ph type="title"/>
          </p:nvPr>
        </p:nvSpPr>
        <p:spPr>
          <a:xfrm>
            <a:off x="1863876" y="624110"/>
            <a:ext cx="8911687" cy="640445"/>
          </a:xfrm>
        </p:spPr>
        <p:txBody>
          <a:bodyPr/>
          <a:lstStyle/>
          <a:p>
            <a:r>
              <a:rPr lang="en-US" dirty="0"/>
              <a:t>Two training methods – 2: Using test set</a:t>
            </a:r>
          </a:p>
        </p:txBody>
      </p:sp>
      <p:pic>
        <p:nvPicPr>
          <p:cNvPr id="5" name="Content Placeholder 4" descr="Text, letter&#10;&#10;Description automatically generated">
            <a:extLst>
              <a:ext uri="{FF2B5EF4-FFF2-40B4-BE49-F238E27FC236}">
                <a16:creationId xmlns:a16="http://schemas.microsoft.com/office/drawing/2014/main" id="{4973B815-B8F5-A6BD-216B-738F0AF3FC69}"/>
              </a:ext>
            </a:extLst>
          </p:cNvPr>
          <p:cNvPicPr>
            <a:picLocks noGrp="1" noChangeAspect="1"/>
          </p:cNvPicPr>
          <p:nvPr>
            <p:ph idx="1"/>
          </p:nvPr>
        </p:nvPicPr>
        <p:blipFill>
          <a:blip r:embed="rId2"/>
          <a:stretch>
            <a:fillRect/>
          </a:stretch>
        </p:blipFill>
        <p:spPr>
          <a:xfrm>
            <a:off x="195715" y="1635258"/>
            <a:ext cx="5710816" cy="5180537"/>
          </a:xfrm>
        </p:spPr>
      </p:pic>
      <p:pic>
        <p:nvPicPr>
          <p:cNvPr id="7" name="Picture 6" descr="Text&#10;&#10;Description automatically generated">
            <a:extLst>
              <a:ext uri="{FF2B5EF4-FFF2-40B4-BE49-F238E27FC236}">
                <a16:creationId xmlns:a16="http://schemas.microsoft.com/office/drawing/2014/main" id="{6C8E2578-BCC8-AB45-824B-7509C562DCFE}"/>
              </a:ext>
            </a:extLst>
          </p:cNvPr>
          <p:cNvPicPr>
            <a:picLocks noChangeAspect="1"/>
          </p:cNvPicPr>
          <p:nvPr/>
        </p:nvPicPr>
        <p:blipFill>
          <a:blip r:embed="rId3"/>
          <a:stretch>
            <a:fillRect/>
          </a:stretch>
        </p:blipFill>
        <p:spPr>
          <a:xfrm>
            <a:off x="5906531" y="1635259"/>
            <a:ext cx="6285469" cy="5180538"/>
          </a:xfrm>
          <a:prstGeom prst="rect">
            <a:avLst/>
          </a:prstGeom>
        </p:spPr>
      </p:pic>
    </p:spTree>
    <p:extLst>
      <p:ext uri="{BB962C8B-B14F-4D97-AF65-F5344CB8AC3E}">
        <p14:creationId xmlns:p14="http://schemas.microsoft.com/office/powerpoint/2010/main" val="643884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A4106-00A6-6A51-C2AC-E68C6515AF7E}"/>
              </a:ext>
            </a:extLst>
          </p:cNvPr>
          <p:cNvSpPr>
            <a:spLocks noGrp="1"/>
          </p:cNvSpPr>
          <p:nvPr>
            <p:ph type="title"/>
          </p:nvPr>
        </p:nvSpPr>
        <p:spPr>
          <a:xfrm>
            <a:off x="405778" y="1455906"/>
            <a:ext cx="4852022" cy="1514147"/>
          </a:xfrm>
        </p:spPr>
        <p:txBody>
          <a:bodyPr>
            <a:normAutofit fontScale="90000"/>
          </a:bodyPr>
          <a:lstStyle/>
          <a:p>
            <a:r>
              <a:rPr lang="en-US"/>
              <a:t>Interpretation:</a:t>
            </a:r>
            <a:br>
              <a:rPr lang="en-US"/>
            </a:br>
            <a:r>
              <a:rPr lang="en-CA"/>
              <a:t>Mean Decrease in Impurity (MDI)</a:t>
            </a:r>
            <a:br>
              <a:rPr lang="en-CA"/>
            </a:br>
            <a:endParaRPr lang="en-US" dirty="0"/>
          </a:p>
        </p:txBody>
      </p:sp>
      <p:pic>
        <p:nvPicPr>
          <p:cNvPr id="5" name="Content Placeholder 4" descr="Chart, scatter chart, box and whisker chart&#10;&#10;Description automatically generated">
            <a:extLst>
              <a:ext uri="{FF2B5EF4-FFF2-40B4-BE49-F238E27FC236}">
                <a16:creationId xmlns:a16="http://schemas.microsoft.com/office/drawing/2014/main" id="{05FEB059-CDB0-FA4C-63D4-5B184353D865}"/>
              </a:ext>
            </a:extLst>
          </p:cNvPr>
          <p:cNvPicPr>
            <a:picLocks noGrp="1" noChangeAspect="1"/>
          </p:cNvPicPr>
          <p:nvPr>
            <p:ph idx="1"/>
          </p:nvPr>
        </p:nvPicPr>
        <p:blipFill>
          <a:blip r:embed="rId2"/>
          <a:stretch>
            <a:fillRect/>
          </a:stretch>
        </p:blipFill>
        <p:spPr>
          <a:xfrm>
            <a:off x="294567" y="3195186"/>
            <a:ext cx="4597943" cy="2408763"/>
          </a:xfrm>
        </p:spPr>
      </p:pic>
      <p:graphicFrame>
        <p:nvGraphicFramePr>
          <p:cNvPr id="10" name="TextBox 5">
            <a:extLst>
              <a:ext uri="{FF2B5EF4-FFF2-40B4-BE49-F238E27FC236}">
                <a16:creationId xmlns:a16="http://schemas.microsoft.com/office/drawing/2014/main" id="{5421A778-1302-C252-68B2-A8CA0CA236EE}"/>
              </a:ext>
            </a:extLst>
          </p:cNvPr>
          <p:cNvGraphicFramePr/>
          <p:nvPr>
            <p:extLst>
              <p:ext uri="{D42A27DB-BD31-4B8C-83A1-F6EECF244321}">
                <p14:modId xmlns:p14="http://schemas.microsoft.com/office/powerpoint/2010/main" val="3874882113"/>
              </p:ext>
            </p:extLst>
          </p:nvPr>
        </p:nvGraphicFramePr>
        <p:xfrm>
          <a:off x="4806012" y="1254051"/>
          <a:ext cx="7188279" cy="47169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63722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A4106-00A6-6A51-C2AC-E68C6515AF7E}"/>
              </a:ext>
            </a:extLst>
          </p:cNvPr>
          <p:cNvSpPr>
            <a:spLocks noGrp="1"/>
          </p:cNvSpPr>
          <p:nvPr>
            <p:ph type="title"/>
          </p:nvPr>
        </p:nvSpPr>
        <p:spPr>
          <a:xfrm>
            <a:off x="405778" y="1455906"/>
            <a:ext cx="4852022" cy="1514147"/>
          </a:xfrm>
        </p:spPr>
        <p:txBody>
          <a:bodyPr>
            <a:normAutofit fontScale="90000"/>
          </a:bodyPr>
          <a:lstStyle/>
          <a:p>
            <a:r>
              <a:rPr lang="en-US" dirty="0"/>
              <a:t>Interpretation:</a:t>
            </a:r>
            <a:br>
              <a:rPr lang="en-US" dirty="0"/>
            </a:br>
            <a:r>
              <a:rPr lang="en-CA" dirty="0"/>
              <a:t>Mean Decrease in Accuracy (MDA)</a:t>
            </a:r>
            <a:br>
              <a:rPr lang="en-CA" dirty="0"/>
            </a:br>
            <a:endParaRPr lang="en-US" dirty="0"/>
          </a:p>
        </p:txBody>
      </p:sp>
      <p:pic>
        <p:nvPicPr>
          <p:cNvPr id="5" name="Content Placeholder 4" descr="Chart, scatter chart, box and whisker chart&#10;&#10;Description automatically generated">
            <a:extLst>
              <a:ext uri="{FF2B5EF4-FFF2-40B4-BE49-F238E27FC236}">
                <a16:creationId xmlns:a16="http://schemas.microsoft.com/office/drawing/2014/main" id="{05FEB059-CDB0-FA4C-63D4-5B184353D865}"/>
              </a:ext>
            </a:extLst>
          </p:cNvPr>
          <p:cNvPicPr>
            <a:picLocks noGrp="1" noChangeAspect="1"/>
          </p:cNvPicPr>
          <p:nvPr>
            <p:ph idx="1"/>
          </p:nvPr>
        </p:nvPicPr>
        <p:blipFill>
          <a:blip r:embed="rId2"/>
          <a:stretch>
            <a:fillRect/>
          </a:stretch>
        </p:blipFill>
        <p:spPr>
          <a:xfrm>
            <a:off x="405778" y="3887947"/>
            <a:ext cx="4597943" cy="2408763"/>
          </a:xfrm>
        </p:spPr>
      </p:pic>
      <p:sp>
        <p:nvSpPr>
          <p:cNvPr id="6" name="TextBox 5">
            <a:extLst>
              <a:ext uri="{FF2B5EF4-FFF2-40B4-BE49-F238E27FC236}">
                <a16:creationId xmlns:a16="http://schemas.microsoft.com/office/drawing/2014/main" id="{D20D981B-4005-B03D-21FE-A1A38ED4E8B4}"/>
              </a:ext>
            </a:extLst>
          </p:cNvPr>
          <p:cNvSpPr txBox="1"/>
          <p:nvPr/>
        </p:nvSpPr>
        <p:spPr>
          <a:xfrm>
            <a:off x="5003721" y="241279"/>
            <a:ext cx="7043352" cy="6186309"/>
          </a:xfrm>
          <a:prstGeom prst="rect">
            <a:avLst/>
          </a:prstGeom>
          <a:noFill/>
        </p:spPr>
        <p:txBody>
          <a:bodyPr wrap="square" rtlCol="0">
            <a:spAutoFit/>
          </a:bodyPr>
          <a:lstStyle/>
          <a:p>
            <a:pPr marL="285750" indent="-285750">
              <a:buFont typeface="Arial" panose="020B0604020202020204" pitchFamily="34" charset="0"/>
              <a:buChar char="•"/>
            </a:pPr>
            <a:r>
              <a:rPr lang="en-CA" dirty="0"/>
              <a:t>This is often referred to as "</a:t>
            </a:r>
            <a:r>
              <a:rPr lang="en-CA" b="1" dirty="0">
                <a:solidFill>
                  <a:srgbClr val="FF0000"/>
                </a:solidFill>
              </a:rPr>
              <a:t>permutation importance</a:t>
            </a:r>
            <a:r>
              <a:rPr lang="en-CA" dirty="0"/>
              <a:t>."</a:t>
            </a:r>
          </a:p>
          <a:p>
            <a:pPr marL="285750" indent="-285750">
              <a:buFont typeface="Arial" panose="020B0604020202020204" pitchFamily="34" charset="0"/>
              <a:buChar char="•"/>
            </a:pPr>
            <a:r>
              <a:rPr lang="en-CA" dirty="0"/>
              <a:t>MDA evaluates the importance of a feature by measuring the decrease in the model's prediction accuracy on a dataset (usually the validation set or out-of-bag samples for </a:t>
            </a:r>
            <a:r>
              <a:rPr lang="en-CA" dirty="0" err="1"/>
              <a:t>RandomForest</a:t>
            </a:r>
            <a:r>
              <a:rPr lang="en-CA" dirty="0"/>
              <a:t>) after permuting the values of that feature. </a:t>
            </a:r>
          </a:p>
          <a:p>
            <a:pPr marL="285750" indent="-285750">
              <a:buFont typeface="Arial" panose="020B0604020202020204" pitchFamily="34" charset="0"/>
              <a:buChar char="•"/>
            </a:pPr>
            <a:r>
              <a:rPr lang="en-CA" dirty="0"/>
              <a:t>By disrupting the relationship between the feature and the target, you can assess how much the model's accuracy relies on that feature.</a:t>
            </a:r>
          </a:p>
          <a:p>
            <a:pPr marL="285750" indent="-285750">
              <a:buFont typeface="Arial" panose="020B0604020202020204" pitchFamily="34" charset="0"/>
              <a:buChar char="•"/>
            </a:pPr>
            <a:r>
              <a:rPr lang="en-CA" dirty="0"/>
              <a:t>Computation: For each feature, its values are shuffled among the observations to break its true association with the response. The decrease in model accuracy due to this shuffling is calculated and attributed to the shuffled feature.</a:t>
            </a:r>
          </a:p>
          <a:p>
            <a:pPr marL="285750" indent="-285750">
              <a:buFont typeface="Arial" panose="020B0604020202020204" pitchFamily="34" charset="0"/>
              <a:buChar char="•"/>
            </a:pPr>
            <a:r>
              <a:rPr lang="en-CA" dirty="0"/>
              <a:t>Pros: </a:t>
            </a:r>
            <a:r>
              <a:rPr lang="en-CA" b="1" dirty="0">
                <a:solidFill>
                  <a:srgbClr val="FF0000"/>
                </a:solidFill>
              </a:rPr>
              <a:t>MDA is model-agnostic </a:t>
            </a:r>
            <a:r>
              <a:rPr lang="en-CA" dirty="0"/>
              <a:t>and it's less prone to bias from high cardinality features.</a:t>
            </a:r>
          </a:p>
          <a:p>
            <a:pPr marL="285750" indent="-285750">
              <a:buFont typeface="Arial" panose="020B0604020202020204" pitchFamily="34" charset="0"/>
              <a:buChar char="•"/>
            </a:pPr>
            <a:r>
              <a:rPr lang="en-CA" dirty="0"/>
              <a:t>Cons: Computationally expensive, especially for large datasets or models with many features, as it requires multiple passes through the data. </a:t>
            </a:r>
            <a:r>
              <a:rPr lang="en-CA" dirty="0">
                <a:solidFill>
                  <a:srgbClr val="FF0000"/>
                </a:solidFill>
              </a:rPr>
              <a:t>Additionally, it can be sensitive to data leakage or correlated features, where shuffling one feature also indirectly affects the information contained in another.</a:t>
            </a:r>
          </a:p>
        </p:txBody>
      </p:sp>
    </p:spTree>
    <p:extLst>
      <p:ext uri="{BB962C8B-B14F-4D97-AF65-F5344CB8AC3E}">
        <p14:creationId xmlns:p14="http://schemas.microsoft.com/office/powerpoint/2010/main" val="1222538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1EE75-17B5-42D7-5D19-07C44576E58F}"/>
              </a:ext>
            </a:extLst>
          </p:cNvPr>
          <p:cNvSpPr>
            <a:spLocks noGrp="1"/>
          </p:cNvSpPr>
          <p:nvPr>
            <p:ph type="title"/>
          </p:nvPr>
        </p:nvSpPr>
        <p:spPr>
          <a:xfrm>
            <a:off x="1880319" y="613835"/>
            <a:ext cx="8911687" cy="1280890"/>
          </a:xfrm>
        </p:spPr>
        <p:txBody>
          <a:bodyPr/>
          <a:lstStyle/>
          <a:p>
            <a:r>
              <a:rPr lang="en-US" b="1" dirty="0">
                <a:latin typeface="Consolas" panose="020B0609020204030204" pitchFamily="49" charset="0"/>
                <a:cs typeface="Consolas" panose="020B0609020204030204" pitchFamily="49" charset="0"/>
              </a:rPr>
              <a:t>randomForestExplainer</a:t>
            </a:r>
          </a:p>
        </p:txBody>
      </p:sp>
      <p:pic>
        <p:nvPicPr>
          <p:cNvPr id="5" name="Content Placeholder 4" descr="Table&#10;&#10;Description automatically generated">
            <a:extLst>
              <a:ext uri="{FF2B5EF4-FFF2-40B4-BE49-F238E27FC236}">
                <a16:creationId xmlns:a16="http://schemas.microsoft.com/office/drawing/2014/main" id="{4C7084F6-82D2-5DD4-5ECE-1267DF7D7A1C}"/>
              </a:ext>
            </a:extLst>
          </p:cNvPr>
          <p:cNvPicPr>
            <a:picLocks noGrp="1" noChangeAspect="1"/>
          </p:cNvPicPr>
          <p:nvPr>
            <p:ph idx="1"/>
          </p:nvPr>
        </p:nvPicPr>
        <p:blipFill>
          <a:blip r:embed="rId3"/>
          <a:stretch>
            <a:fillRect/>
          </a:stretch>
        </p:blipFill>
        <p:spPr>
          <a:xfrm>
            <a:off x="0" y="3562030"/>
            <a:ext cx="6628973" cy="3295970"/>
          </a:xfrm>
        </p:spPr>
      </p:pic>
      <p:pic>
        <p:nvPicPr>
          <p:cNvPr id="4" name="Picture 3" descr="Text, letter&#10;&#10;Description automatically generated">
            <a:extLst>
              <a:ext uri="{FF2B5EF4-FFF2-40B4-BE49-F238E27FC236}">
                <a16:creationId xmlns:a16="http://schemas.microsoft.com/office/drawing/2014/main" id="{9DD4B3EB-077E-1747-606A-147DD65C5BED}"/>
              </a:ext>
            </a:extLst>
          </p:cNvPr>
          <p:cNvPicPr>
            <a:picLocks noChangeAspect="1"/>
          </p:cNvPicPr>
          <p:nvPr/>
        </p:nvPicPr>
        <p:blipFill>
          <a:blip r:embed="rId4"/>
          <a:stretch>
            <a:fillRect/>
          </a:stretch>
        </p:blipFill>
        <p:spPr>
          <a:xfrm>
            <a:off x="5398718" y="1357606"/>
            <a:ext cx="6793282" cy="4371481"/>
          </a:xfrm>
          <a:prstGeom prst="rect">
            <a:avLst/>
          </a:prstGeom>
        </p:spPr>
      </p:pic>
    </p:spTree>
    <p:extLst>
      <p:ext uri="{BB962C8B-B14F-4D97-AF65-F5344CB8AC3E}">
        <p14:creationId xmlns:p14="http://schemas.microsoft.com/office/powerpoint/2010/main" val="543750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10D42-CBF0-C659-486D-8D203B51C355}"/>
              </a:ext>
            </a:extLst>
          </p:cNvPr>
          <p:cNvSpPr>
            <a:spLocks noGrp="1"/>
          </p:cNvSpPr>
          <p:nvPr>
            <p:ph type="title"/>
          </p:nvPr>
        </p:nvSpPr>
        <p:spPr>
          <a:xfrm>
            <a:off x="1576835" y="129493"/>
            <a:ext cx="5760243" cy="1280890"/>
          </a:xfrm>
        </p:spPr>
        <p:txBody>
          <a:bodyPr/>
          <a:lstStyle/>
          <a:p>
            <a:r>
              <a:rPr lang="en-CA" b="0" i="0" u="none" strike="noStrike" dirty="0">
                <a:solidFill>
                  <a:srgbClr val="333333"/>
                </a:solidFill>
                <a:effectLst/>
                <a:latin typeface="Helvetica Neue" panose="02000503000000020004" pitchFamily="2" charset="0"/>
              </a:rPr>
              <a:t>Partial dependence plots (PDPs)</a:t>
            </a:r>
            <a:endParaRPr lang="en-US" dirty="0"/>
          </a:p>
        </p:txBody>
      </p:sp>
      <p:pic>
        <p:nvPicPr>
          <p:cNvPr id="5" name="Content Placeholder 4" descr="Chart, line chart&#10;&#10;Description automatically generated">
            <a:extLst>
              <a:ext uri="{FF2B5EF4-FFF2-40B4-BE49-F238E27FC236}">
                <a16:creationId xmlns:a16="http://schemas.microsoft.com/office/drawing/2014/main" id="{D13AE503-CD4D-CAF6-1F5C-D8B4B110C503}"/>
              </a:ext>
            </a:extLst>
          </p:cNvPr>
          <p:cNvPicPr>
            <a:picLocks noGrp="1" noChangeAspect="1"/>
          </p:cNvPicPr>
          <p:nvPr>
            <p:ph idx="1"/>
          </p:nvPr>
        </p:nvPicPr>
        <p:blipFill>
          <a:blip r:embed="rId2"/>
          <a:stretch>
            <a:fillRect/>
          </a:stretch>
        </p:blipFill>
        <p:spPr>
          <a:xfrm>
            <a:off x="687388" y="1539875"/>
            <a:ext cx="7159153" cy="4896108"/>
          </a:xfrm>
        </p:spPr>
      </p:pic>
      <p:sp>
        <p:nvSpPr>
          <p:cNvPr id="6" name="TextBox 5">
            <a:extLst>
              <a:ext uri="{FF2B5EF4-FFF2-40B4-BE49-F238E27FC236}">
                <a16:creationId xmlns:a16="http://schemas.microsoft.com/office/drawing/2014/main" id="{BCA3CBBE-2877-5133-7244-578C07DC17FE}"/>
              </a:ext>
            </a:extLst>
          </p:cNvPr>
          <p:cNvSpPr txBox="1"/>
          <p:nvPr/>
        </p:nvSpPr>
        <p:spPr>
          <a:xfrm>
            <a:off x="8043771" y="769938"/>
            <a:ext cx="3929449" cy="5078313"/>
          </a:xfrm>
          <a:prstGeom prst="rect">
            <a:avLst/>
          </a:prstGeom>
          <a:noFill/>
        </p:spPr>
        <p:txBody>
          <a:bodyPr wrap="square" rtlCol="0">
            <a:spAutoFit/>
          </a:bodyPr>
          <a:lstStyle/>
          <a:p>
            <a:r>
              <a:rPr lang="en-CA" b="0" i="0" u="none" strike="noStrike" dirty="0">
                <a:solidFill>
                  <a:srgbClr val="333333"/>
                </a:solidFill>
                <a:effectLst/>
                <a:latin typeface="Helvetica Neue" panose="02000503000000020004" pitchFamily="2" charset="0"/>
              </a:rPr>
              <a:t>Partial dependence plots (PDPs) are a graphical tool used to visualize the relationship between a single feature and the predicted outcome in a machine learning model, while averaging out the effects of all other features. </a:t>
            </a:r>
          </a:p>
          <a:p>
            <a:pPr marL="285750" indent="-285750">
              <a:buFont typeface="Arial" panose="020B0604020202020204" pitchFamily="34" charset="0"/>
              <a:buChar char="•"/>
            </a:pPr>
            <a:r>
              <a:rPr lang="en-CA" dirty="0">
                <a:solidFill>
                  <a:srgbClr val="333333"/>
                </a:solidFill>
                <a:latin typeface="Helvetica Neue" panose="02000503000000020004" pitchFamily="2" charset="0"/>
              </a:rPr>
              <a:t>F</a:t>
            </a:r>
            <a:r>
              <a:rPr lang="en-CA" b="0" i="0" u="none" strike="noStrike" dirty="0">
                <a:solidFill>
                  <a:srgbClr val="333333"/>
                </a:solidFill>
                <a:effectLst/>
                <a:latin typeface="Helvetica Neue" panose="02000503000000020004" pitchFamily="2" charset="0"/>
              </a:rPr>
              <a:t>ix the value and keeps all other feature values unchanged.</a:t>
            </a:r>
          </a:p>
          <a:p>
            <a:pPr marL="285750" indent="-285750">
              <a:buFont typeface="Arial" panose="020B0604020202020204" pitchFamily="34" charset="0"/>
              <a:buChar char="•"/>
            </a:pPr>
            <a:r>
              <a:rPr lang="en-CA" dirty="0">
                <a:solidFill>
                  <a:srgbClr val="333333"/>
                </a:solidFill>
                <a:latin typeface="Helvetica Neue" panose="02000503000000020004" pitchFamily="2" charset="0"/>
              </a:rPr>
              <a:t>W</a:t>
            </a:r>
            <a:r>
              <a:rPr lang="en-CA" b="0" i="0" u="none" strike="noStrike" dirty="0">
                <a:solidFill>
                  <a:srgbClr val="333333"/>
                </a:solidFill>
                <a:effectLst/>
                <a:latin typeface="Helvetica Neue" panose="02000503000000020004" pitchFamily="2" charset="0"/>
              </a:rPr>
              <a:t>ith the fixed feature value, obtain predictions for each instance. </a:t>
            </a:r>
          </a:p>
          <a:p>
            <a:pPr marL="285750" indent="-285750">
              <a:buFont typeface="Arial" panose="020B0604020202020204" pitchFamily="34" charset="0"/>
              <a:buChar char="•"/>
            </a:pPr>
            <a:r>
              <a:rPr lang="en-CA" dirty="0">
                <a:solidFill>
                  <a:srgbClr val="333333"/>
                </a:solidFill>
                <a:latin typeface="Helvetica Neue" panose="02000503000000020004" pitchFamily="2" charset="0"/>
              </a:rPr>
              <a:t>C</a:t>
            </a:r>
            <a:r>
              <a:rPr lang="en-CA" b="0" i="0" u="none" strike="noStrike" dirty="0">
                <a:solidFill>
                  <a:srgbClr val="333333"/>
                </a:solidFill>
                <a:effectLst/>
                <a:latin typeface="Helvetica Neue" panose="02000503000000020004" pitchFamily="2" charset="0"/>
              </a:rPr>
              <a:t>ompute the average prediction across all instances for the fixed feature value. </a:t>
            </a:r>
          </a:p>
          <a:p>
            <a:pPr marL="285750" indent="-285750">
              <a:buFont typeface="Arial" panose="020B0604020202020204" pitchFamily="34" charset="0"/>
              <a:buChar char="•"/>
            </a:pPr>
            <a:r>
              <a:rPr lang="en-CA" b="0" i="0" u="none" strike="noStrike" dirty="0">
                <a:solidFill>
                  <a:srgbClr val="333333"/>
                </a:solidFill>
                <a:effectLst/>
                <a:latin typeface="Helvetica Neue" panose="02000503000000020004" pitchFamily="2" charset="0"/>
              </a:rPr>
              <a:t>This represents the partial dependence of the outcome on the chosen feature value. </a:t>
            </a:r>
            <a:endParaRPr lang="en-US" dirty="0"/>
          </a:p>
        </p:txBody>
      </p:sp>
    </p:spTree>
    <p:extLst>
      <p:ext uri="{BB962C8B-B14F-4D97-AF65-F5344CB8AC3E}">
        <p14:creationId xmlns:p14="http://schemas.microsoft.com/office/powerpoint/2010/main" val="2526784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74F58-D821-3DD5-8B86-958E7C865628}"/>
              </a:ext>
            </a:extLst>
          </p:cNvPr>
          <p:cNvSpPr>
            <a:spLocks noGrp="1"/>
          </p:cNvSpPr>
          <p:nvPr>
            <p:ph type="title"/>
          </p:nvPr>
        </p:nvSpPr>
        <p:spPr/>
        <p:txBody>
          <a:bodyPr/>
          <a:lstStyle/>
          <a:p>
            <a:r>
              <a:rPr lang="en-US" b="1" dirty="0"/>
              <a:t>Unsupervised Random Forest</a:t>
            </a:r>
            <a:br>
              <a:rPr lang="en-US" dirty="0"/>
            </a:br>
            <a:r>
              <a:rPr lang="en-US" sz="2400" dirty="0"/>
              <a:t>(Appendix)</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D7E5ED2-7911-C7F2-B94D-54D59C8C7ED4}"/>
                  </a:ext>
                </a:extLst>
              </p:cNvPr>
              <p:cNvSpPr>
                <a:spLocks noGrp="1"/>
              </p:cNvSpPr>
              <p:nvPr>
                <p:ph idx="1"/>
              </p:nvPr>
            </p:nvSpPr>
            <p:spPr/>
            <p:txBody>
              <a:bodyPr/>
              <a:lstStyle/>
              <a:p>
                <a:r>
                  <a:rPr lang="en-CA" b="0" i="0" u="none" strike="noStrike" dirty="0">
                    <a:solidFill>
                      <a:srgbClr val="131313"/>
                    </a:solidFill>
                    <a:effectLst/>
                    <a:latin typeface="Raleway" pitchFamily="2" charset="77"/>
                  </a:rPr>
                  <a:t>In the unsupervised case we don’t have labels to train on. Instead, like other clustering procedures, need to find the underlying structure in the data. </a:t>
                </a:r>
              </a:p>
              <a:p>
                <a:r>
                  <a:rPr lang="en-US" sz="1800" dirty="0">
                    <a:effectLst/>
                    <a:latin typeface="Georgia" panose="02040502050405020303" pitchFamily="18" charset="0"/>
                    <a:ea typeface="Calibri" panose="020F0502020204030204" pitchFamily="34" charset="0"/>
                    <a:cs typeface="Times New Roman" panose="02020603050405020304" pitchFamily="18" charset="0"/>
                  </a:rPr>
                  <a:t>The key output we want is the proximity (or similarity/dissimilarity) matrix. </a:t>
                </a:r>
              </a:p>
              <a:p>
                <a:r>
                  <a:rPr lang="en-US" sz="1800" dirty="0">
                    <a:effectLst/>
                    <a:latin typeface="Georgia" panose="02040502050405020303" pitchFamily="18" charset="0"/>
                    <a:ea typeface="Calibri" panose="020F0502020204030204" pitchFamily="34" charset="0"/>
                    <a:cs typeface="Times New Roman" panose="02020603050405020304" pitchFamily="18" charset="0"/>
                  </a:rPr>
                  <a:t>This is an </a:t>
                </a:r>
                <a14:m>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𝑛</m:t>
                    </m:r>
                    <m:r>
                      <a:rPr lang="en-US" sz="1800">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𝑛</m:t>
                    </m:r>
                  </m:oMath>
                </a14:m>
                <a:r>
                  <a:rPr lang="en-US" sz="1800" dirty="0">
                    <a:effectLst/>
                    <a:latin typeface="Georgia" panose="02040502050405020303" pitchFamily="18" charset="0"/>
                    <a:ea typeface="Calibri" panose="020F0502020204030204" pitchFamily="34" charset="0"/>
                    <a:cs typeface="Times New Roman" panose="02020603050405020304" pitchFamily="18" charset="0"/>
                  </a:rPr>
                  <a:t> matrix where each value is the proportion of times observation </a:t>
                </a:r>
                <a14:m>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oMath>
                </a14:m>
                <a:r>
                  <a:rPr lang="en-US" sz="1800" dirty="0">
                    <a:effectLst/>
                    <a:latin typeface="Georgia" panose="02040502050405020303" pitchFamily="18" charset="0"/>
                    <a:ea typeface="Calibri" panose="020F0502020204030204" pitchFamily="34" charset="0"/>
                    <a:cs typeface="Times New Roman" panose="02020603050405020304" pitchFamily="18" charset="0"/>
                  </a:rPr>
                  <a:t> and </a:t>
                </a:r>
                <a14:m>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𝑗</m:t>
                    </m:r>
                  </m:oMath>
                </a14:m>
                <a:r>
                  <a:rPr lang="en-US" sz="1800" dirty="0">
                    <a:effectLst/>
                    <a:latin typeface="Georgia" panose="02040502050405020303" pitchFamily="18" charset="0"/>
                    <a:ea typeface="Calibri" panose="020F0502020204030204" pitchFamily="34" charset="0"/>
                    <a:cs typeface="Times New Roman" panose="02020603050405020304" pitchFamily="18" charset="0"/>
                  </a:rPr>
                  <a:t> where in the same terminal node. </a:t>
                </a:r>
              </a:p>
              <a:p>
                <a:r>
                  <a:rPr lang="en-US" sz="1800" dirty="0">
                    <a:effectLst/>
                    <a:latin typeface="Georgia" panose="02040502050405020303" pitchFamily="18" charset="0"/>
                    <a:ea typeface="Calibri" panose="020F0502020204030204" pitchFamily="34" charset="0"/>
                    <a:cs typeface="Times New Roman" panose="02020603050405020304" pitchFamily="18" charset="0"/>
                  </a:rPr>
                  <a:t>For example, if 100 trees were fit and the </a:t>
                </a:r>
                <a14:m>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sSup>
                      <m:sSupPr>
                        <m:ctrlPr>
                          <a:rPr lang="en-CA"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𝑗</m:t>
                        </m:r>
                      </m:e>
                      <m:sup>
                        <m:r>
                          <m:rPr>
                            <m:nor/>
                          </m:rPr>
                          <a:rPr lang="en-US" sz="1800">
                            <a:effectLst/>
                            <a:latin typeface="Georgia" panose="02040502050405020303" pitchFamily="18" charset="0"/>
                            <a:ea typeface="Calibri" panose="020F0502020204030204" pitchFamily="34" charset="0"/>
                            <a:cs typeface="Times New Roman" panose="02020603050405020304" pitchFamily="18" charset="0"/>
                          </a:rPr>
                          <m:t>th</m:t>
                        </m:r>
                        <m:r>
                          <m:rPr>
                            <m:nor/>
                          </m:rPr>
                          <a:rPr lang="en-US" sz="1800" i="1">
                            <a:effectLst/>
                            <a:latin typeface="Calibri" panose="020F0502020204030204" pitchFamily="34" charset="0"/>
                            <a:ea typeface="Calibri" panose="020F0502020204030204" pitchFamily="34" charset="0"/>
                            <a:cs typeface="Times New Roman" panose="02020603050405020304" pitchFamily="18" charset="0"/>
                          </a:rPr>
                          <m:t> </m:t>
                        </m:r>
                      </m:sup>
                    </m:sSup>
                  </m:oMath>
                </a14:m>
                <a:r>
                  <a:rPr lang="en-US" sz="1800" dirty="0">
                    <a:effectLst/>
                    <a:latin typeface="Georgia" panose="02040502050405020303" pitchFamily="18" charset="0"/>
                    <a:ea typeface="Calibri" panose="020F0502020204030204" pitchFamily="34" charset="0"/>
                    <a:cs typeface="Times New Roman" panose="02020603050405020304" pitchFamily="18" charset="0"/>
                  </a:rPr>
                  <a:t> entry is 0.9 , it means 90 times out of 100 observation </a:t>
                </a:r>
                <a14:m>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oMath>
                </a14:m>
                <a:r>
                  <a:rPr lang="en-US" sz="1800" dirty="0">
                    <a:effectLst/>
                    <a:latin typeface="Georgia" panose="02040502050405020303" pitchFamily="18" charset="0"/>
                    <a:ea typeface="Calibri" panose="020F0502020204030204" pitchFamily="34" charset="0"/>
                    <a:cs typeface="Times New Roman" panose="02020603050405020304" pitchFamily="18" charset="0"/>
                  </a:rPr>
                  <a:t> and </a:t>
                </a:r>
                <a14:m>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𝑗</m:t>
                    </m:r>
                  </m:oMath>
                </a14:m>
                <a:r>
                  <a:rPr lang="en-US" sz="1800" dirty="0">
                    <a:effectLst/>
                    <a:latin typeface="Georgia" panose="02040502050405020303" pitchFamily="18" charset="0"/>
                    <a:ea typeface="Calibri" panose="020F0502020204030204" pitchFamily="34" charset="0"/>
                    <a:cs typeface="Times New Roman" panose="02020603050405020304" pitchFamily="18" charset="0"/>
                  </a:rPr>
                  <a:t> where in the same terminal node. </a:t>
                </a:r>
              </a:p>
              <a:p>
                <a:r>
                  <a:rPr lang="en-US" sz="1800" dirty="0">
                    <a:effectLst/>
                    <a:latin typeface="Georgia" panose="02040502050405020303" pitchFamily="18" charset="0"/>
                    <a:ea typeface="Calibri" panose="020F0502020204030204" pitchFamily="34" charset="0"/>
                    <a:cs typeface="Times New Roman" panose="02020603050405020304" pitchFamily="18" charset="0"/>
                  </a:rPr>
                  <a:t>With this matrix we can then perform a normal clustering procedure such as </a:t>
                </a:r>
                <a:r>
                  <a:rPr lang="en-US" sz="1800" dirty="0" err="1">
                    <a:effectLst/>
                    <a:latin typeface="Georgia" panose="02040502050405020303" pitchFamily="18" charset="0"/>
                    <a:ea typeface="Calibri" panose="020F0502020204030204" pitchFamily="34" charset="0"/>
                    <a:cs typeface="Times New Roman" panose="02020603050405020304" pitchFamily="18" charset="0"/>
                  </a:rPr>
                  <a:t>kmeans</a:t>
                </a:r>
                <a:r>
                  <a:rPr lang="en-US" sz="1800" dirty="0">
                    <a:effectLst/>
                    <a:latin typeface="Georgia" panose="02040502050405020303" pitchFamily="18" charset="0"/>
                    <a:ea typeface="Calibri" panose="020F0502020204030204" pitchFamily="34" charset="0"/>
                    <a:cs typeface="Times New Roman" panose="02020603050405020304" pitchFamily="18" charset="0"/>
                  </a:rPr>
                  <a:t> or PAM (number of cool things could be done once the proximity matrix is created).</a:t>
                </a:r>
                <a:endParaRPr lang="en-CA" sz="1800" dirty="0">
                  <a:effectLst/>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4D7E5ED2-7911-C7F2-B94D-54D59C8C7ED4}"/>
                  </a:ext>
                </a:extLst>
              </p:cNvPr>
              <p:cNvSpPr>
                <a:spLocks noGrp="1" noRot="1" noChangeAspect="1" noMove="1" noResize="1" noEditPoints="1" noAdjustHandles="1" noChangeArrowheads="1" noChangeShapeType="1" noTextEdit="1"/>
              </p:cNvSpPr>
              <p:nvPr>
                <p:ph idx="1"/>
              </p:nvPr>
            </p:nvSpPr>
            <p:spPr>
              <a:blipFill>
                <a:blip r:embed="rId2"/>
                <a:stretch>
                  <a:fillRect l="-570" t="-671" r="-712"/>
                </a:stretch>
              </a:blipFill>
            </p:spPr>
            <p:txBody>
              <a:bodyPr/>
              <a:lstStyle/>
              <a:p>
                <a:r>
                  <a:rPr lang="en-US">
                    <a:noFill/>
                  </a:rPr>
                  <a:t> </a:t>
                </a:r>
              </a:p>
            </p:txBody>
          </p:sp>
        </mc:Fallback>
      </mc:AlternateContent>
    </p:spTree>
    <p:extLst>
      <p:ext uri="{BB962C8B-B14F-4D97-AF65-F5344CB8AC3E}">
        <p14:creationId xmlns:p14="http://schemas.microsoft.com/office/powerpoint/2010/main" val="167377140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{A58C2E6C-B5B5-B64A-81ED-B2CF8874C4E4}tf10001069</Template>
  <TotalTime>387</TotalTime>
  <Words>1534</Words>
  <Application>Microsoft Macintosh PowerPoint</Application>
  <PresentationFormat>Widescreen</PresentationFormat>
  <Paragraphs>73</Paragraphs>
  <Slides>17</Slides>
  <Notes>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17</vt:i4>
      </vt:variant>
    </vt:vector>
  </HeadingPairs>
  <TitlesOfParts>
    <vt:vector size="31" baseType="lpstr">
      <vt:lpstr>-apple-system</vt:lpstr>
      <vt:lpstr>Aptos</vt:lpstr>
      <vt:lpstr>Arial</vt:lpstr>
      <vt:lpstr>Calibri</vt:lpstr>
      <vt:lpstr>Cambria Math</vt:lpstr>
      <vt:lpstr>Century Gothic</vt:lpstr>
      <vt:lpstr>Consolas</vt:lpstr>
      <vt:lpstr>Georgia</vt:lpstr>
      <vt:lpstr>Helvetica Neue</vt:lpstr>
      <vt:lpstr>IBM Plex Sans</vt:lpstr>
      <vt:lpstr>inherit</vt:lpstr>
      <vt:lpstr>Raleway</vt:lpstr>
      <vt:lpstr>Wingdings 3</vt:lpstr>
      <vt:lpstr>Wisp</vt:lpstr>
      <vt:lpstr>Random Forest</vt:lpstr>
      <vt:lpstr>Overview</vt:lpstr>
      <vt:lpstr>Features of Radom Forests</vt:lpstr>
      <vt:lpstr>Use cases</vt:lpstr>
      <vt:lpstr>Algorithm</vt:lpstr>
      <vt:lpstr>Split-variable randomization</vt:lpstr>
      <vt:lpstr>Tuning and Hyperparameters</vt:lpstr>
      <vt:lpstr>Two training methods – 1: Using OOB errors</vt:lpstr>
      <vt:lpstr>Using OOB errors - Regression</vt:lpstr>
      <vt:lpstr>Using OOB errors - Classification</vt:lpstr>
      <vt:lpstr>Using OOB errors – Classification (AUC)</vt:lpstr>
      <vt:lpstr>Two training methods – 2: Using test set</vt:lpstr>
      <vt:lpstr>Interpretation: Mean Decrease in Impurity (MDI) </vt:lpstr>
      <vt:lpstr>Interpretation: Mean Decrease in Accuracy (MDA) </vt:lpstr>
      <vt:lpstr>randomForestExplainer</vt:lpstr>
      <vt:lpstr>Partial dependence plots (PDPs)</vt:lpstr>
      <vt:lpstr>Unsupervised Random Forest (Appendix)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Random Forest</dc:title>
  <dc:creator>Yigit Aydede</dc:creator>
  <cp:lastModifiedBy>Yigit Aydede</cp:lastModifiedBy>
  <cp:revision>10</cp:revision>
  <dcterms:created xsi:type="dcterms:W3CDTF">2023-03-26T15:27:19Z</dcterms:created>
  <dcterms:modified xsi:type="dcterms:W3CDTF">2025-03-03T11:09:59Z</dcterms:modified>
</cp:coreProperties>
</file>