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73" r:id="rId4"/>
    <p:sldMasterId id="2147483795" r:id="rId5"/>
  </p:sldMasterIdLst>
  <p:notesMasterIdLst>
    <p:notesMasterId r:id="rId26"/>
  </p:notesMasterIdLst>
  <p:handoutMasterIdLst>
    <p:handoutMasterId r:id="rId27"/>
  </p:handoutMasterIdLst>
  <p:sldIdLst>
    <p:sldId id="290" r:id="rId6"/>
    <p:sldId id="493" r:id="rId7"/>
    <p:sldId id="495" r:id="rId8"/>
    <p:sldId id="496" r:id="rId9"/>
    <p:sldId id="497" r:id="rId10"/>
    <p:sldId id="494" r:id="rId11"/>
    <p:sldId id="498" r:id="rId12"/>
    <p:sldId id="499" r:id="rId13"/>
    <p:sldId id="500" r:id="rId14"/>
    <p:sldId id="501" r:id="rId15"/>
    <p:sldId id="503" r:id="rId16"/>
    <p:sldId id="502" r:id="rId17"/>
    <p:sldId id="507" r:id="rId18"/>
    <p:sldId id="504" r:id="rId19"/>
    <p:sldId id="505" r:id="rId20"/>
    <p:sldId id="508" r:id="rId21"/>
    <p:sldId id="509" r:id="rId22"/>
    <p:sldId id="510" r:id="rId23"/>
    <p:sldId id="506" r:id="rId24"/>
    <p:sldId id="475" r:id="rId25"/>
  </p:sldIdLst>
  <p:sldSz cx="12192000" cy="6858000"/>
  <p:notesSz cx="6858000" cy="9144000"/>
  <p:embeddedFontLst>
    <p:embeddedFont>
      <p:font typeface="Arial Black" panose="020B0A04020102020204" pitchFamily="34" charset="0"/>
      <p:bold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14966C77-95E5-1E49-B131-2F9202CDF0C1}">
          <p14:sldIdLst>
            <p14:sldId id="290"/>
          </p14:sldIdLst>
        </p14:section>
        <p14:section name="Presentation" id="{9C487E9F-D4EB-EB42-B385-3CDF030F4242}">
          <p14:sldIdLst>
            <p14:sldId id="493"/>
            <p14:sldId id="495"/>
            <p14:sldId id="496"/>
            <p14:sldId id="497"/>
            <p14:sldId id="494"/>
            <p14:sldId id="498"/>
            <p14:sldId id="499"/>
            <p14:sldId id="500"/>
            <p14:sldId id="501"/>
            <p14:sldId id="503"/>
            <p14:sldId id="502"/>
            <p14:sldId id="507"/>
            <p14:sldId id="504"/>
            <p14:sldId id="505"/>
            <p14:sldId id="508"/>
            <p14:sldId id="509"/>
            <p14:sldId id="510"/>
            <p14:sldId id="506"/>
            <p14:sldId id="4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A83934F-2BC0-1588-E986-F9EF5995AB8B}" name="Margaret Murphy" initials="MM" userId="S::Margaret.Murphy@smu.ca::1c5a68ef-e9f5-4d75-aa17-d402a31635af" providerId="AD"/>
  <p188:author id="{D79F8BE3-B503-55B1-C2C3-4870E081325C}" name="Nadine LaRoche" initials="NL" userId="S::nadine.laroche@smu.ca::c7099506-2b9b-4cb9-a512-27782df0d03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2141"/>
    <a:srgbClr val="BB1B33"/>
    <a:srgbClr val="5F0A3E"/>
    <a:srgbClr val="EEDC00"/>
    <a:srgbClr val="00A2C7"/>
    <a:srgbClr val="72A300"/>
    <a:srgbClr val="FF6A14"/>
    <a:srgbClr val="9D2235"/>
    <a:srgbClr val="911330"/>
    <a:srgbClr val="2B2E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3"/>
  </p:normalViewPr>
  <p:slideViewPr>
    <p:cSldViewPr snapToGrid="0">
      <p:cViewPr varScale="1">
        <p:scale>
          <a:sx n="106" d="100"/>
          <a:sy n="106" d="100"/>
        </p:scale>
        <p:origin x="756" y="11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font" Target="fonts/font1.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DF4323-3BF0-95F4-7460-74AA9630418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E97145D2-7B56-E808-6C80-2F1E66D2188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721F4E-852C-4843-848B-65B72FDCC89C}" type="datetimeFigureOut">
              <a:rPr lang="en-CA" smtClean="0"/>
              <a:t>2026-01-18</a:t>
            </a:fld>
            <a:endParaRPr lang="en-CA"/>
          </a:p>
        </p:txBody>
      </p:sp>
      <p:sp>
        <p:nvSpPr>
          <p:cNvPr id="4" name="Footer Placeholder 3">
            <a:extLst>
              <a:ext uri="{FF2B5EF4-FFF2-40B4-BE49-F238E27FC236}">
                <a16:creationId xmlns:a16="http://schemas.microsoft.com/office/drawing/2014/main" id="{98E5F336-B085-CC83-95AF-CE57BE7728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98D9F14A-8744-1B49-D51E-4617ED3F4AA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51E18B-2064-4377-9E3F-6D274F9CD1BD}" type="slidenum">
              <a:rPr lang="en-CA" smtClean="0"/>
              <a:t>‹#›</a:t>
            </a:fld>
            <a:endParaRPr lang="en-CA"/>
          </a:p>
        </p:txBody>
      </p:sp>
    </p:spTree>
    <p:extLst>
      <p:ext uri="{BB962C8B-B14F-4D97-AF65-F5344CB8AC3E}">
        <p14:creationId xmlns:p14="http://schemas.microsoft.com/office/powerpoint/2010/main" val="25073060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B6FF8-7EE2-8344-B6A5-C9AE38CA73C7}" type="datetimeFigureOut">
              <a:rPr lang="en-US" smtClean="0"/>
              <a:t>1/18/2026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F60C5B-9251-0E4E-A71E-273408E7D990}" type="slidenum">
              <a:rPr lang="en-US" smtClean="0"/>
              <a:t>‹#›</a:t>
            </a:fld>
            <a:endParaRPr lang="en-US"/>
          </a:p>
        </p:txBody>
      </p:sp>
    </p:spTree>
    <p:extLst>
      <p:ext uri="{BB962C8B-B14F-4D97-AF65-F5344CB8AC3E}">
        <p14:creationId xmlns:p14="http://schemas.microsoft.com/office/powerpoint/2010/main" val="376265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CA">
              <a:ea typeface="Calibri"/>
              <a:cs typeface="Calibri"/>
            </a:endParaRPr>
          </a:p>
          <a:p>
            <a:endParaRPr lang="en-CA"/>
          </a:p>
        </p:txBody>
      </p:sp>
      <p:sp>
        <p:nvSpPr>
          <p:cNvPr id="4" name="Slide Number Placeholder 3"/>
          <p:cNvSpPr>
            <a:spLocks noGrp="1"/>
          </p:cNvSpPr>
          <p:nvPr>
            <p:ph type="sldNum" sz="quarter" idx="5"/>
          </p:nvPr>
        </p:nvSpPr>
        <p:spPr/>
        <p:txBody>
          <a:bodyPr/>
          <a:lstStyle/>
          <a:p>
            <a:fld id="{0DF60C5B-9251-0E4E-A71E-273408E7D990}" type="slidenum">
              <a:rPr lang="en-US" smtClean="0"/>
              <a:t>1</a:t>
            </a:fld>
            <a:endParaRPr lang="en-US"/>
          </a:p>
        </p:txBody>
      </p:sp>
    </p:spTree>
    <p:extLst>
      <p:ext uri="{BB962C8B-B14F-4D97-AF65-F5344CB8AC3E}">
        <p14:creationId xmlns:p14="http://schemas.microsoft.com/office/powerpoint/2010/main" val="3635520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DF60C5B-9251-0E4E-A71E-273408E7D990}" type="slidenum">
              <a:rPr lang="en-US" smtClean="0"/>
              <a:t>2</a:t>
            </a:fld>
            <a:endParaRPr lang="en-US"/>
          </a:p>
        </p:txBody>
      </p:sp>
    </p:spTree>
    <p:extLst>
      <p:ext uri="{BB962C8B-B14F-4D97-AF65-F5344CB8AC3E}">
        <p14:creationId xmlns:p14="http://schemas.microsoft.com/office/powerpoint/2010/main" val="3152015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BF102-3E23-31E2-89B1-6D10E76D6A30}"/>
              </a:ext>
            </a:extLst>
          </p:cNvPr>
          <p:cNvSpPr>
            <a:spLocks noGrp="1"/>
          </p:cNvSpPr>
          <p:nvPr>
            <p:ph type="ctrTitle"/>
          </p:nvPr>
        </p:nvSpPr>
        <p:spPr>
          <a:xfrm>
            <a:off x="1524000" y="1122363"/>
            <a:ext cx="9144000" cy="2387600"/>
          </a:xfrm>
        </p:spPr>
        <p:txBody>
          <a:bodyPr anchor="b">
            <a:normAutofit/>
          </a:bodyPr>
          <a:lstStyle>
            <a:lvl1pPr algn="ctr">
              <a:defRPr sz="4200">
                <a:solidFill>
                  <a:srgbClr val="5F0A3E"/>
                </a:solidFill>
              </a:defRPr>
            </a:lvl1pPr>
          </a:lstStyle>
          <a:p>
            <a:r>
              <a:rPr lang="en-US"/>
              <a:t>Click to edit Master title style</a:t>
            </a:r>
          </a:p>
        </p:txBody>
      </p:sp>
      <p:sp>
        <p:nvSpPr>
          <p:cNvPr id="3" name="Subtitle 2">
            <a:extLst>
              <a:ext uri="{FF2B5EF4-FFF2-40B4-BE49-F238E27FC236}">
                <a16:creationId xmlns:a16="http://schemas.microsoft.com/office/drawing/2014/main" id="{E10CE49A-F308-F906-57BF-301518EDB371}"/>
              </a:ext>
            </a:extLst>
          </p:cNvPr>
          <p:cNvSpPr>
            <a:spLocks noGrp="1"/>
          </p:cNvSpPr>
          <p:nvPr>
            <p:ph type="subTitle" idx="1"/>
          </p:nvPr>
        </p:nvSpPr>
        <p:spPr>
          <a:xfrm>
            <a:off x="1524000" y="3602038"/>
            <a:ext cx="9144000" cy="1655762"/>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C2DB8F-3E2D-066F-06A0-BAC3A512485A}"/>
              </a:ext>
            </a:extLst>
          </p:cNvPr>
          <p:cNvSpPr>
            <a:spLocks noGrp="1"/>
          </p:cNvSpPr>
          <p:nvPr>
            <p:ph type="dt" sz="half" idx="10"/>
          </p:nvPr>
        </p:nvSpPr>
        <p:spPr/>
        <p:txBody>
          <a:bodyPr/>
          <a:lstStyle/>
          <a:p>
            <a:fld id="{93D1B2C0-1FD5-7B40-B252-D9944AD07450}" type="datetimeFigureOut">
              <a:rPr lang="en-US" smtClean="0"/>
              <a:t>1/18/2026</a:t>
            </a:fld>
            <a:endParaRPr lang="en-US"/>
          </a:p>
        </p:txBody>
      </p:sp>
      <p:sp>
        <p:nvSpPr>
          <p:cNvPr id="5" name="Footer Placeholder 4">
            <a:extLst>
              <a:ext uri="{FF2B5EF4-FFF2-40B4-BE49-F238E27FC236}">
                <a16:creationId xmlns:a16="http://schemas.microsoft.com/office/drawing/2014/main" id="{706529B2-49CA-4E66-3564-88DFBB70E3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90FC01-E720-407D-5043-01DA805881E1}"/>
              </a:ext>
            </a:extLst>
          </p:cNvPr>
          <p:cNvSpPr>
            <a:spLocks noGrp="1"/>
          </p:cNvSpPr>
          <p:nvPr>
            <p:ph type="sldNum" sz="quarter" idx="12"/>
          </p:nvPr>
        </p:nvSpPr>
        <p:spPr/>
        <p:txBody>
          <a:bodyPr/>
          <a:lstStyle/>
          <a:p>
            <a:fld id="{FDC0A681-0EFA-2C42-B0CE-6F23BA4C0A49}" type="slidenum">
              <a:rPr lang="en-US" smtClean="0"/>
              <a:t>‹#›</a:t>
            </a:fld>
            <a:endParaRPr lang="en-US"/>
          </a:p>
        </p:txBody>
      </p:sp>
    </p:spTree>
    <p:extLst>
      <p:ext uri="{BB962C8B-B14F-4D97-AF65-F5344CB8AC3E}">
        <p14:creationId xmlns:p14="http://schemas.microsoft.com/office/powerpoint/2010/main" val="1916852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80603A-465B-D048-A17D-E0BC88D932E2}"/>
              </a:ext>
            </a:extLst>
          </p:cNvPr>
          <p:cNvSpPr/>
          <p:nvPr userDrawn="1"/>
        </p:nvSpPr>
        <p:spPr>
          <a:xfrm>
            <a:off x="0" y="0"/>
            <a:ext cx="12192000" cy="5738648"/>
          </a:xfrm>
          <a:prstGeom prst="rect">
            <a:avLst/>
          </a:prstGeom>
          <a:solidFill>
            <a:srgbClr val="612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612141"/>
              </a:solidFill>
            </a:endParaRPr>
          </a:p>
        </p:txBody>
      </p:sp>
      <p:pic>
        <p:nvPicPr>
          <p:cNvPr id="3" name="Picture 2" descr="A picture containing text, sign&#10;&#10;Description automatically generated">
            <a:extLst>
              <a:ext uri="{FF2B5EF4-FFF2-40B4-BE49-F238E27FC236}">
                <a16:creationId xmlns:a16="http://schemas.microsoft.com/office/drawing/2014/main" id="{7465B2A5-17AC-534F-998D-982C6FA1F47E}"/>
              </a:ext>
            </a:extLst>
          </p:cNvPr>
          <p:cNvPicPr>
            <a:picLocks noChangeAspect="1"/>
          </p:cNvPicPr>
          <p:nvPr userDrawn="1"/>
        </p:nvPicPr>
        <p:blipFill>
          <a:blip r:embed="rId2"/>
          <a:stretch>
            <a:fillRect/>
          </a:stretch>
        </p:blipFill>
        <p:spPr>
          <a:xfrm>
            <a:off x="9990508" y="6036270"/>
            <a:ext cx="1753043" cy="518506"/>
          </a:xfrm>
          <a:prstGeom prst="rect">
            <a:avLst/>
          </a:prstGeom>
        </p:spPr>
      </p:pic>
      <p:pic>
        <p:nvPicPr>
          <p:cNvPr id="4" name="Picture 3" descr="Shape&#10;&#10;Description automatically generated">
            <a:extLst>
              <a:ext uri="{FF2B5EF4-FFF2-40B4-BE49-F238E27FC236}">
                <a16:creationId xmlns:a16="http://schemas.microsoft.com/office/drawing/2014/main" id="{F779E60D-13A1-644B-A835-FD02D32D669B}"/>
              </a:ext>
            </a:extLst>
          </p:cNvPr>
          <p:cNvPicPr>
            <a:picLocks noChangeAspect="1"/>
          </p:cNvPicPr>
          <p:nvPr userDrawn="1"/>
        </p:nvPicPr>
        <p:blipFill rotWithShape="1">
          <a:blip r:embed="rId3"/>
          <a:srcRect l="26182"/>
          <a:stretch/>
        </p:blipFill>
        <p:spPr>
          <a:xfrm>
            <a:off x="0" y="3897246"/>
            <a:ext cx="9553262" cy="2879292"/>
          </a:xfrm>
          <a:prstGeom prst="rect">
            <a:avLst/>
          </a:prstGeom>
        </p:spPr>
      </p:pic>
      <p:sp>
        <p:nvSpPr>
          <p:cNvPr id="7" name="Title 1">
            <a:extLst>
              <a:ext uri="{FF2B5EF4-FFF2-40B4-BE49-F238E27FC236}">
                <a16:creationId xmlns:a16="http://schemas.microsoft.com/office/drawing/2014/main" id="{938C8071-8435-B248-8CC4-8CC2D6D75346}"/>
              </a:ext>
            </a:extLst>
          </p:cNvPr>
          <p:cNvSpPr>
            <a:spLocks noGrp="1"/>
          </p:cNvSpPr>
          <p:nvPr>
            <p:ph type="title"/>
          </p:nvPr>
        </p:nvSpPr>
        <p:spPr>
          <a:xfrm>
            <a:off x="957942" y="1794923"/>
            <a:ext cx="9140215" cy="834630"/>
          </a:xfrm>
          <a:prstGeom prst="rect">
            <a:avLst/>
          </a:prstGeom>
        </p:spPr>
        <p:txBody>
          <a:bodyPr anchor="b">
            <a:normAutofit/>
          </a:bodyPr>
          <a:lstStyle>
            <a:lvl1pPr algn="l">
              <a:defRPr sz="4200" b="0">
                <a:solidFill>
                  <a:schemeClr val="bg1"/>
                </a:solidFill>
                <a:latin typeface="Arial Black" panose="020B0A04020102020204" pitchFamily="34" charset="0"/>
              </a:defRPr>
            </a:lvl1pPr>
          </a:lstStyle>
          <a:p>
            <a:r>
              <a:rPr lang="en-US"/>
              <a:t>Click to edit Master title style</a:t>
            </a:r>
          </a:p>
        </p:txBody>
      </p:sp>
      <p:sp>
        <p:nvSpPr>
          <p:cNvPr id="8" name="Text Placeholder 2">
            <a:extLst>
              <a:ext uri="{FF2B5EF4-FFF2-40B4-BE49-F238E27FC236}">
                <a16:creationId xmlns:a16="http://schemas.microsoft.com/office/drawing/2014/main" id="{9DB37785-45C8-AE4A-9166-6D7F52963688}"/>
              </a:ext>
            </a:extLst>
          </p:cNvPr>
          <p:cNvSpPr>
            <a:spLocks noGrp="1"/>
          </p:cNvSpPr>
          <p:nvPr>
            <p:ph type="body" idx="1"/>
          </p:nvPr>
        </p:nvSpPr>
        <p:spPr>
          <a:xfrm>
            <a:off x="957942" y="2867819"/>
            <a:ext cx="6088901" cy="461666"/>
          </a:xfrm>
        </p:spPr>
        <p:txBody>
          <a:bodyPr/>
          <a:lstStyle>
            <a:lvl1pPr marL="0" indent="0">
              <a:buNone/>
              <a:defRPr sz="2400">
                <a:solidFill>
                  <a:schemeClr val="bg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556643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DC5CD5-7EC1-FE4D-BB82-8485AC698AC7}"/>
              </a:ext>
            </a:extLst>
          </p:cNvPr>
          <p:cNvSpPr/>
          <p:nvPr userDrawn="1"/>
        </p:nvSpPr>
        <p:spPr>
          <a:xfrm>
            <a:off x="0" y="0"/>
            <a:ext cx="12192000" cy="6858000"/>
          </a:xfrm>
          <a:prstGeom prst="rect">
            <a:avLst/>
          </a:prstGeom>
          <a:solidFill>
            <a:srgbClr val="61214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3FF1A6-E974-CA44-972F-ABD12FC73ECB}"/>
              </a:ext>
            </a:extLst>
          </p:cNvPr>
          <p:cNvSpPr>
            <a:spLocks noGrp="1"/>
          </p:cNvSpPr>
          <p:nvPr>
            <p:ph type="title"/>
          </p:nvPr>
        </p:nvSpPr>
        <p:spPr>
          <a:xfrm>
            <a:off x="2322581" y="3011685"/>
            <a:ext cx="7546837" cy="834630"/>
          </a:xfrm>
          <a:prstGeom prst="rect">
            <a:avLst/>
          </a:prstGeom>
        </p:spPr>
        <p:txBody>
          <a:bodyPr anchor="b">
            <a:normAutofit/>
          </a:bodyPr>
          <a:lstStyle>
            <a:lvl1pPr algn="ctr">
              <a:defRPr sz="4200" b="0">
                <a:solidFill>
                  <a:schemeClr val="bg1"/>
                </a:solidFill>
                <a:latin typeface="Arial Black" panose="020B0A04020102020204" pitchFamily="34" charset="0"/>
              </a:defRPr>
            </a:lvl1pPr>
          </a:lstStyle>
          <a:p>
            <a:r>
              <a:rPr lang="en-US"/>
              <a:t>Click to edit Master title</a:t>
            </a:r>
          </a:p>
        </p:txBody>
      </p:sp>
    </p:spTree>
    <p:extLst>
      <p:ext uri="{BB962C8B-B14F-4D97-AF65-F5344CB8AC3E}">
        <p14:creationId xmlns:p14="http://schemas.microsoft.com/office/powerpoint/2010/main" val="3570308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ub 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DBFF5A7-AD8A-4F41-AA2A-46D7A544F5F3}"/>
              </a:ext>
            </a:extLst>
          </p:cNvPr>
          <p:cNvSpPr/>
          <p:nvPr userDrawn="1"/>
        </p:nvSpPr>
        <p:spPr>
          <a:xfrm>
            <a:off x="0" y="0"/>
            <a:ext cx="12192000" cy="6858000"/>
          </a:xfrm>
          <a:prstGeom prst="rect">
            <a:avLst/>
          </a:prstGeom>
          <a:solidFill>
            <a:srgbClr val="5F0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E3A2FE9-F0FD-3E41-B8AF-2580AE51F119}"/>
              </a:ext>
            </a:extLst>
          </p:cNvPr>
          <p:cNvPicPr>
            <a:picLocks noChangeAspect="1"/>
          </p:cNvPicPr>
          <p:nvPr userDrawn="1"/>
        </p:nvPicPr>
        <p:blipFill rotWithShape="1">
          <a:blip r:embed="rId2">
            <a:alphaModFix amt="20000"/>
          </a:blip>
          <a:srcRect t="12302" r="18707" b="20095"/>
          <a:stretch/>
        </p:blipFill>
        <p:spPr>
          <a:xfrm>
            <a:off x="3921800" y="0"/>
            <a:ext cx="8270200" cy="6858000"/>
          </a:xfrm>
          <a:prstGeom prst="rect">
            <a:avLst/>
          </a:prstGeom>
        </p:spPr>
      </p:pic>
      <p:sp>
        <p:nvSpPr>
          <p:cNvPr id="2" name="Title 1">
            <a:extLst>
              <a:ext uri="{FF2B5EF4-FFF2-40B4-BE49-F238E27FC236}">
                <a16:creationId xmlns:a16="http://schemas.microsoft.com/office/drawing/2014/main" id="{7EEA496E-B445-F84B-9139-A2B6AB2ADA2C}"/>
              </a:ext>
            </a:extLst>
          </p:cNvPr>
          <p:cNvSpPr>
            <a:spLocks noGrp="1"/>
          </p:cNvSpPr>
          <p:nvPr>
            <p:ph type="ctrTitle"/>
          </p:nvPr>
        </p:nvSpPr>
        <p:spPr>
          <a:xfrm>
            <a:off x="838200" y="2136914"/>
            <a:ext cx="8444948" cy="806366"/>
          </a:xfrm>
          <a:prstGeom prst="rect">
            <a:avLst/>
          </a:prstGeom>
        </p:spPr>
        <p:txBody>
          <a:bodyPr anchor="b">
            <a:normAutofit/>
          </a:bodyPr>
          <a:lstStyle>
            <a:lvl1pPr algn="l">
              <a:defRPr sz="4200" b="1">
                <a:solidFill>
                  <a:schemeClr val="bg1"/>
                </a:solidFill>
                <a:latin typeface="+mj-lt"/>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906543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Full Page No Cre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A6D71-36B5-AC48-9B7E-3F5F53D9DD47}"/>
              </a:ext>
            </a:extLst>
          </p:cNvPr>
          <p:cNvSpPr>
            <a:spLocks noGrp="1"/>
          </p:cNvSpPr>
          <p:nvPr>
            <p:ph type="title"/>
          </p:nvPr>
        </p:nvSpPr>
        <p:spPr>
          <a:xfrm>
            <a:off x="695130" y="729734"/>
            <a:ext cx="10801740" cy="612052"/>
          </a:xfrm>
          <a:prstGeom prst="rect">
            <a:avLst/>
          </a:prstGeom>
        </p:spPr>
        <p:txBody>
          <a:bodyPr>
            <a:noAutofit/>
          </a:bodyPr>
          <a:lstStyle>
            <a:lvl1pPr>
              <a:defRPr sz="3200" b="1">
                <a:solidFill>
                  <a:srgbClr val="612141"/>
                </a:solidFill>
                <a:latin typeface="+mj-lt"/>
                <a:cs typeface="Arial" panose="020B0604020202020204" pitchFamily="34" charset="0"/>
              </a:defRPr>
            </a:lvl1pPr>
          </a:lstStyle>
          <a:p>
            <a:r>
              <a:rPr lang="en-US"/>
              <a:t>Click to edit Master title</a:t>
            </a:r>
          </a:p>
        </p:txBody>
      </p:sp>
      <p:sp>
        <p:nvSpPr>
          <p:cNvPr id="9" name="Content Placeholder 3">
            <a:extLst>
              <a:ext uri="{FF2B5EF4-FFF2-40B4-BE49-F238E27FC236}">
                <a16:creationId xmlns:a16="http://schemas.microsoft.com/office/drawing/2014/main" id="{701B0FE1-4AFD-C544-8ECF-5525E9A58923}"/>
              </a:ext>
            </a:extLst>
          </p:cNvPr>
          <p:cNvSpPr>
            <a:spLocks noGrp="1"/>
          </p:cNvSpPr>
          <p:nvPr>
            <p:ph sz="half" idx="2"/>
          </p:nvPr>
        </p:nvSpPr>
        <p:spPr>
          <a:xfrm>
            <a:off x="695130" y="1461795"/>
            <a:ext cx="10801740" cy="4570426"/>
          </a:xfrm>
          <a:prstGeom prst="rect">
            <a:avLst/>
          </a:prstGeom>
        </p:spPr>
        <p:txBody>
          <a:bodyPr numCol="2" spcCol="324000">
            <a:normAutofit/>
          </a:bodyPr>
          <a:lstStyle>
            <a:lvl1pPr marL="0" indent="0">
              <a:lnSpc>
                <a:spcPct val="100000"/>
              </a:lnSpc>
              <a:spcAft>
                <a:spcPts val="600"/>
              </a:spcAft>
              <a:buNone/>
              <a:defRPr sz="1500">
                <a:latin typeface="Arial" panose="020B0604020202020204" pitchFamily="34" charset="0"/>
                <a:cs typeface="Arial" panose="020B0604020202020204" pitchFamily="34" charset="0"/>
              </a:defRPr>
            </a:lvl1pPr>
            <a:lvl2pPr>
              <a:lnSpc>
                <a:spcPct val="100000"/>
              </a:lnSpc>
              <a:spcAft>
                <a:spcPts val="600"/>
              </a:spcAft>
              <a:defRPr sz="1500">
                <a:latin typeface="Arial" panose="020B0604020202020204" pitchFamily="34" charset="0"/>
                <a:cs typeface="Arial" panose="020B0604020202020204" pitchFamily="34" charset="0"/>
              </a:defRPr>
            </a:lvl2pPr>
            <a:lvl3pPr>
              <a:lnSpc>
                <a:spcPct val="100000"/>
              </a:lnSpc>
              <a:spcAft>
                <a:spcPts val="600"/>
              </a:spcAft>
              <a:defRPr sz="1500">
                <a:latin typeface="Arial" panose="020B0604020202020204" pitchFamily="34" charset="0"/>
                <a:cs typeface="Arial" panose="020B0604020202020204" pitchFamily="34" charset="0"/>
              </a:defRPr>
            </a:lvl3pPr>
            <a:lvl4pPr>
              <a:lnSpc>
                <a:spcPct val="100000"/>
              </a:lnSpc>
              <a:spcAft>
                <a:spcPts val="600"/>
              </a:spcAft>
              <a:defRPr sz="1500">
                <a:latin typeface="Arial" panose="020B0604020202020204" pitchFamily="34" charset="0"/>
                <a:cs typeface="Arial" panose="020B0604020202020204" pitchFamily="34" charset="0"/>
              </a:defRPr>
            </a:lvl4pPr>
            <a:lvl5pPr>
              <a:lnSpc>
                <a:spcPct val="100000"/>
              </a:lnSpc>
              <a:spcAft>
                <a:spcPts val="600"/>
              </a:spcAft>
              <a:defRPr sz="15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23FBB12-2468-DE45-B89E-06D4F1B6B164}"/>
              </a:ext>
            </a:extLst>
          </p:cNvPr>
          <p:cNvSpPr txBox="1"/>
          <p:nvPr userDrawn="1"/>
        </p:nvSpPr>
        <p:spPr>
          <a:xfrm>
            <a:off x="695131" y="6180210"/>
            <a:ext cx="5400869"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8346AF-B9E5-3D40-B164-07D577A9E9D3}" type="slidenum">
              <a:rPr lang="en-US" sz="1200" smtClean="0">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GB" sz="1200" b="0" i="0">
              <a:solidFill>
                <a:schemeClr val="bg2">
                  <a:lumMod val="25000"/>
                </a:schemeClr>
              </a:solidFill>
              <a:latin typeface="Arial" panose="020B0604020202020204" pitchFamily="34" charset="0"/>
              <a:cs typeface="Arial" panose="020B0604020202020204" pitchFamily="34" charset="0"/>
            </a:endParaRPr>
          </a:p>
          <a:p>
            <a:pPr algn="r"/>
            <a:endParaRPr lang="en-US">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23D7990E-29A7-E243-9878-BCBFF5F93795}"/>
              </a:ext>
            </a:extLst>
          </p:cNvPr>
          <p:cNvCxnSpPr>
            <a:cxnSpLocks/>
          </p:cNvCxnSpPr>
          <p:nvPr userDrawn="1"/>
        </p:nvCxnSpPr>
        <p:spPr>
          <a:xfrm>
            <a:off x="695130" y="6032231"/>
            <a:ext cx="10792677" cy="0"/>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23849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8_Footer Only">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1767872F-9363-4A44-B992-C3B401C29392}"/>
              </a:ext>
            </a:extLst>
          </p:cNvPr>
          <p:cNvCxnSpPr>
            <a:cxnSpLocks/>
          </p:cNvCxnSpPr>
          <p:nvPr userDrawn="1"/>
        </p:nvCxnSpPr>
        <p:spPr>
          <a:xfrm>
            <a:off x="695130" y="6032231"/>
            <a:ext cx="10019253" cy="0"/>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8FEDB748-6D42-484D-8ADE-3E4D73C16606}"/>
              </a:ext>
            </a:extLst>
          </p:cNvPr>
          <p:cNvSpPr txBox="1"/>
          <p:nvPr userDrawn="1"/>
        </p:nvSpPr>
        <p:spPr>
          <a:xfrm>
            <a:off x="695131" y="6180210"/>
            <a:ext cx="540086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8346AF-B9E5-3D40-B164-07D577A9E9D3}" type="slidenum">
              <a:rPr lang="en-US" sz="1200" smtClean="0">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200"/>
              <a:t>  </a:t>
            </a:r>
            <a:endParaRPr lang="en-US"/>
          </a:p>
        </p:txBody>
      </p:sp>
      <p:pic>
        <p:nvPicPr>
          <p:cNvPr id="7" name="Picture 6" descr="Icon&#10;&#10;Description automatically generated">
            <a:extLst>
              <a:ext uri="{FF2B5EF4-FFF2-40B4-BE49-F238E27FC236}">
                <a16:creationId xmlns:a16="http://schemas.microsoft.com/office/drawing/2014/main" id="{F8B6913D-03AE-FB44-A58E-48445865D167}"/>
              </a:ext>
            </a:extLst>
          </p:cNvPr>
          <p:cNvPicPr>
            <a:picLocks noChangeAspect="1"/>
          </p:cNvPicPr>
          <p:nvPr userDrawn="1"/>
        </p:nvPicPr>
        <p:blipFill>
          <a:blip r:embed="rId2"/>
          <a:stretch>
            <a:fillRect/>
          </a:stretch>
        </p:blipFill>
        <p:spPr>
          <a:xfrm>
            <a:off x="11039678" y="5733608"/>
            <a:ext cx="608054" cy="722909"/>
          </a:xfrm>
          <a:prstGeom prst="rect">
            <a:avLst/>
          </a:prstGeom>
        </p:spPr>
      </p:pic>
    </p:spTree>
    <p:extLst>
      <p:ext uri="{BB962C8B-B14F-4D97-AF65-F5344CB8AC3E}">
        <p14:creationId xmlns:p14="http://schemas.microsoft.com/office/powerpoint/2010/main" val="1372313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D1B2C0-1FD5-7B40-B252-D9944AD07450}" type="datetimeFigureOut">
              <a:rPr lang="en-US" smtClean="0"/>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DC0A681-0EFA-2C42-B0CE-6F23BA4C0A49}" type="slidenum">
              <a:rPr lang="en-US" smtClean="0"/>
              <a:t>‹#›</a:t>
            </a:fld>
            <a:endParaRPr lang="en-US"/>
          </a:p>
        </p:txBody>
      </p:sp>
    </p:spTree>
    <p:extLst>
      <p:ext uri="{BB962C8B-B14F-4D97-AF65-F5344CB8AC3E}">
        <p14:creationId xmlns:p14="http://schemas.microsoft.com/office/powerpoint/2010/main" val="808578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0_Full Photo">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0945A27-B44B-1645-BEFC-D48F1644F205}"/>
              </a:ext>
            </a:extLst>
          </p:cNvPr>
          <p:cNvSpPr>
            <a:spLocks noGrp="1"/>
          </p:cNvSpPr>
          <p:nvPr>
            <p:ph type="pic" idx="1" hasCustomPrompt="1"/>
          </p:nvPr>
        </p:nvSpPr>
        <p:spPr>
          <a:xfrm>
            <a:off x="0" y="0"/>
            <a:ext cx="12192000" cy="6858000"/>
          </a:xfrm>
          <a:prstGeom prst="rect">
            <a:avLst/>
          </a:prstGeom>
        </p:spPr>
        <p:txBody>
          <a:bodyPr>
            <a:normAutofit/>
          </a:bodyPr>
          <a:lstStyle>
            <a:lvl1pPr marL="0" indent="0">
              <a:buNone/>
              <a:defRPr sz="2800">
                <a:solidFill>
                  <a:srgbClr val="5F0A3E"/>
                </a:solidFill>
                <a:latin typeface="Arial Black" panose="020B0A040201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to edit Master title</a:t>
            </a:r>
          </a:p>
        </p:txBody>
      </p:sp>
    </p:spTree>
    <p:extLst>
      <p:ext uri="{BB962C8B-B14F-4D97-AF65-F5344CB8AC3E}">
        <p14:creationId xmlns:p14="http://schemas.microsoft.com/office/powerpoint/2010/main" val="16110473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DC78D5-1CB8-9C44-8B83-1D77E61AEA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51C7A6-6123-AE49-8FEE-51E84EFB11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419391-878F-B548-96DD-19F2AB577F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93D1B2C0-1FD5-7B40-B252-D9944AD07450}" type="datetimeFigureOut">
              <a:rPr lang="en-US" smtClean="0"/>
              <a:pPr/>
              <a:t>1/18/2026</a:t>
            </a:fld>
            <a:endParaRPr lang="en-US"/>
          </a:p>
        </p:txBody>
      </p:sp>
      <p:sp>
        <p:nvSpPr>
          <p:cNvPr id="5" name="Footer Placeholder 4">
            <a:extLst>
              <a:ext uri="{FF2B5EF4-FFF2-40B4-BE49-F238E27FC236}">
                <a16:creationId xmlns:a16="http://schemas.microsoft.com/office/drawing/2014/main" id="{7AA4264C-5947-8042-8D2E-76E3B84D05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D48B4ECB-2E5A-594E-92A1-FDA88DD35B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FDC0A681-0EFA-2C42-B0CE-6F23BA4C0A49}" type="slidenum">
              <a:rPr lang="en-US" smtClean="0"/>
              <a:pPr/>
              <a:t>‹#›</a:t>
            </a:fld>
            <a:endParaRPr lang="en-US"/>
          </a:p>
        </p:txBody>
      </p:sp>
    </p:spTree>
    <p:extLst>
      <p:ext uri="{BB962C8B-B14F-4D97-AF65-F5344CB8AC3E}">
        <p14:creationId xmlns:p14="http://schemas.microsoft.com/office/powerpoint/2010/main" val="2352668767"/>
      </p:ext>
    </p:extLst>
  </p:cSld>
  <p:clrMap bg1="lt1" tx1="dk1" bg2="lt2" tx2="dk2" accent1="accent1" accent2="accent2" accent3="accent3" accent4="accent4" accent5="accent5" accent6="accent6" hlink="hlink" folHlink="folHlink"/>
  <p:sldLayoutIdLst>
    <p:sldLayoutId id="2147483814" r:id="rId1"/>
  </p:sldLayoutIdLst>
  <p:txStyles>
    <p:titleStyle>
      <a:lvl1pPr algn="l" defTabSz="914400" rtl="0" eaLnBrk="1" latinLnBrk="0" hangingPunct="1">
        <a:lnSpc>
          <a:spcPct val="90000"/>
        </a:lnSpc>
        <a:spcBef>
          <a:spcPct val="0"/>
        </a:spcBef>
        <a:buNone/>
        <a:defRPr sz="4000" kern="1200">
          <a:solidFill>
            <a:srgbClr val="5F0A3E"/>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93D1B2C0-1FD5-7B40-B252-D9944AD07450}" type="datetimeFigureOut">
              <a:rPr lang="en-US" smtClean="0"/>
              <a:pPr/>
              <a:t>1/18/2026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FDC0A681-0EFA-2C42-B0CE-6F23BA4C0A49}" type="slidenum">
              <a:rPr lang="en-US" smtClean="0"/>
              <a:pPr/>
              <a:t>‹#›</a:t>
            </a:fld>
            <a:endParaRPr lang="en-US"/>
          </a:p>
        </p:txBody>
      </p:sp>
    </p:spTree>
    <p:extLst>
      <p:ext uri="{BB962C8B-B14F-4D97-AF65-F5344CB8AC3E}">
        <p14:creationId xmlns:p14="http://schemas.microsoft.com/office/powerpoint/2010/main" val="2831194283"/>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15" r:id="rId3"/>
    <p:sldLayoutId id="2147483691" r:id="rId4"/>
    <p:sldLayoutId id="2147483698" r:id="rId5"/>
    <p:sldLayoutId id="2147483802" r:id="rId6"/>
    <p:sldLayoutId id="2147483687" r:id="rId7"/>
  </p:sldLayoutIdLst>
  <p:txStyles>
    <p:titleStyle>
      <a:lvl1pPr algn="l" defTabSz="914400" rtl="0" eaLnBrk="1" latinLnBrk="0" hangingPunct="1">
        <a:lnSpc>
          <a:spcPct val="90000"/>
        </a:lnSpc>
        <a:spcBef>
          <a:spcPct val="0"/>
        </a:spcBef>
        <a:buNone/>
        <a:defRPr sz="3200" kern="1200">
          <a:solidFill>
            <a:srgbClr val="5F0A3E"/>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5" Type="http://schemas.openxmlformats.org/officeDocument/2006/relationships/image" Target="../media/image6.jpeg"/><Relationship Id="rId4" Type="http://schemas.openxmlformats.org/officeDocument/2006/relationships/image" Target="../media/image19.gif"/></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5B33F41-E973-D2A8-A0B3-E825D7CB4629}"/>
              </a:ext>
            </a:extLst>
          </p:cNvPr>
          <p:cNvSpPr txBox="1"/>
          <p:nvPr/>
        </p:nvSpPr>
        <p:spPr>
          <a:xfrm>
            <a:off x="266700" y="292100"/>
            <a:ext cx="8940800" cy="1754326"/>
          </a:xfrm>
          <a:prstGeom prst="rect">
            <a:avLst/>
          </a:prstGeom>
          <a:noFill/>
        </p:spPr>
        <p:txBody>
          <a:bodyPr wrap="square" rtlCol="0">
            <a:spAutoFit/>
          </a:bodyPr>
          <a:lstStyle/>
          <a:p>
            <a:r>
              <a:rPr lang="en-CA" sz="5400" dirty="0">
                <a:solidFill>
                  <a:schemeClr val="bg1"/>
                </a:solidFill>
              </a:rPr>
              <a:t>A</a:t>
            </a:r>
            <a:r>
              <a:rPr lang="en-US" altLang="zh-CN" sz="5400" dirty="0">
                <a:solidFill>
                  <a:schemeClr val="bg1"/>
                </a:solidFill>
              </a:rPr>
              <a:t>gentic AI with LangChain and LangGraph</a:t>
            </a:r>
            <a:endParaRPr lang="en-CA" sz="5400" dirty="0">
              <a:solidFill>
                <a:schemeClr val="bg1"/>
              </a:solidFill>
            </a:endParaRPr>
          </a:p>
        </p:txBody>
      </p:sp>
      <p:sp>
        <p:nvSpPr>
          <p:cNvPr id="9" name="TextBox 8">
            <a:extLst>
              <a:ext uri="{FF2B5EF4-FFF2-40B4-BE49-F238E27FC236}">
                <a16:creationId xmlns:a16="http://schemas.microsoft.com/office/drawing/2014/main" id="{0DFD385F-0611-0DEA-0CB5-B6B997DBCF9F}"/>
              </a:ext>
            </a:extLst>
          </p:cNvPr>
          <p:cNvSpPr txBox="1"/>
          <p:nvPr/>
        </p:nvSpPr>
        <p:spPr>
          <a:xfrm>
            <a:off x="266699" y="3655555"/>
            <a:ext cx="7035801" cy="2246769"/>
          </a:xfrm>
          <a:prstGeom prst="rect">
            <a:avLst/>
          </a:prstGeom>
          <a:noFill/>
        </p:spPr>
        <p:txBody>
          <a:bodyPr wrap="square" rtlCol="0">
            <a:spAutoFit/>
          </a:bodyPr>
          <a:lstStyle/>
          <a:p>
            <a:r>
              <a:rPr lang="en-CA" sz="2800" dirty="0">
                <a:solidFill>
                  <a:schemeClr val="bg1"/>
                </a:solidFill>
              </a:rPr>
              <a:t>P</a:t>
            </a:r>
            <a:r>
              <a:rPr lang="en-US" altLang="zh-CN" sz="2800" dirty="0" err="1">
                <a:solidFill>
                  <a:schemeClr val="bg1"/>
                </a:solidFill>
              </a:rPr>
              <a:t>resentation</a:t>
            </a:r>
            <a:r>
              <a:rPr lang="en-CA" sz="2800" dirty="0">
                <a:solidFill>
                  <a:schemeClr val="bg1"/>
                </a:solidFill>
              </a:rPr>
              <a:t> 2: Some G</a:t>
            </a:r>
            <a:r>
              <a:rPr lang="en-US" altLang="zh-CN" sz="2800" dirty="0" err="1">
                <a:solidFill>
                  <a:schemeClr val="bg1"/>
                </a:solidFill>
              </a:rPr>
              <a:t>ood</a:t>
            </a:r>
            <a:r>
              <a:rPr lang="en-US" altLang="zh-CN" sz="2800" dirty="0">
                <a:solidFill>
                  <a:schemeClr val="bg1"/>
                </a:solidFill>
              </a:rPr>
              <a:t>-to-Know Foundations</a:t>
            </a:r>
            <a:endParaRPr lang="en-CA" sz="2800" dirty="0">
              <a:solidFill>
                <a:schemeClr val="bg1"/>
              </a:solidFill>
            </a:endParaRPr>
          </a:p>
          <a:p>
            <a:r>
              <a:rPr lang="en-CA" sz="2800" dirty="0">
                <a:solidFill>
                  <a:schemeClr val="bg1"/>
                </a:solidFill>
              </a:rPr>
              <a:t>Primary Instructor: Michael Z</a:t>
            </a:r>
          </a:p>
          <a:p>
            <a:r>
              <a:rPr lang="en-CA" sz="2800" dirty="0">
                <a:solidFill>
                  <a:schemeClr val="bg1"/>
                </a:solidFill>
              </a:rPr>
              <a:t>RA: YH</a:t>
            </a:r>
          </a:p>
          <a:p>
            <a:r>
              <a:rPr lang="en-CA" sz="2800" dirty="0">
                <a:solidFill>
                  <a:schemeClr val="bg1"/>
                </a:solidFill>
              </a:rPr>
              <a:t>Date: 2026.Jan-Feb</a:t>
            </a:r>
          </a:p>
        </p:txBody>
      </p:sp>
      <p:pic>
        <p:nvPicPr>
          <p:cNvPr id="2" name="Picture 2" descr="image">
            <a:extLst>
              <a:ext uri="{FF2B5EF4-FFF2-40B4-BE49-F238E27FC236}">
                <a16:creationId xmlns:a16="http://schemas.microsoft.com/office/drawing/2014/main" id="{4C233599-8F8E-E392-6EE0-8D4B9220D1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00" y="3070055"/>
            <a:ext cx="4889500" cy="266694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Michael Zhang (Director, Master of Business Analytics Program)">
            <a:extLst>
              <a:ext uri="{FF2B5EF4-FFF2-40B4-BE49-F238E27FC236}">
                <a16:creationId xmlns:a16="http://schemas.microsoft.com/office/drawing/2014/main" id="{95905CFE-A1B2-4BF9-7D69-510C63654AAA}"/>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0" y="5902324"/>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577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A0BAC-73C2-9C03-E2E8-496E4E2DF09A}"/>
              </a:ext>
            </a:extLst>
          </p:cNvPr>
          <p:cNvSpPr txBox="1"/>
          <p:nvPr/>
        </p:nvSpPr>
        <p:spPr>
          <a:xfrm>
            <a:off x="126999" y="3356520"/>
            <a:ext cx="11153619" cy="769441"/>
          </a:xfrm>
          <a:prstGeom prst="rect">
            <a:avLst/>
          </a:prstGeom>
          <a:noFill/>
        </p:spPr>
        <p:txBody>
          <a:bodyPr wrap="square" rtlCol="0">
            <a:spAutoFit/>
          </a:bodyPr>
          <a:lstStyle/>
          <a:p>
            <a:r>
              <a:rPr lang="en-CA" sz="4400" b="1" dirty="0">
                <a:solidFill>
                  <a:srgbClr val="612141"/>
                </a:solidFill>
              </a:rPr>
              <a:t>0. A little bit of Review of Presentation 1</a:t>
            </a:r>
          </a:p>
        </p:txBody>
      </p:sp>
      <p:pic>
        <p:nvPicPr>
          <p:cNvPr id="3" name="Picture 2" descr="Michael Zhang (Director, Master of Business Analytics Program)">
            <a:extLst>
              <a:ext uri="{FF2B5EF4-FFF2-40B4-BE49-F238E27FC236}">
                <a16:creationId xmlns:a16="http://schemas.microsoft.com/office/drawing/2014/main" id="{E2D2FD14-8676-AC53-36EA-97D1F6FF0EA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4"/>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3121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B737C39-4785-AE2A-DCC4-913CC30C319B}"/>
              </a:ext>
            </a:extLst>
          </p:cNvPr>
          <p:cNvPicPr>
            <a:picLocks noChangeAspect="1"/>
          </p:cNvPicPr>
          <p:nvPr/>
        </p:nvPicPr>
        <p:blipFill>
          <a:blip r:embed="rId2"/>
          <a:stretch>
            <a:fillRect/>
          </a:stretch>
        </p:blipFill>
        <p:spPr>
          <a:xfrm>
            <a:off x="0" y="954107"/>
            <a:ext cx="11492564" cy="4458420"/>
          </a:xfrm>
          <a:prstGeom prst="rect">
            <a:avLst/>
          </a:prstGeom>
        </p:spPr>
      </p:pic>
      <p:sp>
        <p:nvSpPr>
          <p:cNvPr id="3" name="TextBox 2">
            <a:extLst>
              <a:ext uri="{FF2B5EF4-FFF2-40B4-BE49-F238E27FC236}">
                <a16:creationId xmlns:a16="http://schemas.microsoft.com/office/drawing/2014/main" id="{F64F6042-1360-EDFB-FF7E-13F9E40E118B}"/>
              </a:ext>
            </a:extLst>
          </p:cNvPr>
          <p:cNvSpPr txBox="1"/>
          <p:nvPr/>
        </p:nvSpPr>
        <p:spPr>
          <a:xfrm>
            <a:off x="0" y="584775"/>
            <a:ext cx="9895438" cy="369332"/>
          </a:xfrm>
          <a:prstGeom prst="rect">
            <a:avLst/>
          </a:prstGeom>
          <a:noFill/>
        </p:spPr>
        <p:txBody>
          <a:bodyPr wrap="square" rtlCol="0">
            <a:spAutoFit/>
          </a:bodyPr>
          <a:lstStyle/>
          <a:p>
            <a:r>
              <a:rPr lang="en-CA" dirty="0">
                <a:solidFill>
                  <a:schemeClr val="tx1">
                    <a:lumMod val="50000"/>
                  </a:schemeClr>
                </a:solidFill>
              </a:rPr>
              <a:t>I might have, or might haven’t dived into the details of ReAct in presentation  but here we are:</a:t>
            </a:r>
          </a:p>
        </p:txBody>
      </p:sp>
      <p:sp>
        <p:nvSpPr>
          <p:cNvPr id="4" name="TextBox 3">
            <a:extLst>
              <a:ext uri="{FF2B5EF4-FFF2-40B4-BE49-F238E27FC236}">
                <a16:creationId xmlns:a16="http://schemas.microsoft.com/office/drawing/2014/main" id="{51029ED6-5570-0D22-98C0-976B31C3FCBF}"/>
              </a:ext>
            </a:extLst>
          </p:cNvPr>
          <p:cNvSpPr txBox="1"/>
          <p:nvPr/>
        </p:nvSpPr>
        <p:spPr>
          <a:xfrm>
            <a:off x="-1" y="0"/>
            <a:ext cx="11090495" cy="584775"/>
          </a:xfrm>
          <a:prstGeom prst="rect">
            <a:avLst/>
          </a:prstGeom>
          <a:noFill/>
        </p:spPr>
        <p:txBody>
          <a:bodyPr wrap="square" rtlCol="0">
            <a:spAutoFit/>
          </a:bodyPr>
          <a:lstStyle/>
          <a:p>
            <a:r>
              <a:rPr lang="en-CA" sz="3200" b="1" dirty="0">
                <a:solidFill>
                  <a:srgbClr val="612141"/>
                </a:solidFill>
              </a:rPr>
              <a:t>0. A little bit of Review of Presentation 1: Re and Act</a:t>
            </a:r>
          </a:p>
        </p:txBody>
      </p:sp>
      <p:sp>
        <p:nvSpPr>
          <p:cNvPr id="5" name="TextBox 4">
            <a:extLst>
              <a:ext uri="{FF2B5EF4-FFF2-40B4-BE49-F238E27FC236}">
                <a16:creationId xmlns:a16="http://schemas.microsoft.com/office/drawing/2014/main" id="{EE52AB0F-1025-9815-2658-5C854B6126AD}"/>
              </a:ext>
            </a:extLst>
          </p:cNvPr>
          <p:cNvSpPr txBox="1"/>
          <p:nvPr/>
        </p:nvSpPr>
        <p:spPr>
          <a:xfrm>
            <a:off x="663953" y="5412527"/>
            <a:ext cx="2011680" cy="369332"/>
          </a:xfrm>
          <a:prstGeom prst="rect">
            <a:avLst/>
          </a:prstGeom>
          <a:noFill/>
        </p:spPr>
        <p:txBody>
          <a:bodyPr wrap="square" rtlCol="0">
            <a:spAutoFit/>
          </a:bodyPr>
          <a:lstStyle/>
          <a:p>
            <a:r>
              <a:rPr lang="en-CA" dirty="0">
                <a:solidFill>
                  <a:schemeClr val="tx1">
                    <a:lumMod val="50000"/>
                  </a:schemeClr>
                </a:solidFill>
              </a:rPr>
              <a:t>(DeepSeek R1?)</a:t>
            </a:r>
          </a:p>
        </p:txBody>
      </p:sp>
      <p:sp>
        <p:nvSpPr>
          <p:cNvPr id="6" name="TextBox 5">
            <a:extLst>
              <a:ext uri="{FF2B5EF4-FFF2-40B4-BE49-F238E27FC236}">
                <a16:creationId xmlns:a16="http://schemas.microsoft.com/office/drawing/2014/main" id="{E2D4F6AD-4792-E9AE-1A76-24DDEBE7FB86}"/>
              </a:ext>
            </a:extLst>
          </p:cNvPr>
          <p:cNvSpPr txBox="1"/>
          <p:nvPr/>
        </p:nvSpPr>
        <p:spPr>
          <a:xfrm>
            <a:off x="3273733" y="5412527"/>
            <a:ext cx="4557515" cy="369332"/>
          </a:xfrm>
          <a:prstGeom prst="rect">
            <a:avLst/>
          </a:prstGeom>
          <a:noFill/>
        </p:spPr>
        <p:txBody>
          <a:bodyPr wrap="square" rtlCol="0">
            <a:spAutoFit/>
          </a:bodyPr>
          <a:lstStyle/>
          <a:p>
            <a:r>
              <a:rPr lang="en-CA" dirty="0">
                <a:solidFill>
                  <a:schemeClr val="tx1">
                    <a:lumMod val="50000"/>
                  </a:schemeClr>
                </a:solidFill>
              </a:rPr>
              <a:t>(I think we could watch </a:t>
            </a:r>
            <a:r>
              <a:rPr lang="en-CA" dirty="0" err="1">
                <a:solidFill>
                  <a:schemeClr val="tx1">
                    <a:lumMod val="50000"/>
                  </a:schemeClr>
                </a:solidFill>
              </a:rPr>
              <a:t>SayCan</a:t>
            </a:r>
            <a:r>
              <a:rPr lang="en-CA" dirty="0">
                <a:solidFill>
                  <a:schemeClr val="tx1">
                    <a:lumMod val="50000"/>
                  </a:schemeClr>
                </a:solidFill>
              </a:rPr>
              <a:t> video)</a:t>
            </a:r>
          </a:p>
        </p:txBody>
      </p:sp>
      <p:pic>
        <p:nvPicPr>
          <p:cNvPr id="7" name="Picture 6" descr="Michael Zhang (Director, Master of Business Analytics Program)">
            <a:extLst>
              <a:ext uri="{FF2B5EF4-FFF2-40B4-BE49-F238E27FC236}">
                <a16:creationId xmlns:a16="http://schemas.microsoft.com/office/drawing/2014/main" id="{F313D075-FFB0-EAD8-12C4-6A8B7711ED5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4"/>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2083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F6D2ED-C8C9-8CEA-7C59-20F533527D0D}"/>
              </a:ext>
            </a:extLst>
          </p:cNvPr>
          <p:cNvSpPr txBox="1"/>
          <p:nvPr/>
        </p:nvSpPr>
        <p:spPr>
          <a:xfrm>
            <a:off x="-2" y="0"/>
            <a:ext cx="12192001" cy="584775"/>
          </a:xfrm>
          <a:prstGeom prst="rect">
            <a:avLst/>
          </a:prstGeom>
          <a:noFill/>
        </p:spPr>
        <p:txBody>
          <a:bodyPr wrap="square" rtlCol="0">
            <a:spAutoFit/>
          </a:bodyPr>
          <a:lstStyle/>
          <a:p>
            <a:r>
              <a:rPr lang="en-CA" sz="3200" b="1" dirty="0">
                <a:solidFill>
                  <a:srgbClr val="612141"/>
                </a:solidFill>
              </a:rPr>
              <a:t>0. A little bit of Review of Presentation 1: Reasoning</a:t>
            </a:r>
          </a:p>
        </p:txBody>
      </p:sp>
      <p:sp>
        <p:nvSpPr>
          <p:cNvPr id="4" name="TextBox 3">
            <a:extLst>
              <a:ext uri="{FF2B5EF4-FFF2-40B4-BE49-F238E27FC236}">
                <a16:creationId xmlns:a16="http://schemas.microsoft.com/office/drawing/2014/main" id="{830A5CA1-3977-1104-8CE0-718AD6EB5D0B}"/>
              </a:ext>
            </a:extLst>
          </p:cNvPr>
          <p:cNvSpPr txBox="1"/>
          <p:nvPr/>
        </p:nvSpPr>
        <p:spPr>
          <a:xfrm>
            <a:off x="-3" y="861774"/>
            <a:ext cx="12192001" cy="646331"/>
          </a:xfrm>
          <a:prstGeom prst="rect">
            <a:avLst/>
          </a:prstGeom>
          <a:noFill/>
        </p:spPr>
        <p:txBody>
          <a:bodyPr wrap="square" rtlCol="0">
            <a:spAutoFit/>
          </a:bodyPr>
          <a:lstStyle/>
          <a:p>
            <a:r>
              <a:rPr lang="en-CA" dirty="0">
                <a:solidFill>
                  <a:schemeClr val="tx1">
                    <a:lumMod val="50000"/>
                  </a:schemeClr>
                </a:solidFill>
              </a:rPr>
              <a:t>LLM’s reasoning capability is obtained through training (to be specific, it’s post-training. Would talk about it later.).</a:t>
            </a:r>
          </a:p>
          <a:p>
            <a:r>
              <a:rPr lang="en-CA" dirty="0">
                <a:solidFill>
                  <a:schemeClr val="tx1">
                    <a:lumMod val="50000"/>
                  </a:schemeClr>
                </a:solidFill>
              </a:rPr>
              <a:t>One entry from the train dataset is presented below to you:</a:t>
            </a:r>
          </a:p>
        </p:txBody>
      </p:sp>
      <p:pic>
        <p:nvPicPr>
          <p:cNvPr id="6" name="Picture 5">
            <a:extLst>
              <a:ext uri="{FF2B5EF4-FFF2-40B4-BE49-F238E27FC236}">
                <a16:creationId xmlns:a16="http://schemas.microsoft.com/office/drawing/2014/main" id="{6C36FF46-C3C1-2FA5-2C64-8D9F2B136472}"/>
              </a:ext>
            </a:extLst>
          </p:cNvPr>
          <p:cNvPicPr>
            <a:picLocks noChangeAspect="1"/>
          </p:cNvPicPr>
          <p:nvPr/>
        </p:nvPicPr>
        <p:blipFill>
          <a:blip r:embed="rId2"/>
          <a:stretch>
            <a:fillRect/>
          </a:stretch>
        </p:blipFill>
        <p:spPr>
          <a:xfrm>
            <a:off x="0" y="1508105"/>
            <a:ext cx="12191999" cy="4394219"/>
          </a:xfrm>
          <a:prstGeom prst="rect">
            <a:avLst/>
          </a:prstGeom>
        </p:spPr>
      </p:pic>
      <p:pic>
        <p:nvPicPr>
          <p:cNvPr id="3" name="Picture 2" descr="Michael Zhang (Director, Master of Business Analytics Program)">
            <a:extLst>
              <a:ext uri="{FF2B5EF4-FFF2-40B4-BE49-F238E27FC236}">
                <a16:creationId xmlns:a16="http://schemas.microsoft.com/office/drawing/2014/main" id="{9C7E72A4-8A70-CEB4-C67D-3C467165C63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4"/>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2937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EB80DE-795D-3CB5-966F-0BB00543D958}"/>
              </a:ext>
            </a:extLst>
          </p:cNvPr>
          <p:cNvSpPr txBox="1"/>
          <p:nvPr/>
        </p:nvSpPr>
        <p:spPr>
          <a:xfrm>
            <a:off x="-1" y="0"/>
            <a:ext cx="11950575" cy="584775"/>
          </a:xfrm>
          <a:prstGeom prst="rect">
            <a:avLst/>
          </a:prstGeom>
          <a:noFill/>
        </p:spPr>
        <p:txBody>
          <a:bodyPr wrap="square" rtlCol="0">
            <a:spAutoFit/>
          </a:bodyPr>
          <a:lstStyle/>
          <a:p>
            <a:r>
              <a:rPr lang="en-CA" sz="3200" b="1" dirty="0">
                <a:solidFill>
                  <a:srgbClr val="612141"/>
                </a:solidFill>
              </a:rPr>
              <a:t>0. A little bit of Review of Presentation 1: Acting (</a:t>
            </a:r>
            <a:r>
              <a:rPr lang="en-CA" sz="3200" b="1" dirty="0" err="1">
                <a:solidFill>
                  <a:srgbClr val="612141"/>
                </a:solidFill>
              </a:rPr>
              <a:t>SayCan</a:t>
            </a:r>
            <a:r>
              <a:rPr lang="en-CA" sz="3200" b="1" dirty="0">
                <a:solidFill>
                  <a:srgbClr val="612141"/>
                </a:solidFill>
              </a:rPr>
              <a:t>)</a:t>
            </a:r>
          </a:p>
        </p:txBody>
      </p:sp>
      <p:pic>
        <p:nvPicPr>
          <p:cNvPr id="4" name="Picture 3">
            <a:extLst>
              <a:ext uri="{FF2B5EF4-FFF2-40B4-BE49-F238E27FC236}">
                <a16:creationId xmlns:a16="http://schemas.microsoft.com/office/drawing/2014/main" id="{BBAD2765-262B-2874-F0C9-DE002A2CEA8F}"/>
              </a:ext>
            </a:extLst>
          </p:cNvPr>
          <p:cNvPicPr>
            <a:picLocks noChangeAspect="1"/>
          </p:cNvPicPr>
          <p:nvPr/>
        </p:nvPicPr>
        <p:blipFill>
          <a:blip r:embed="rId2"/>
          <a:stretch>
            <a:fillRect/>
          </a:stretch>
        </p:blipFill>
        <p:spPr>
          <a:xfrm>
            <a:off x="685800" y="954107"/>
            <a:ext cx="10820400" cy="4948217"/>
          </a:xfrm>
          <a:prstGeom prst="rect">
            <a:avLst/>
          </a:prstGeom>
        </p:spPr>
      </p:pic>
      <p:sp>
        <p:nvSpPr>
          <p:cNvPr id="5" name="TextBox 4">
            <a:extLst>
              <a:ext uri="{FF2B5EF4-FFF2-40B4-BE49-F238E27FC236}">
                <a16:creationId xmlns:a16="http://schemas.microsoft.com/office/drawing/2014/main" id="{F08EF2BD-EB2B-E1F6-7784-AA1FB24CB9C6}"/>
              </a:ext>
            </a:extLst>
          </p:cNvPr>
          <p:cNvSpPr txBox="1"/>
          <p:nvPr/>
        </p:nvSpPr>
        <p:spPr>
          <a:xfrm>
            <a:off x="0" y="584775"/>
            <a:ext cx="11688024" cy="369332"/>
          </a:xfrm>
          <a:prstGeom prst="rect">
            <a:avLst/>
          </a:prstGeom>
          <a:noFill/>
        </p:spPr>
        <p:txBody>
          <a:bodyPr wrap="square" rtlCol="0">
            <a:spAutoFit/>
          </a:bodyPr>
          <a:lstStyle/>
          <a:p>
            <a:r>
              <a:rPr lang="en-CA" dirty="0">
                <a:solidFill>
                  <a:schemeClr val="tx1">
                    <a:lumMod val="50000"/>
                  </a:schemeClr>
                </a:solidFill>
              </a:rPr>
              <a:t>Each phrase corresponds to one action. Similarly, acting ability is also obtained through training (post-training).</a:t>
            </a:r>
          </a:p>
        </p:txBody>
      </p:sp>
      <p:pic>
        <p:nvPicPr>
          <p:cNvPr id="3" name="Picture 2" descr="Michael Zhang (Director, Master of Business Analytics Program)">
            <a:extLst>
              <a:ext uri="{FF2B5EF4-FFF2-40B4-BE49-F238E27FC236}">
                <a16:creationId xmlns:a16="http://schemas.microsoft.com/office/drawing/2014/main" id="{16E47189-C04A-E183-CBD2-5F1D4871553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4"/>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8171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D5FD63-A92D-E29B-CDA7-0539442036B8}"/>
              </a:ext>
            </a:extLst>
          </p:cNvPr>
          <p:cNvPicPr>
            <a:picLocks noChangeAspect="1"/>
          </p:cNvPicPr>
          <p:nvPr/>
        </p:nvPicPr>
        <p:blipFill>
          <a:blip r:embed="rId2"/>
          <a:stretch>
            <a:fillRect/>
          </a:stretch>
        </p:blipFill>
        <p:spPr>
          <a:xfrm>
            <a:off x="3200671" y="577158"/>
            <a:ext cx="8991330" cy="5325165"/>
          </a:xfrm>
          <a:prstGeom prst="rect">
            <a:avLst/>
          </a:prstGeom>
        </p:spPr>
      </p:pic>
      <p:sp>
        <p:nvSpPr>
          <p:cNvPr id="4" name="TextBox 3">
            <a:extLst>
              <a:ext uri="{FF2B5EF4-FFF2-40B4-BE49-F238E27FC236}">
                <a16:creationId xmlns:a16="http://schemas.microsoft.com/office/drawing/2014/main" id="{82D597A5-E882-6C1B-D067-CB7EB6E2DCF1}"/>
              </a:ext>
            </a:extLst>
          </p:cNvPr>
          <p:cNvSpPr txBox="1"/>
          <p:nvPr/>
        </p:nvSpPr>
        <p:spPr>
          <a:xfrm>
            <a:off x="-1" y="0"/>
            <a:ext cx="10664793" cy="584775"/>
          </a:xfrm>
          <a:prstGeom prst="rect">
            <a:avLst/>
          </a:prstGeom>
          <a:noFill/>
        </p:spPr>
        <p:txBody>
          <a:bodyPr wrap="square" rtlCol="0">
            <a:spAutoFit/>
          </a:bodyPr>
          <a:lstStyle/>
          <a:p>
            <a:r>
              <a:rPr lang="en-CA" sz="3200" b="1" dirty="0">
                <a:solidFill>
                  <a:srgbClr val="612141"/>
                </a:solidFill>
              </a:rPr>
              <a:t>0. A little bit of Review of Presentation 1: ReAct</a:t>
            </a:r>
          </a:p>
        </p:txBody>
      </p:sp>
      <p:sp>
        <p:nvSpPr>
          <p:cNvPr id="5" name="TextBox 4">
            <a:extLst>
              <a:ext uri="{FF2B5EF4-FFF2-40B4-BE49-F238E27FC236}">
                <a16:creationId xmlns:a16="http://schemas.microsoft.com/office/drawing/2014/main" id="{E7FF2F82-6B19-9F1B-3B2D-219902A12094}"/>
              </a:ext>
            </a:extLst>
          </p:cNvPr>
          <p:cNvSpPr txBox="1"/>
          <p:nvPr/>
        </p:nvSpPr>
        <p:spPr>
          <a:xfrm>
            <a:off x="173256" y="584773"/>
            <a:ext cx="2868708" cy="4524315"/>
          </a:xfrm>
          <a:prstGeom prst="rect">
            <a:avLst/>
          </a:prstGeom>
          <a:noFill/>
        </p:spPr>
        <p:txBody>
          <a:bodyPr wrap="square" rtlCol="0">
            <a:spAutoFit/>
          </a:bodyPr>
          <a:lstStyle/>
          <a:p>
            <a:r>
              <a:rPr lang="en-CA" dirty="0" err="1">
                <a:solidFill>
                  <a:schemeClr val="tx1">
                    <a:lumMod val="50000"/>
                  </a:schemeClr>
                </a:solidFill>
              </a:rPr>
              <a:t>ReAct</a:t>
            </a:r>
            <a:r>
              <a:rPr lang="en-CA" dirty="0">
                <a:solidFill>
                  <a:schemeClr val="tx1">
                    <a:lumMod val="50000"/>
                  </a:schemeClr>
                </a:solidFill>
              </a:rPr>
              <a:t> architecture requires LLMs to output tool messages in a specific format to call tools. And then, these tool messages would be parsed and sent to functions for execution. Finally, these tools would return outcomes (Observations) back to LLM.</a:t>
            </a:r>
          </a:p>
          <a:p>
            <a:endParaRPr lang="en-CA" dirty="0">
              <a:solidFill>
                <a:schemeClr val="tx1">
                  <a:lumMod val="50000"/>
                </a:schemeClr>
              </a:solidFill>
            </a:endParaRPr>
          </a:p>
          <a:p>
            <a:r>
              <a:rPr lang="en-CA" dirty="0">
                <a:solidFill>
                  <a:schemeClr val="tx1">
                    <a:lumMod val="50000"/>
                  </a:schemeClr>
                </a:solidFill>
              </a:rPr>
              <a:t>Notably, ability of calling tools is also obtained through post-training.</a:t>
            </a:r>
          </a:p>
        </p:txBody>
      </p:sp>
      <p:pic>
        <p:nvPicPr>
          <p:cNvPr id="2" name="Picture 1" descr="Michael Zhang (Director, Master of Business Analytics Program)">
            <a:extLst>
              <a:ext uri="{FF2B5EF4-FFF2-40B4-BE49-F238E27FC236}">
                <a16:creationId xmlns:a16="http://schemas.microsoft.com/office/drawing/2014/main" id="{75728994-6765-B8D5-0DB4-5AF49755AEB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4"/>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5559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51D6A4-92FB-9233-788D-990C08E7FB9C}"/>
              </a:ext>
            </a:extLst>
          </p:cNvPr>
          <p:cNvSpPr txBox="1"/>
          <p:nvPr/>
        </p:nvSpPr>
        <p:spPr>
          <a:xfrm>
            <a:off x="0" y="0"/>
            <a:ext cx="11579382" cy="584775"/>
          </a:xfrm>
          <a:prstGeom prst="rect">
            <a:avLst/>
          </a:prstGeom>
          <a:noFill/>
        </p:spPr>
        <p:txBody>
          <a:bodyPr wrap="square" rtlCol="0">
            <a:spAutoFit/>
          </a:bodyPr>
          <a:lstStyle/>
          <a:p>
            <a:r>
              <a:rPr lang="en-CA" sz="3200" b="1" dirty="0">
                <a:solidFill>
                  <a:srgbClr val="612141"/>
                </a:solidFill>
              </a:rPr>
              <a:t>0. A little bit of Review of Presentation 1: A nice chart</a:t>
            </a:r>
          </a:p>
        </p:txBody>
      </p:sp>
      <p:pic>
        <p:nvPicPr>
          <p:cNvPr id="4" name="Picture 3">
            <a:extLst>
              <a:ext uri="{FF2B5EF4-FFF2-40B4-BE49-F238E27FC236}">
                <a16:creationId xmlns:a16="http://schemas.microsoft.com/office/drawing/2014/main" id="{55D2E693-D70E-168E-3273-5876C764F63C}"/>
              </a:ext>
            </a:extLst>
          </p:cNvPr>
          <p:cNvPicPr>
            <a:picLocks noChangeAspect="1"/>
          </p:cNvPicPr>
          <p:nvPr/>
        </p:nvPicPr>
        <p:blipFill>
          <a:blip r:embed="rId2"/>
          <a:stretch>
            <a:fillRect/>
          </a:stretch>
        </p:blipFill>
        <p:spPr>
          <a:xfrm>
            <a:off x="2864498" y="737118"/>
            <a:ext cx="5504802" cy="4595358"/>
          </a:xfrm>
          <a:prstGeom prst="rect">
            <a:avLst/>
          </a:prstGeom>
        </p:spPr>
      </p:pic>
      <p:sp>
        <p:nvSpPr>
          <p:cNvPr id="5" name="TextBox 4">
            <a:extLst>
              <a:ext uri="{FF2B5EF4-FFF2-40B4-BE49-F238E27FC236}">
                <a16:creationId xmlns:a16="http://schemas.microsoft.com/office/drawing/2014/main" id="{575295EB-167D-7AA9-D1B3-19EB912388D1}"/>
              </a:ext>
            </a:extLst>
          </p:cNvPr>
          <p:cNvSpPr txBox="1"/>
          <p:nvPr/>
        </p:nvSpPr>
        <p:spPr>
          <a:xfrm>
            <a:off x="8369300" y="1956017"/>
            <a:ext cx="3028800" cy="246221"/>
          </a:xfrm>
          <a:prstGeom prst="rect">
            <a:avLst/>
          </a:prstGeom>
          <a:noFill/>
        </p:spPr>
        <p:txBody>
          <a:bodyPr wrap="square" rtlCol="0">
            <a:spAutoFit/>
          </a:bodyPr>
          <a:lstStyle/>
          <a:p>
            <a:pPr algn="ctr"/>
            <a:r>
              <a:rPr lang="en-CA" sz="1000" i="1" dirty="0">
                <a:solidFill>
                  <a:schemeClr val="tx1">
                    <a:lumMod val="50000"/>
                  </a:schemeClr>
                </a:solidFill>
              </a:rPr>
              <a:t>Figure 1: LangChain illustration of </a:t>
            </a:r>
            <a:r>
              <a:rPr lang="en-CA" sz="1000" i="1" dirty="0" err="1">
                <a:solidFill>
                  <a:schemeClr val="tx1">
                    <a:lumMod val="50000"/>
                  </a:schemeClr>
                </a:solidFill>
              </a:rPr>
              <a:t>ReAct</a:t>
            </a:r>
            <a:endParaRPr lang="en-CA" sz="1000" i="1" dirty="0">
              <a:solidFill>
                <a:schemeClr val="tx1">
                  <a:lumMod val="50000"/>
                </a:schemeClr>
              </a:solidFill>
            </a:endParaRPr>
          </a:p>
        </p:txBody>
      </p:sp>
      <p:sp>
        <p:nvSpPr>
          <p:cNvPr id="6" name="TextBox 5">
            <a:extLst>
              <a:ext uri="{FF2B5EF4-FFF2-40B4-BE49-F238E27FC236}">
                <a16:creationId xmlns:a16="http://schemas.microsoft.com/office/drawing/2014/main" id="{5F47FC4A-475B-DD04-1655-A614438FF75A}"/>
              </a:ext>
            </a:extLst>
          </p:cNvPr>
          <p:cNvSpPr txBox="1"/>
          <p:nvPr/>
        </p:nvSpPr>
        <p:spPr>
          <a:xfrm>
            <a:off x="1" y="584774"/>
            <a:ext cx="2864497" cy="6186309"/>
          </a:xfrm>
          <a:prstGeom prst="rect">
            <a:avLst/>
          </a:prstGeom>
          <a:noFill/>
        </p:spPr>
        <p:txBody>
          <a:bodyPr wrap="square" rtlCol="0">
            <a:spAutoFit/>
          </a:bodyPr>
          <a:lstStyle/>
          <a:p>
            <a:r>
              <a:rPr lang="en-CA" dirty="0">
                <a:solidFill>
                  <a:schemeClr val="tx1">
                    <a:lumMod val="50000"/>
                  </a:schemeClr>
                </a:solidFill>
              </a:rPr>
              <a:t>Input goes into LLM.</a:t>
            </a:r>
          </a:p>
          <a:p>
            <a:endParaRPr lang="en-CA" dirty="0">
              <a:solidFill>
                <a:schemeClr val="tx1">
                  <a:lumMod val="50000"/>
                </a:schemeClr>
              </a:solidFill>
            </a:endParaRPr>
          </a:p>
          <a:p>
            <a:r>
              <a:rPr lang="en-CA" dirty="0">
                <a:solidFill>
                  <a:schemeClr val="tx1">
                    <a:lumMod val="50000"/>
                  </a:schemeClr>
                </a:solidFill>
              </a:rPr>
              <a:t>LLM might or might not reason, then would or would not take actions (call tools).</a:t>
            </a:r>
          </a:p>
          <a:p>
            <a:endParaRPr lang="en-CA" dirty="0">
              <a:solidFill>
                <a:schemeClr val="tx1">
                  <a:lumMod val="50000"/>
                </a:schemeClr>
              </a:solidFill>
            </a:endParaRPr>
          </a:p>
          <a:p>
            <a:r>
              <a:rPr lang="en-CA" dirty="0">
                <a:solidFill>
                  <a:schemeClr val="tx1">
                    <a:lumMod val="50000"/>
                  </a:schemeClr>
                </a:solidFill>
              </a:rPr>
              <a:t>If tool is called, observation would be returned to inform reasoning or next action.</a:t>
            </a:r>
          </a:p>
          <a:p>
            <a:endParaRPr lang="en-CA" dirty="0">
              <a:solidFill>
                <a:schemeClr val="tx1">
                  <a:lumMod val="50000"/>
                </a:schemeClr>
              </a:solidFill>
            </a:endParaRPr>
          </a:p>
          <a:p>
            <a:r>
              <a:rPr lang="en-CA" dirty="0">
                <a:solidFill>
                  <a:schemeClr val="tx1">
                    <a:lumMod val="50000"/>
                  </a:schemeClr>
                </a:solidFill>
              </a:rPr>
              <a:t>Then steps above repeat until LLM thinks it’s finished. Then output is returned to user.</a:t>
            </a:r>
          </a:p>
          <a:p>
            <a:endParaRPr lang="en-CA" dirty="0">
              <a:solidFill>
                <a:schemeClr val="tx1">
                  <a:lumMod val="50000"/>
                </a:schemeClr>
              </a:solidFill>
            </a:endParaRPr>
          </a:p>
          <a:p>
            <a:r>
              <a:rPr lang="en-CA" dirty="0">
                <a:solidFill>
                  <a:schemeClr val="tx1">
                    <a:lumMod val="50000"/>
                  </a:schemeClr>
                </a:solidFill>
              </a:rPr>
              <a:t>This is the biggest takeaway you need from this tutorial. I hope you won’t forget this after you graduate!!!</a:t>
            </a:r>
          </a:p>
        </p:txBody>
      </p:sp>
      <p:sp>
        <p:nvSpPr>
          <p:cNvPr id="7" name="TextBox 6">
            <a:extLst>
              <a:ext uri="{FF2B5EF4-FFF2-40B4-BE49-F238E27FC236}">
                <a16:creationId xmlns:a16="http://schemas.microsoft.com/office/drawing/2014/main" id="{C4960DE8-DC94-CF75-9E41-42E0151D1C3C}"/>
              </a:ext>
            </a:extLst>
          </p:cNvPr>
          <p:cNvSpPr txBox="1"/>
          <p:nvPr/>
        </p:nvSpPr>
        <p:spPr>
          <a:xfrm>
            <a:off x="8369300" y="2579949"/>
            <a:ext cx="2197567" cy="553998"/>
          </a:xfrm>
          <a:prstGeom prst="rect">
            <a:avLst/>
          </a:prstGeom>
          <a:noFill/>
        </p:spPr>
        <p:txBody>
          <a:bodyPr wrap="square" rtlCol="0">
            <a:spAutoFit/>
          </a:bodyPr>
          <a:lstStyle/>
          <a:p>
            <a:r>
              <a:rPr lang="en-CA" sz="1000" dirty="0">
                <a:solidFill>
                  <a:schemeClr val="tx1">
                    <a:lumMod val="50000"/>
                  </a:schemeClr>
                </a:solidFill>
              </a:rPr>
              <a:t>Figure 1 Source: https://docs.langchain.com/oss/python/langchain/agents</a:t>
            </a:r>
          </a:p>
        </p:txBody>
      </p:sp>
      <p:pic>
        <p:nvPicPr>
          <p:cNvPr id="3" name="Picture 2" descr="Michael Zhang (Director, Master of Business Analytics Program)">
            <a:extLst>
              <a:ext uri="{FF2B5EF4-FFF2-40B4-BE49-F238E27FC236}">
                <a16:creationId xmlns:a16="http://schemas.microsoft.com/office/drawing/2014/main" id="{82954B79-57F7-77E0-DC60-2262380C3BF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369300" y="584774"/>
            <a:ext cx="3822700" cy="95567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92E383CB-869E-C874-654C-2FE3ED7B4246}"/>
              </a:ext>
            </a:extLst>
          </p:cNvPr>
          <p:cNvPicPr>
            <a:picLocks noChangeAspect="1"/>
          </p:cNvPicPr>
          <p:nvPr/>
        </p:nvPicPr>
        <p:blipFill>
          <a:blip r:embed="rId4"/>
          <a:stretch>
            <a:fillRect/>
          </a:stretch>
        </p:blipFill>
        <p:spPr>
          <a:xfrm>
            <a:off x="2864498" y="5429815"/>
            <a:ext cx="5758394" cy="941157"/>
          </a:xfrm>
          <a:prstGeom prst="rect">
            <a:avLst/>
          </a:prstGeom>
        </p:spPr>
      </p:pic>
      <p:sp>
        <p:nvSpPr>
          <p:cNvPr id="10" name="TextBox 9">
            <a:extLst>
              <a:ext uri="{FF2B5EF4-FFF2-40B4-BE49-F238E27FC236}">
                <a16:creationId xmlns:a16="http://schemas.microsoft.com/office/drawing/2014/main" id="{1CE5D06D-282C-54DD-55E2-CAAEC425C91E}"/>
              </a:ext>
            </a:extLst>
          </p:cNvPr>
          <p:cNvSpPr txBox="1"/>
          <p:nvPr/>
        </p:nvSpPr>
        <p:spPr>
          <a:xfrm>
            <a:off x="2864498" y="6370973"/>
            <a:ext cx="9321281" cy="400110"/>
          </a:xfrm>
          <a:prstGeom prst="rect">
            <a:avLst/>
          </a:prstGeom>
          <a:noFill/>
        </p:spPr>
        <p:txBody>
          <a:bodyPr wrap="square" rtlCol="0">
            <a:spAutoFit/>
          </a:bodyPr>
          <a:lstStyle/>
          <a:p>
            <a:r>
              <a:rPr lang="en-CA" sz="1000" dirty="0">
                <a:solidFill>
                  <a:schemeClr val="tx1">
                    <a:lumMod val="50000"/>
                  </a:schemeClr>
                </a:solidFill>
              </a:rPr>
              <a:t>(Image above was the one I copied from LangChain docs in Dec.2025 but recently it was “fixed”. So, the one you could see right now is little bit different from the one I posted here. FYI.)</a:t>
            </a:r>
          </a:p>
        </p:txBody>
      </p:sp>
    </p:spTree>
    <p:extLst>
      <p:ext uri="{BB962C8B-B14F-4D97-AF65-F5344CB8AC3E}">
        <p14:creationId xmlns:p14="http://schemas.microsoft.com/office/powerpoint/2010/main" val="910177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020D61-4E38-ADA4-A856-A5DEA1AEAF84}"/>
              </a:ext>
            </a:extLst>
          </p:cNvPr>
          <p:cNvSpPr txBox="1"/>
          <p:nvPr/>
        </p:nvSpPr>
        <p:spPr>
          <a:xfrm>
            <a:off x="126999" y="3356520"/>
            <a:ext cx="11008763" cy="769441"/>
          </a:xfrm>
          <a:prstGeom prst="rect">
            <a:avLst/>
          </a:prstGeom>
          <a:noFill/>
        </p:spPr>
        <p:txBody>
          <a:bodyPr wrap="square" rtlCol="0">
            <a:spAutoFit/>
          </a:bodyPr>
          <a:lstStyle/>
          <a:p>
            <a:r>
              <a:rPr lang="en-CA" sz="4400" b="1" dirty="0">
                <a:solidFill>
                  <a:srgbClr val="612141"/>
                </a:solidFill>
              </a:rPr>
              <a:t>1. How a LLM is trained from scratch?</a:t>
            </a:r>
          </a:p>
        </p:txBody>
      </p:sp>
      <p:sp>
        <p:nvSpPr>
          <p:cNvPr id="3" name="TextBox 2">
            <a:extLst>
              <a:ext uri="{FF2B5EF4-FFF2-40B4-BE49-F238E27FC236}">
                <a16:creationId xmlns:a16="http://schemas.microsoft.com/office/drawing/2014/main" id="{1D7E468F-CD7B-5F99-E1C8-20CE17A7F7D5}"/>
              </a:ext>
            </a:extLst>
          </p:cNvPr>
          <p:cNvSpPr txBox="1"/>
          <p:nvPr/>
        </p:nvSpPr>
        <p:spPr>
          <a:xfrm>
            <a:off x="407405" y="371192"/>
            <a:ext cx="8039477" cy="646331"/>
          </a:xfrm>
          <a:prstGeom prst="rect">
            <a:avLst/>
          </a:prstGeom>
          <a:noFill/>
        </p:spPr>
        <p:txBody>
          <a:bodyPr wrap="square" rtlCol="0">
            <a:spAutoFit/>
          </a:bodyPr>
          <a:lstStyle/>
          <a:p>
            <a:r>
              <a:rPr lang="en-CA" dirty="0">
                <a:solidFill>
                  <a:schemeClr val="tx1">
                    <a:lumMod val="50000"/>
                  </a:schemeClr>
                </a:solidFill>
              </a:rPr>
              <a:t>(Q: You blah blah blah “post-training” several times. What does it mean?</a:t>
            </a:r>
          </a:p>
          <a:p>
            <a:r>
              <a:rPr lang="en-CA" dirty="0">
                <a:solidFill>
                  <a:schemeClr val="tx1">
                    <a:lumMod val="50000"/>
                  </a:schemeClr>
                </a:solidFill>
              </a:rPr>
              <a:t>A: My bad. Here we are.)</a:t>
            </a:r>
          </a:p>
        </p:txBody>
      </p:sp>
      <p:sp>
        <p:nvSpPr>
          <p:cNvPr id="4" name="TextBox 3">
            <a:extLst>
              <a:ext uri="{FF2B5EF4-FFF2-40B4-BE49-F238E27FC236}">
                <a16:creationId xmlns:a16="http://schemas.microsoft.com/office/drawing/2014/main" id="{E761B298-CCE6-C12A-F796-56BDA754D952}"/>
              </a:ext>
            </a:extLst>
          </p:cNvPr>
          <p:cNvSpPr txBox="1"/>
          <p:nvPr/>
        </p:nvSpPr>
        <p:spPr>
          <a:xfrm>
            <a:off x="407406" y="4463358"/>
            <a:ext cx="6944008" cy="646331"/>
          </a:xfrm>
          <a:prstGeom prst="rect">
            <a:avLst/>
          </a:prstGeom>
          <a:noFill/>
        </p:spPr>
        <p:txBody>
          <a:bodyPr wrap="square" rtlCol="0">
            <a:spAutoFit/>
          </a:bodyPr>
          <a:lstStyle/>
          <a:p>
            <a:r>
              <a:rPr lang="en-CA" dirty="0">
                <a:solidFill>
                  <a:schemeClr val="tx1">
                    <a:lumMod val="50000"/>
                  </a:schemeClr>
                </a:solidFill>
              </a:rPr>
              <a:t>(No worries you won’t do this in this tutorial. But feel free to do it on your own if you have GPUs!!!)</a:t>
            </a:r>
          </a:p>
        </p:txBody>
      </p:sp>
      <p:pic>
        <p:nvPicPr>
          <p:cNvPr id="5" name="Picture 4" descr="Michael Zhang (Director, Master of Business Analytics Program)">
            <a:extLst>
              <a:ext uri="{FF2B5EF4-FFF2-40B4-BE49-F238E27FC236}">
                <a16:creationId xmlns:a16="http://schemas.microsoft.com/office/drawing/2014/main" id="{B14349D8-16D8-333D-2449-D1D679F89E3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5902324"/>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6302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572F17-A745-40DE-A047-7A8B386EAFE3}"/>
              </a:ext>
            </a:extLst>
          </p:cNvPr>
          <p:cNvSpPr txBox="1"/>
          <p:nvPr/>
        </p:nvSpPr>
        <p:spPr>
          <a:xfrm>
            <a:off x="-1" y="0"/>
            <a:ext cx="10664793" cy="584775"/>
          </a:xfrm>
          <a:prstGeom prst="rect">
            <a:avLst/>
          </a:prstGeom>
          <a:noFill/>
        </p:spPr>
        <p:txBody>
          <a:bodyPr wrap="square" rtlCol="0">
            <a:spAutoFit/>
          </a:bodyPr>
          <a:lstStyle/>
          <a:p>
            <a:r>
              <a:rPr lang="en-CA" sz="3200" b="1" dirty="0">
                <a:solidFill>
                  <a:srgbClr val="612141"/>
                </a:solidFill>
              </a:rPr>
              <a:t>1. How a LLM is trained from scratch?: Pre-Training</a:t>
            </a:r>
          </a:p>
        </p:txBody>
      </p:sp>
      <p:sp>
        <p:nvSpPr>
          <p:cNvPr id="4" name="TextBox 3">
            <a:extLst>
              <a:ext uri="{FF2B5EF4-FFF2-40B4-BE49-F238E27FC236}">
                <a16:creationId xmlns:a16="http://schemas.microsoft.com/office/drawing/2014/main" id="{E10BC540-2E12-74CC-F5AD-467F0B2B6FBA}"/>
              </a:ext>
            </a:extLst>
          </p:cNvPr>
          <p:cNvSpPr txBox="1"/>
          <p:nvPr/>
        </p:nvSpPr>
        <p:spPr>
          <a:xfrm>
            <a:off x="-2" y="584776"/>
            <a:ext cx="8302029" cy="5078313"/>
          </a:xfrm>
          <a:prstGeom prst="rect">
            <a:avLst/>
          </a:prstGeom>
          <a:noFill/>
        </p:spPr>
        <p:txBody>
          <a:bodyPr wrap="square" rtlCol="0">
            <a:spAutoFit/>
          </a:bodyPr>
          <a:lstStyle/>
          <a:p>
            <a:r>
              <a:rPr lang="en-CA" dirty="0">
                <a:solidFill>
                  <a:schemeClr val="tx1">
                    <a:lumMod val="50000"/>
                  </a:schemeClr>
                </a:solidFill>
              </a:rPr>
              <a:t>Initially, a LLM is randomly initialized. It could do nothing but output nonsense, which makes sense.</a:t>
            </a:r>
          </a:p>
          <a:p>
            <a:endParaRPr lang="en-CA" dirty="0">
              <a:solidFill>
                <a:schemeClr val="tx1">
                  <a:lumMod val="50000"/>
                </a:schemeClr>
              </a:solidFill>
            </a:endParaRPr>
          </a:p>
          <a:p>
            <a:r>
              <a:rPr lang="en-CA" dirty="0">
                <a:solidFill>
                  <a:schemeClr val="tx1">
                    <a:lumMod val="50000"/>
                  </a:schemeClr>
                </a:solidFill>
              </a:rPr>
              <a:t>Then, developers want to train it using QA pairs, which is what we think when dealing with other models. But human being don’t have that many high-quality QA pairs. And hiring someone to make QA pairs is prohibitively expensive.</a:t>
            </a:r>
          </a:p>
          <a:p>
            <a:endParaRPr lang="en-CA" dirty="0">
              <a:solidFill>
                <a:schemeClr val="tx1">
                  <a:lumMod val="50000"/>
                </a:schemeClr>
              </a:solidFill>
            </a:endParaRPr>
          </a:p>
          <a:p>
            <a:r>
              <a:rPr lang="en-CA" dirty="0">
                <a:solidFill>
                  <a:schemeClr val="tx1">
                    <a:lumMod val="50000"/>
                  </a:schemeClr>
                </a:solidFill>
              </a:rPr>
              <a:t>So, developers came up with an idea that LLM learns everything on its own first through learning how to predict next token (pretext task).</a:t>
            </a:r>
          </a:p>
          <a:p>
            <a:endParaRPr lang="en-CA" dirty="0">
              <a:solidFill>
                <a:schemeClr val="tx1">
                  <a:lumMod val="50000"/>
                </a:schemeClr>
              </a:solidFill>
            </a:endParaRPr>
          </a:p>
          <a:p>
            <a:r>
              <a:rPr lang="en-CA" dirty="0">
                <a:solidFill>
                  <a:schemeClr val="tx1">
                    <a:lumMod val="50000"/>
                  </a:schemeClr>
                </a:solidFill>
              </a:rPr>
              <a:t>(To learn more about pretext task, please refer to self-supervised learning.)</a:t>
            </a:r>
          </a:p>
          <a:p>
            <a:endParaRPr lang="en-CA" dirty="0">
              <a:solidFill>
                <a:schemeClr val="tx1">
                  <a:lumMod val="50000"/>
                </a:schemeClr>
              </a:solidFill>
            </a:endParaRPr>
          </a:p>
          <a:p>
            <a:r>
              <a:rPr lang="en-CA" dirty="0">
                <a:solidFill>
                  <a:schemeClr val="tx1">
                    <a:lumMod val="50000"/>
                  </a:schemeClr>
                </a:solidFill>
              </a:rPr>
              <a:t>Then, LLM could auto-complete prompts. At this moment, this is called base model.</a:t>
            </a:r>
          </a:p>
          <a:p>
            <a:endParaRPr lang="en-CA" dirty="0">
              <a:solidFill>
                <a:schemeClr val="tx1">
                  <a:lumMod val="50000"/>
                </a:schemeClr>
              </a:solidFill>
            </a:endParaRPr>
          </a:p>
          <a:p>
            <a:r>
              <a:rPr lang="en-CA" dirty="0">
                <a:solidFill>
                  <a:schemeClr val="tx1">
                    <a:lumMod val="50000"/>
                  </a:schemeClr>
                </a:solidFill>
              </a:rPr>
              <a:t>(When you are downloading LLMs from HuggingFace, if the name of LLM doesn’t contain “instruct”, it’s base model by default, except gpt-oss-20b and 120b. If it contains “base”, it’s base model.)</a:t>
            </a:r>
          </a:p>
        </p:txBody>
      </p:sp>
      <p:pic>
        <p:nvPicPr>
          <p:cNvPr id="6" name="Picture 5">
            <a:extLst>
              <a:ext uri="{FF2B5EF4-FFF2-40B4-BE49-F238E27FC236}">
                <a16:creationId xmlns:a16="http://schemas.microsoft.com/office/drawing/2014/main" id="{92B697FD-11E0-E532-3EC5-C5ABA971DF4B}"/>
              </a:ext>
            </a:extLst>
          </p:cNvPr>
          <p:cNvPicPr>
            <a:picLocks noChangeAspect="1"/>
          </p:cNvPicPr>
          <p:nvPr/>
        </p:nvPicPr>
        <p:blipFill>
          <a:blip r:embed="rId2"/>
          <a:srcRect l="3555" b="1068"/>
          <a:stretch>
            <a:fillRect/>
          </a:stretch>
        </p:blipFill>
        <p:spPr>
          <a:xfrm>
            <a:off x="8528364" y="965944"/>
            <a:ext cx="3467477" cy="3658754"/>
          </a:xfrm>
          <a:prstGeom prst="rect">
            <a:avLst/>
          </a:prstGeom>
        </p:spPr>
      </p:pic>
      <p:sp>
        <p:nvSpPr>
          <p:cNvPr id="7" name="TextBox 6">
            <a:extLst>
              <a:ext uri="{FF2B5EF4-FFF2-40B4-BE49-F238E27FC236}">
                <a16:creationId xmlns:a16="http://schemas.microsoft.com/office/drawing/2014/main" id="{C2C75A58-47E1-E767-7C83-2BFCEEB78FF0}"/>
              </a:ext>
            </a:extLst>
          </p:cNvPr>
          <p:cNvSpPr txBox="1"/>
          <p:nvPr/>
        </p:nvSpPr>
        <p:spPr>
          <a:xfrm>
            <a:off x="9098732" y="4759646"/>
            <a:ext cx="2326740" cy="246221"/>
          </a:xfrm>
          <a:prstGeom prst="rect">
            <a:avLst/>
          </a:prstGeom>
          <a:noFill/>
        </p:spPr>
        <p:txBody>
          <a:bodyPr wrap="square" rtlCol="0">
            <a:spAutoFit/>
          </a:bodyPr>
          <a:lstStyle/>
          <a:p>
            <a:pPr algn="ctr"/>
            <a:r>
              <a:rPr lang="en-CA" sz="1000" dirty="0">
                <a:solidFill>
                  <a:schemeClr val="tx1">
                    <a:lumMod val="50000"/>
                  </a:schemeClr>
                </a:solidFill>
              </a:rPr>
              <a:t>Figure 2: Pre-Training</a:t>
            </a:r>
          </a:p>
        </p:txBody>
      </p:sp>
      <p:sp>
        <p:nvSpPr>
          <p:cNvPr id="8" name="TextBox 7">
            <a:extLst>
              <a:ext uri="{FF2B5EF4-FFF2-40B4-BE49-F238E27FC236}">
                <a16:creationId xmlns:a16="http://schemas.microsoft.com/office/drawing/2014/main" id="{9A05F7F1-6FB3-4421-87C0-41F2762AFF02}"/>
              </a:ext>
            </a:extLst>
          </p:cNvPr>
          <p:cNvSpPr txBox="1"/>
          <p:nvPr/>
        </p:nvSpPr>
        <p:spPr>
          <a:xfrm>
            <a:off x="8528364" y="5597982"/>
            <a:ext cx="2571186" cy="400110"/>
          </a:xfrm>
          <a:prstGeom prst="rect">
            <a:avLst/>
          </a:prstGeom>
          <a:noFill/>
        </p:spPr>
        <p:txBody>
          <a:bodyPr wrap="square" rtlCol="0">
            <a:spAutoFit/>
          </a:bodyPr>
          <a:lstStyle/>
          <a:p>
            <a:r>
              <a:rPr lang="en-CA" sz="1000" dirty="0">
                <a:solidFill>
                  <a:schemeClr val="tx1">
                    <a:lumMod val="50000"/>
                  </a:schemeClr>
                </a:solidFill>
              </a:rPr>
              <a:t>Figure 2 Source: https://github.com/mlabonne/llm-course</a:t>
            </a:r>
          </a:p>
        </p:txBody>
      </p:sp>
      <p:pic>
        <p:nvPicPr>
          <p:cNvPr id="3" name="Picture 2" descr="Michael Zhang (Director, Master of Business Analytics Program)">
            <a:extLst>
              <a:ext uri="{FF2B5EF4-FFF2-40B4-BE49-F238E27FC236}">
                <a16:creationId xmlns:a16="http://schemas.microsoft.com/office/drawing/2014/main" id="{0DEAA6C1-CA5F-E351-216E-2EB0D6B2A15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4"/>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9222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3D9F93-26B9-4494-DB77-21C79B73D3A3}"/>
              </a:ext>
            </a:extLst>
          </p:cNvPr>
          <p:cNvSpPr txBox="1"/>
          <p:nvPr/>
        </p:nvSpPr>
        <p:spPr>
          <a:xfrm>
            <a:off x="-1" y="0"/>
            <a:ext cx="10664793" cy="584775"/>
          </a:xfrm>
          <a:prstGeom prst="rect">
            <a:avLst/>
          </a:prstGeom>
          <a:noFill/>
        </p:spPr>
        <p:txBody>
          <a:bodyPr wrap="square" rtlCol="0">
            <a:spAutoFit/>
          </a:bodyPr>
          <a:lstStyle/>
          <a:p>
            <a:r>
              <a:rPr lang="en-CA" sz="3200" b="1" dirty="0">
                <a:solidFill>
                  <a:srgbClr val="612141"/>
                </a:solidFill>
              </a:rPr>
              <a:t>1. How a LLM is trained from scratch?: Post-Training</a:t>
            </a:r>
          </a:p>
        </p:txBody>
      </p:sp>
      <p:pic>
        <p:nvPicPr>
          <p:cNvPr id="4" name="Picture 3">
            <a:extLst>
              <a:ext uri="{FF2B5EF4-FFF2-40B4-BE49-F238E27FC236}">
                <a16:creationId xmlns:a16="http://schemas.microsoft.com/office/drawing/2014/main" id="{F658B986-162F-61C6-E2A0-24F460965803}"/>
              </a:ext>
            </a:extLst>
          </p:cNvPr>
          <p:cNvPicPr>
            <a:picLocks noChangeAspect="1"/>
          </p:cNvPicPr>
          <p:nvPr/>
        </p:nvPicPr>
        <p:blipFill>
          <a:blip r:embed="rId2"/>
          <a:stretch>
            <a:fillRect/>
          </a:stretch>
        </p:blipFill>
        <p:spPr>
          <a:xfrm>
            <a:off x="6712289" y="717168"/>
            <a:ext cx="5479711" cy="3474586"/>
          </a:xfrm>
          <a:prstGeom prst="rect">
            <a:avLst/>
          </a:prstGeom>
        </p:spPr>
      </p:pic>
      <p:sp>
        <p:nvSpPr>
          <p:cNvPr id="5" name="TextBox 4">
            <a:extLst>
              <a:ext uri="{FF2B5EF4-FFF2-40B4-BE49-F238E27FC236}">
                <a16:creationId xmlns:a16="http://schemas.microsoft.com/office/drawing/2014/main" id="{12B8E88D-40D8-6982-2F40-6778D967207C}"/>
              </a:ext>
            </a:extLst>
          </p:cNvPr>
          <p:cNvSpPr txBox="1"/>
          <p:nvPr/>
        </p:nvSpPr>
        <p:spPr>
          <a:xfrm>
            <a:off x="8184334" y="4324147"/>
            <a:ext cx="1828800" cy="246221"/>
          </a:xfrm>
          <a:prstGeom prst="rect">
            <a:avLst/>
          </a:prstGeom>
          <a:noFill/>
        </p:spPr>
        <p:txBody>
          <a:bodyPr wrap="square" rtlCol="0">
            <a:spAutoFit/>
          </a:bodyPr>
          <a:lstStyle/>
          <a:p>
            <a:pPr algn="ctr"/>
            <a:r>
              <a:rPr lang="en-CA" sz="1000" dirty="0">
                <a:solidFill>
                  <a:schemeClr val="tx1">
                    <a:lumMod val="50000"/>
                  </a:schemeClr>
                </a:solidFill>
              </a:rPr>
              <a:t>Figure 3: Post-Training</a:t>
            </a:r>
          </a:p>
        </p:txBody>
      </p:sp>
      <p:sp>
        <p:nvSpPr>
          <p:cNvPr id="6" name="TextBox 5">
            <a:extLst>
              <a:ext uri="{FF2B5EF4-FFF2-40B4-BE49-F238E27FC236}">
                <a16:creationId xmlns:a16="http://schemas.microsoft.com/office/drawing/2014/main" id="{F6615078-5505-704C-59DD-91AF620DCB06}"/>
              </a:ext>
            </a:extLst>
          </p:cNvPr>
          <p:cNvSpPr txBox="1"/>
          <p:nvPr/>
        </p:nvSpPr>
        <p:spPr>
          <a:xfrm>
            <a:off x="208230" y="584775"/>
            <a:ext cx="6237837" cy="4524315"/>
          </a:xfrm>
          <a:prstGeom prst="rect">
            <a:avLst/>
          </a:prstGeom>
          <a:noFill/>
        </p:spPr>
        <p:txBody>
          <a:bodyPr wrap="square" rtlCol="0">
            <a:spAutoFit/>
          </a:bodyPr>
          <a:lstStyle/>
          <a:p>
            <a:r>
              <a:rPr lang="en-CA" dirty="0">
                <a:solidFill>
                  <a:schemeClr val="tx1">
                    <a:lumMod val="50000"/>
                  </a:schemeClr>
                </a:solidFill>
              </a:rPr>
              <a:t>And then, developers train base model using QA, Instruction-Response pairs and then it would become Instruct Model.</a:t>
            </a:r>
          </a:p>
          <a:p>
            <a:endParaRPr lang="en-CA" dirty="0">
              <a:solidFill>
                <a:schemeClr val="tx1">
                  <a:lumMod val="50000"/>
                </a:schemeClr>
              </a:solidFill>
            </a:endParaRPr>
          </a:p>
          <a:p>
            <a:r>
              <a:rPr lang="en-CA" dirty="0">
                <a:solidFill>
                  <a:schemeClr val="tx1">
                    <a:lumMod val="50000"/>
                  </a:schemeClr>
                </a:solidFill>
              </a:rPr>
              <a:t>Actually, instruct model is usable.</a:t>
            </a:r>
          </a:p>
          <a:p>
            <a:endParaRPr lang="en-CA" dirty="0">
              <a:solidFill>
                <a:schemeClr val="tx1">
                  <a:lumMod val="50000"/>
                </a:schemeClr>
              </a:solidFill>
            </a:endParaRPr>
          </a:p>
          <a:p>
            <a:r>
              <a:rPr lang="en-CA" dirty="0">
                <a:solidFill>
                  <a:schemeClr val="tx1">
                    <a:lumMod val="50000"/>
                  </a:schemeClr>
                </a:solidFill>
              </a:rPr>
              <a:t>But to meet human preference further. Instruct model would be trained further using RL or whatever I can’t name here.</a:t>
            </a:r>
          </a:p>
          <a:p>
            <a:endParaRPr lang="en-CA" dirty="0">
              <a:solidFill>
                <a:schemeClr val="tx1">
                  <a:lumMod val="50000"/>
                </a:schemeClr>
              </a:solidFill>
            </a:endParaRPr>
          </a:p>
          <a:p>
            <a:r>
              <a:rPr lang="en-CA" dirty="0">
                <a:solidFill>
                  <a:schemeClr val="tx1">
                    <a:lumMod val="50000"/>
                  </a:schemeClr>
                </a:solidFill>
              </a:rPr>
              <a:t>(If you are prompted by ChatGPT to choose which response you like, what’s taking place is alignment. But once I realized I was helping them to train model and I didn’t get paid, I stopped choosing response for them 😈.)</a:t>
            </a:r>
          </a:p>
          <a:p>
            <a:endParaRPr lang="en-CA" dirty="0">
              <a:solidFill>
                <a:schemeClr val="tx1">
                  <a:lumMod val="50000"/>
                </a:schemeClr>
              </a:solidFill>
            </a:endParaRPr>
          </a:p>
          <a:p>
            <a:r>
              <a:rPr lang="en-CA" dirty="0">
                <a:solidFill>
                  <a:schemeClr val="tx1">
                    <a:lumMod val="50000"/>
                  </a:schemeClr>
                </a:solidFill>
              </a:rPr>
              <a:t>(Since it’s not a LLM course, I would not dive into details but feel free to learn LLM basics on your own.)</a:t>
            </a:r>
          </a:p>
        </p:txBody>
      </p:sp>
      <p:pic>
        <p:nvPicPr>
          <p:cNvPr id="3" name="Picture 2" descr="Michael Zhang (Director, Master of Business Analytics Program)">
            <a:extLst>
              <a:ext uri="{FF2B5EF4-FFF2-40B4-BE49-F238E27FC236}">
                <a16:creationId xmlns:a16="http://schemas.microsoft.com/office/drawing/2014/main" id="{AC1F11FB-0D15-1F44-4552-16E0F55413D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4"/>
            <a:ext cx="3822700" cy="9556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2146379-439B-07A8-DF97-36C3B04562FC}"/>
              </a:ext>
            </a:extLst>
          </p:cNvPr>
          <p:cNvSpPr txBox="1"/>
          <p:nvPr/>
        </p:nvSpPr>
        <p:spPr>
          <a:xfrm>
            <a:off x="8528364" y="5597982"/>
            <a:ext cx="2571186" cy="400110"/>
          </a:xfrm>
          <a:prstGeom prst="rect">
            <a:avLst/>
          </a:prstGeom>
          <a:noFill/>
        </p:spPr>
        <p:txBody>
          <a:bodyPr wrap="square" rtlCol="0">
            <a:spAutoFit/>
          </a:bodyPr>
          <a:lstStyle/>
          <a:p>
            <a:r>
              <a:rPr lang="en-CA" sz="1000" dirty="0">
                <a:solidFill>
                  <a:schemeClr val="tx1">
                    <a:lumMod val="50000"/>
                  </a:schemeClr>
                </a:solidFill>
              </a:rPr>
              <a:t>Figure 3 Source: https://github.com/mlabonne/llm-course</a:t>
            </a:r>
          </a:p>
        </p:txBody>
      </p:sp>
    </p:spTree>
    <p:extLst>
      <p:ext uri="{BB962C8B-B14F-4D97-AF65-F5344CB8AC3E}">
        <p14:creationId xmlns:p14="http://schemas.microsoft.com/office/powerpoint/2010/main" val="1524319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57739E-030D-212C-E367-0C697C275925}"/>
              </a:ext>
            </a:extLst>
          </p:cNvPr>
          <p:cNvSpPr txBox="1"/>
          <p:nvPr/>
        </p:nvSpPr>
        <p:spPr>
          <a:xfrm>
            <a:off x="-2" y="-1"/>
            <a:ext cx="12192001" cy="1354217"/>
          </a:xfrm>
          <a:prstGeom prst="rect">
            <a:avLst/>
          </a:prstGeom>
          <a:noFill/>
        </p:spPr>
        <p:txBody>
          <a:bodyPr wrap="square" rtlCol="0">
            <a:spAutoFit/>
          </a:bodyPr>
          <a:lstStyle/>
          <a:p>
            <a:r>
              <a:rPr lang="en-CA" sz="3200" b="1" dirty="0">
                <a:solidFill>
                  <a:srgbClr val="612141"/>
                </a:solidFill>
              </a:rPr>
              <a:t>1. How a LLM is trained from scratch?: An inappropriate example</a:t>
            </a:r>
          </a:p>
          <a:p>
            <a:r>
              <a:rPr lang="en-CA" dirty="0">
                <a:solidFill>
                  <a:schemeClr val="tx1">
                    <a:lumMod val="50000"/>
                  </a:schemeClr>
                </a:solidFill>
              </a:rPr>
              <a:t>(An appropriate explanation involves topics of self-supervised learning, which won’t be discussed here.)</a:t>
            </a:r>
          </a:p>
        </p:txBody>
      </p:sp>
      <p:pic>
        <p:nvPicPr>
          <p:cNvPr id="1026" name="Picture 2" descr="Scratch Logo PNG Vectors Free Download">
            <a:extLst>
              <a:ext uri="{FF2B5EF4-FFF2-40B4-BE49-F238E27FC236}">
                <a16:creationId xmlns:a16="http://schemas.microsoft.com/office/drawing/2014/main" id="{C720064F-3CB1-6835-5ECB-697EB33D92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154" y="1663454"/>
            <a:ext cx="3531091" cy="353109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66AC7D7-F298-DD4D-95E9-5A8E026C19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6451" y="2105026"/>
            <a:ext cx="2038350" cy="22383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4531044-1DA1-2A8B-3745-9400E6F81E38}"/>
              </a:ext>
            </a:extLst>
          </p:cNvPr>
          <p:cNvSpPr txBox="1"/>
          <p:nvPr/>
        </p:nvSpPr>
        <p:spPr>
          <a:xfrm>
            <a:off x="-2" y="5532992"/>
            <a:ext cx="9895677" cy="369332"/>
          </a:xfrm>
          <a:prstGeom prst="rect">
            <a:avLst/>
          </a:prstGeom>
          <a:noFill/>
        </p:spPr>
        <p:txBody>
          <a:bodyPr wrap="square" rtlCol="0">
            <a:spAutoFit/>
          </a:bodyPr>
          <a:lstStyle/>
          <a:p>
            <a:r>
              <a:rPr lang="en-CA" dirty="0">
                <a:solidFill>
                  <a:schemeClr val="tx1">
                    <a:lumMod val="50000"/>
                  </a:schemeClr>
                </a:solidFill>
              </a:rPr>
              <a:t>(If you have never heard about Scratch, I would open the browser and search it for you.)</a:t>
            </a:r>
          </a:p>
        </p:txBody>
      </p:sp>
      <p:pic>
        <p:nvPicPr>
          <p:cNvPr id="4" name="Picture 3" descr="Michael Zhang (Director, Master of Business Analytics Program)">
            <a:extLst>
              <a:ext uri="{FF2B5EF4-FFF2-40B4-BE49-F238E27FC236}">
                <a16:creationId xmlns:a16="http://schemas.microsoft.com/office/drawing/2014/main" id="{E3A1432A-ED23-A6A5-F913-702F2D1C762F}"/>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0" y="5902324"/>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0044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F84F4D-A0CC-3BAD-2188-0BFA286A4317}"/>
              </a:ext>
            </a:extLst>
          </p:cNvPr>
          <p:cNvSpPr txBox="1"/>
          <p:nvPr/>
        </p:nvSpPr>
        <p:spPr>
          <a:xfrm>
            <a:off x="126999" y="3356520"/>
            <a:ext cx="11008763" cy="2123658"/>
          </a:xfrm>
          <a:prstGeom prst="rect">
            <a:avLst/>
          </a:prstGeom>
          <a:noFill/>
        </p:spPr>
        <p:txBody>
          <a:bodyPr wrap="square" rtlCol="0">
            <a:spAutoFit/>
          </a:bodyPr>
          <a:lstStyle/>
          <a:p>
            <a:r>
              <a:rPr lang="en-CA" sz="4400" b="1" dirty="0">
                <a:solidFill>
                  <a:srgbClr val="612141"/>
                </a:solidFill>
              </a:rPr>
              <a:t>2. What are the problems of tools calling after you learned how capability of tools calling is obtained?</a:t>
            </a:r>
          </a:p>
        </p:txBody>
      </p:sp>
      <p:sp>
        <p:nvSpPr>
          <p:cNvPr id="3" name="TextBox 2">
            <a:extLst>
              <a:ext uri="{FF2B5EF4-FFF2-40B4-BE49-F238E27FC236}">
                <a16:creationId xmlns:a16="http://schemas.microsoft.com/office/drawing/2014/main" id="{01C2455F-6664-6814-83FF-1A5A24873077}"/>
              </a:ext>
            </a:extLst>
          </p:cNvPr>
          <p:cNvSpPr txBox="1"/>
          <p:nvPr/>
        </p:nvSpPr>
        <p:spPr>
          <a:xfrm>
            <a:off x="126999" y="5532992"/>
            <a:ext cx="9297909" cy="369332"/>
          </a:xfrm>
          <a:prstGeom prst="rect">
            <a:avLst/>
          </a:prstGeom>
          <a:noFill/>
        </p:spPr>
        <p:txBody>
          <a:bodyPr wrap="square" rtlCol="0">
            <a:spAutoFit/>
          </a:bodyPr>
          <a:lstStyle/>
          <a:p>
            <a:r>
              <a:rPr lang="en-CA" dirty="0">
                <a:solidFill>
                  <a:schemeClr val="tx1">
                    <a:lumMod val="50000"/>
                  </a:schemeClr>
                </a:solidFill>
              </a:rPr>
              <a:t>(I think I would interact with you guys for couple mins so please speak something 👀)</a:t>
            </a:r>
          </a:p>
        </p:txBody>
      </p:sp>
      <p:pic>
        <p:nvPicPr>
          <p:cNvPr id="4" name="Picture 3" descr="Michael Zhang (Director, Master of Business Analytics Program)">
            <a:extLst>
              <a:ext uri="{FF2B5EF4-FFF2-40B4-BE49-F238E27FC236}">
                <a16:creationId xmlns:a16="http://schemas.microsoft.com/office/drawing/2014/main" id="{ED645696-9A50-1BE7-A09F-016EEFC5CD8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5902324"/>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4580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A7C25E-8C77-CC4D-FA28-AA927F68A2A6}"/>
              </a:ext>
            </a:extLst>
          </p:cNvPr>
          <p:cNvSpPr txBox="1"/>
          <p:nvPr/>
        </p:nvSpPr>
        <p:spPr>
          <a:xfrm>
            <a:off x="181070" y="3429000"/>
            <a:ext cx="6491334" cy="1200329"/>
          </a:xfrm>
          <a:prstGeom prst="rect">
            <a:avLst/>
          </a:prstGeom>
          <a:noFill/>
        </p:spPr>
        <p:txBody>
          <a:bodyPr wrap="square" rtlCol="0">
            <a:spAutoFit/>
          </a:bodyPr>
          <a:lstStyle/>
          <a:p>
            <a:r>
              <a:rPr lang="en-CA" dirty="0">
                <a:solidFill>
                  <a:schemeClr val="tx1">
                    <a:lumMod val="50000"/>
                  </a:schemeClr>
                </a:solidFill>
              </a:rPr>
              <a:t>(For some reasons, some vendors’ LLMs don’t have the capability of calling tools through API………..)</a:t>
            </a:r>
          </a:p>
          <a:p>
            <a:endParaRPr lang="en-CA" dirty="0">
              <a:solidFill>
                <a:schemeClr val="tx1">
                  <a:lumMod val="50000"/>
                </a:schemeClr>
              </a:solidFill>
            </a:endParaRPr>
          </a:p>
          <a:p>
            <a:r>
              <a:rPr lang="en-CA" dirty="0">
                <a:solidFill>
                  <a:schemeClr val="tx1">
                    <a:lumMod val="50000"/>
                  </a:schemeClr>
                </a:solidFill>
              </a:rPr>
              <a:t>(It sounds weird, but it did once happen to me)</a:t>
            </a:r>
          </a:p>
        </p:txBody>
      </p:sp>
      <p:pic>
        <p:nvPicPr>
          <p:cNvPr id="3" name="Picture 2" descr="Michael Zhang (Director, Master of Business Analytics Program)">
            <a:extLst>
              <a:ext uri="{FF2B5EF4-FFF2-40B4-BE49-F238E27FC236}">
                <a16:creationId xmlns:a16="http://schemas.microsoft.com/office/drawing/2014/main" id="{C3CDDDFD-9E9C-F2B1-12FF-A26F2F3F0CC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5902324"/>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408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3B0226-A3A2-76FF-25A5-7BE13060B1A5}"/>
              </a:ext>
            </a:extLst>
          </p:cNvPr>
          <p:cNvSpPr txBox="1"/>
          <p:nvPr/>
        </p:nvSpPr>
        <p:spPr>
          <a:xfrm>
            <a:off x="126999" y="3356520"/>
            <a:ext cx="11008763" cy="1446550"/>
          </a:xfrm>
          <a:prstGeom prst="rect">
            <a:avLst/>
          </a:prstGeom>
          <a:noFill/>
        </p:spPr>
        <p:txBody>
          <a:bodyPr wrap="square" rtlCol="0">
            <a:spAutoFit/>
          </a:bodyPr>
          <a:lstStyle/>
          <a:p>
            <a:r>
              <a:rPr lang="en-CA" sz="4400" b="1" dirty="0">
                <a:solidFill>
                  <a:srgbClr val="612141"/>
                </a:solidFill>
              </a:rPr>
              <a:t>3. Some Commonly-Used Generation Config of LLM</a:t>
            </a:r>
          </a:p>
        </p:txBody>
      </p:sp>
      <p:pic>
        <p:nvPicPr>
          <p:cNvPr id="3" name="Picture 2" descr="Michael Zhang (Director, Master of Business Analytics Program)">
            <a:extLst>
              <a:ext uri="{FF2B5EF4-FFF2-40B4-BE49-F238E27FC236}">
                <a16:creationId xmlns:a16="http://schemas.microsoft.com/office/drawing/2014/main" id="{9929D074-FA98-73C4-D107-CA2D984BD89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5902324"/>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8684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7F5516-EEC8-0C49-0FBE-FC219A7B3BCC}"/>
              </a:ext>
            </a:extLst>
          </p:cNvPr>
          <p:cNvPicPr>
            <a:picLocks noChangeAspect="1"/>
          </p:cNvPicPr>
          <p:nvPr/>
        </p:nvPicPr>
        <p:blipFill>
          <a:blip r:embed="rId2"/>
          <a:stretch>
            <a:fillRect/>
          </a:stretch>
        </p:blipFill>
        <p:spPr>
          <a:xfrm>
            <a:off x="7132979" y="666256"/>
            <a:ext cx="5059021" cy="5073642"/>
          </a:xfrm>
          <a:prstGeom prst="rect">
            <a:avLst/>
          </a:prstGeom>
        </p:spPr>
      </p:pic>
      <p:sp>
        <p:nvSpPr>
          <p:cNvPr id="4" name="TextBox 3">
            <a:extLst>
              <a:ext uri="{FF2B5EF4-FFF2-40B4-BE49-F238E27FC236}">
                <a16:creationId xmlns:a16="http://schemas.microsoft.com/office/drawing/2014/main" id="{67473AC8-C648-E133-8F8E-B8E8612D234F}"/>
              </a:ext>
            </a:extLst>
          </p:cNvPr>
          <p:cNvSpPr txBox="1"/>
          <p:nvPr/>
        </p:nvSpPr>
        <p:spPr>
          <a:xfrm>
            <a:off x="-2" y="-1"/>
            <a:ext cx="12192001" cy="584775"/>
          </a:xfrm>
          <a:prstGeom prst="rect">
            <a:avLst/>
          </a:prstGeom>
          <a:noFill/>
        </p:spPr>
        <p:txBody>
          <a:bodyPr wrap="square" rtlCol="0">
            <a:spAutoFit/>
          </a:bodyPr>
          <a:lstStyle/>
          <a:p>
            <a:r>
              <a:rPr lang="en-CA" sz="3200" b="1" dirty="0">
                <a:solidFill>
                  <a:srgbClr val="612141"/>
                </a:solidFill>
              </a:rPr>
              <a:t>3. Some Commonly Used Generation Config of LLM</a:t>
            </a:r>
          </a:p>
        </p:txBody>
      </p:sp>
      <p:sp>
        <p:nvSpPr>
          <p:cNvPr id="5" name="TextBox 4">
            <a:extLst>
              <a:ext uri="{FF2B5EF4-FFF2-40B4-BE49-F238E27FC236}">
                <a16:creationId xmlns:a16="http://schemas.microsoft.com/office/drawing/2014/main" id="{7B9D1372-1C26-5ECA-F54F-B450DB4B851B}"/>
              </a:ext>
            </a:extLst>
          </p:cNvPr>
          <p:cNvSpPr txBox="1"/>
          <p:nvPr/>
        </p:nvSpPr>
        <p:spPr>
          <a:xfrm>
            <a:off x="1" y="585346"/>
            <a:ext cx="7043596" cy="1200329"/>
          </a:xfrm>
          <a:prstGeom prst="rect">
            <a:avLst/>
          </a:prstGeom>
          <a:noFill/>
        </p:spPr>
        <p:txBody>
          <a:bodyPr wrap="square" rtlCol="0">
            <a:spAutoFit/>
          </a:bodyPr>
          <a:lstStyle/>
          <a:p>
            <a:r>
              <a:rPr lang="en-CA" dirty="0">
                <a:solidFill>
                  <a:schemeClr val="tx1">
                    <a:lumMod val="50000"/>
                  </a:schemeClr>
                </a:solidFill>
              </a:rPr>
              <a:t>Different models would support different parameters, but they all support these 6 parameters.</a:t>
            </a:r>
          </a:p>
          <a:p>
            <a:endParaRPr lang="en-CA" dirty="0">
              <a:solidFill>
                <a:schemeClr val="tx1">
                  <a:lumMod val="50000"/>
                </a:schemeClr>
              </a:solidFill>
            </a:endParaRPr>
          </a:p>
          <a:p>
            <a:r>
              <a:rPr lang="en-CA" dirty="0">
                <a:solidFill>
                  <a:schemeClr val="tx1">
                    <a:lumMod val="50000"/>
                  </a:schemeClr>
                </a:solidFill>
              </a:rPr>
              <a:t>This is where temperature comes in:</a:t>
            </a:r>
          </a:p>
        </p:txBody>
      </p:sp>
      <p:pic>
        <p:nvPicPr>
          <p:cNvPr id="7" name="Picture 6">
            <a:extLst>
              <a:ext uri="{FF2B5EF4-FFF2-40B4-BE49-F238E27FC236}">
                <a16:creationId xmlns:a16="http://schemas.microsoft.com/office/drawing/2014/main" id="{058B197A-9979-6AEC-F420-7EAC3E3C334A}"/>
              </a:ext>
            </a:extLst>
          </p:cNvPr>
          <p:cNvPicPr>
            <a:picLocks noChangeAspect="1"/>
          </p:cNvPicPr>
          <p:nvPr/>
        </p:nvPicPr>
        <p:blipFill>
          <a:blip r:embed="rId3"/>
          <a:stretch>
            <a:fillRect/>
          </a:stretch>
        </p:blipFill>
        <p:spPr>
          <a:xfrm>
            <a:off x="281324" y="2285120"/>
            <a:ext cx="1943371" cy="638264"/>
          </a:xfrm>
          <a:prstGeom prst="rect">
            <a:avLst/>
          </a:prstGeom>
        </p:spPr>
      </p:pic>
      <p:sp>
        <p:nvSpPr>
          <p:cNvPr id="8" name="TextBox 7">
            <a:extLst>
              <a:ext uri="{FF2B5EF4-FFF2-40B4-BE49-F238E27FC236}">
                <a16:creationId xmlns:a16="http://schemas.microsoft.com/office/drawing/2014/main" id="{0ACDD696-6B57-4BA7-CB09-8FA7FC8D103F}"/>
              </a:ext>
            </a:extLst>
          </p:cNvPr>
          <p:cNvSpPr txBox="1"/>
          <p:nvPr/>
        </p:nvSpPr>
        <p:spPr>
          <a:xfrm>
            <a:off x="-2" y="3594000"/>
            <a:ext cx="7132979" cy="2308324"/>
          </a:xfrm>
          <a:prstGeom prst="rect">
            <a:avLst/>
          </a:prstGeom>
          <a:noFill/>
        </p:spPr>
        <p:txBody>
          <a:bodyPr wrap="square" rtlCol="0">
            <a:spAutoFit/>
          </a:bodyPr>
          <a:lstStyle/>
          <a:p>
            <a:r>
              <a:rPr lang="en-CA" dirty="0">
                <a:solidFill>
                  <a:schemeClr val="tx1">
                    <a:lumMod val="50000"/>
                  </a:schemeClr>
                </a:solidFill>
              </a:rPr>
              <a:t>If you are interested in all parameters that could control how LLM outputs response, Please refer to Generation Configuration of HuggingFace (Don’t ask me when you don’t understand some of these parameters 😭).</a:t>
            </a:r>
          </a:p>
          <a:p>
            <a:r>
              <a:rPr lang="en-CA" dirty="0">
                <a:solidFill>
                  <a:schemeClr val="tx1">
                    <a:lumMod val="50000"/>
                  </a:schemeClr>
                </a:solidFill>
              </a:rPr>
              <a:t>https://huggingface.co/docs/transformers/en/main_classes/text_generation#transformers.GenerationConfig</a:t>
            </a:r>
          </a:p>
          <a:p>
            <a:endParaRPr lang="en-CA" dirty="0">
              <a:solidFill>
                <a:schemeClr val="tx1">
                  <a:lumMod val="50000"/>
                </a:schemeClr>
              </a:solidFill>
            </a:endParaRPr>
          </a:p>
          <a:p>
            <a:r>
              <a:rPr lang="en-CA" dirty="0">
                <a:solidFill>
                  <a:schemeClr val="tx1">
                    <a:lumMod val="50000"/>
                  </a:schemeClr>
                </a:solidFill>
              </a:rPr>
              <a:t>Since we are not learning LLM, I won’t dive into details a lot.</a:t>
            </a:r>
          </a:p>
        </p:txBody>
      </p:sp>
      <p:pic>
        <p:nvPicPr>
          <p:cNvPr id="1026" name="Picture 2" descr="2.1 The Exponential Function">
            <a:extLst>
              <a:ext uri="{FF2B5EF4-FFF2-40B4-BE49-F238E27FC236}">
                <a16:creationId xmlns:a16="http://schemas.microsoft.com/office/drawing/2014/main" id="{BDCE99BD-5DC6-CA05-87D8-902D4A2F8D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1737" y="1324258"/>
            <a:ext cx="2104742" cy="210474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Michael Zhang (Director, Master of Business Analytics Program)">
            <a:extLst>
              <a:ext uri="{FF2B5EF4-FFF2-40B4-BE49-F238E27FC236}">
                <a16:creationId xmlns:a16="http://schemas.microsoft.com/office/drawing/2014/main" id="{77A8BF6F-A3B1-06D4-1027-2835DED5BAEF}"/>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0" y="5902324"/>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758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CDB1B3-6AE3-D08B-8FC7-EF1D9FC84E31}"/>
              </a:ext>
            </a:extLst>
          </p:cNvPr>
          <p:cNvSpPr txBox="1"/>
          <p:nvPr/>
        </p:nvSpPr>
        <p:spPr>
          <a:xfrm>
            <a:off x="126999" y="3356520"/>
            <a:ext cx="11008763" cy="769441"/>
          </a:xfrm>
          <a:prstGeom prst="rect">
            <a:avLst/>
          </a:prstGeom>
          <a:noFill/>
        </p:spPr>
        <p:txBody>
          <a:bodyPr wrap="square" rtlCol="0">
            <a:spAutoFit/>
          </a:bodyPr>
          <a:lstStyle/>
          <a:p>
            <a:r>
              <a:rPr lang="en-CA" sz="4400" b="1" dirty="0">
                <a:solidFill>
                  <a:srgbClr val="612141"/>
                </a:solidFill>
              </a:rPr>
              <a:t>4. Warm-Up</a:t>
            </a:r>
          </a:p>
        </p:txBody>
      </p:sp>
      <p:pic>
        <p:nvPicPr>
          <p:cNvPr id="3" name="Picture 2" descr="Michael Zhang (Director, Master of Business Analytics Program)">
            <a:extLst>
              <a:ext uri="{FF2B5EF4-FFF2-40B4-BE49-F238E27FC236}">
                <a16:creationId xmlns:a16="http://schemas.microsoft.com/office/drawing/2014/main" id="{F18FB65F-3E90-F3BE-2782-4AA07E2D088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5902324"/>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0914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90E70D-CE97-FAC8-23FB-836DE27B0DDB}"/>
              </a:ext>
            </a:extLst>
          </p:cNvPr>
          <p:cNvSpPr txBox="1"/>
          <p:nvPr/>
        </p:nvSpPr>
        <p:spPr>
          <a:xfrm>
            <a:off x="-2" y="-1"/>
            <a:ext cx="12192001" cy="584775"/>
          </a:xfrm>
          <a:prstGeom prst="rect">
            <a:avLst/>
          </a:prstGeom>
          <a:noFill/>
        </p:spPr>
        <p:txBody>
          <a:bodyPr wrap="square" rtlCol="0">
            <a:spAutoFit/>
          </a:bodyPr>
          <a:lstStyle/>
          <a:p>
            <a:r>
              <a:rPr lang="en-CA" sz="3200" b="1" dirty="0">
                <a:solidFill>
                  <a:srgbClr val="612141"/>
                </a:solidFill>
              </a:rPr>
              <a:t>4. Warm-Up</a:t>
            </a:r>
          </a:p>
        </p:txBody>
      </p:sp>
      <p:sp>
        <p:nvSpPr>
          <p:cNvPr id="3" name="TextBox 2">
            <a:extLst>
              <a:ext uri="{FF2B5EF4-FFF2-40B4-BE49-F238E27FC236}">
                <a16:creationId xmlns:a16="http://schemas.microsoft.com/office/drawing/2014/main" id="{ACBEA225-E7DD-6492-E3D7-19CDEAA017B5}"/>
              </a:ext>
            </a:extLst>
          </p:cNvPr>
          <p:cNvSpPr txBox="1"/>
          <p:nvPr/>
        </p:nvSpPr>
        <p:spPr>
          <a:xfrm>
            <a:off x="0" y="584774"/>
            <a:ext cx="12191999" cy="3693319"/>
          </a:xfrm>
          <a:prstGeom prst="rect">
            <a:avLst/>
          </a:prstGeom>
          <a:noFill/>
        </p:spPr>
        <p:txBody>
          <a:bodyPr wrap="square" rtlCol="0">
            <a:spAutoFit/>
          </a:bodyPr>
          <a:lstStyle/>
          <a:p>
            <a:r>
              <a:rPr lang="en-CA" dirty="0">
                <a:solidFill>
                  <a:schemeClr val="tx1">
                    <a:lumMod val="50000"/>
                  </a:schemeClr>
                </a:solidFill>
              </a:rPr>
              <a:t>Since we are going to dive into the fundamentals of LangChain in next presentation, you </a:t>
            </a:r>
            <a:r>
              <a:rPr lang="en-US" altLang="zh-CN" dirty="0">
                <a:solidFill>
                  <a:schemeClr val="tx1">
                    <a:lumMod val="50000"/>
                  </a:schemeClr>
                </a:solidFill>
              </a:rPr>
              <a:t>should</a:t>
            </a:r>
            <a:r>
              <a:rPr lang="en-CA" dirty="0">
                <a:solidFill>
                  <a:schemeClr val="tx1">
                    <a:lumMod val="50000"/>
                  </a:schemeClr>
                </a:solidFill>
              </a:rPr>
              <a:t> do their QuickStart on your own.</a:t>
            </a:r>
          </a:p>
          <a:p>
            <a:r>
              <a:rPr lang="en-CA" dirty="0">
                <a:solidFill>
                  <a:schemeClr val="tx1">
                    <a:lumMod val="50000"/>
                  </a:schemeClr>
                </a:solidFill>
              </a:rPr>
              <a:t>If you find it too easy, congrats! It means you don’t have to follow my pace, and you can learn it by yourself from the docs.</a:t>
            </a:r>
          </a:p>
          <a:p>
            <a:endParaRPr lang="en-CA" dirty="0">
              <a:solidFill>
                <a:schemeClr val="tx1">
                  <a:lumMod val="50000"/>
                </a:schemeClr>
              </a:solidFill>
            </a:endParaRPr>
          </a:p>
          <a:p>
            <a:r>
              <a:rPr lang="en-CA" dirty="0">
                <a:solidFill>
                  <a:schemeClr val="tx1">
                    <a:lumMod val="50000"/>
                  </a:schemeClr>
                </a:solidFill>
              </a:rPr>
              <a:t>(Docs could be wrong and I fixed some errors for LangChain. For the most accurate information please refer to their reference.)</a:t>
            </a:r>
          </a:p>
          <a:p>
            <a:r>
              <a:rPr lang="en-CA" dirty="0">
                <a:solidFill>
                  <a:schemeClr val="tx1">
                    <a:lumMod val="50000"/>
                  </a:schemeClr>
                </a:solidFill>
              </a:rPr>
              <a:t>(Why docs != reference for LangChain? I am curious 🤔)</a:t>
            </a:r>
          </a:p>
          <a:p>
            <a:r>
              <a:rPr lang="en-CA" dirty="0">
                <a:solidFill>
                  <a:schemeClr val="tx1">
                    <a:lumMod val="50000"/>
                  </a:schemeClr>
                </a:solidFill>
              </a:rPr>
              <a:t>(If you run into any issues, just simply reach out to Yilong or me, rather than Michael.)</a:t>
            </a:r>
          </a:p>
          <a:p>
            <a:r>
              <a:rPr lang="en-CA" dirty="0">
                <a:solidFill>
                  <a:schemeClr val="tx1">
                    <a:lumMod val="50000"/>
                  </a:schemeClr>
                </a:solidFill>
              </a:rPr>
              <a:t>(We are using OpenAI API key so please simply replace Anthropic LLM with gpt-4o or others.)</a:t>
            </a:r>
          </a:p>
          <a:p>
            <a:r>
              <a:rPr lang="en-CA" dirty="0">
                <a:solidFill>
                  <a:schemeClr val="tx1">
                    <a:lumMod val="50000"/>
                  </a:schemeClr>
                </a:solidFill>
              </a:rPr>
              <a:t>(Put your API key in .env and use </a:t>
            </a:r>
            <a:r>
              <a:rPr lang="en-CA" dirty="0" err="1">
                <a:solidFill>
                  <a:schemeClr val="tx1">
                    <a:lumMod val="50000"/>
                  </a:schemeClr>
                </a:solidFill>
              </a:rPr>
              <a:t>os.getenv</a:t>
            </a:r>
            <a:r>
              <a:rPr lang="en-CA" dirty="0">
                <a:solidFill>
                  <a:schemeClr val="tx1">
                    <a:lumMod val="50000"/>
                  </a:schemeClr>
                </a:solidFill>
              </a:rPr>
              <a:t>() to get the value and pass it in to the </a:t>
            </a:r>
            <a:r>
              <a:rPr lang="en-CA" dirty="0" err="1">
                <a:solidFill>
                  <a:schemeClr val="tx1">
                    <a:lumMod val="50000"/>
                  </a:schemeClr>
                </a:solidFill>
              </a:rPr>
              <a:t>init_chat_model</a:t>
            </a:r>
            <a:r>
              <a:rPr lang="en-CA" dirty="0">
                <a:solidFill>
                  <a:schemeClr val="tx1">
                    <a:lumMod val="50000"/>
                  </a:schemeClr>
                </a:solidFill>
              </a:rPr>
              <a:t>)</a:t>
            </a:r>
          </a:p>
          <a:p>
            <a:r>
              <a:rPr lang="en-CA" dirty="0">
                <a:solidFill>
                  <a:schemeClr val="tx1">
                    <a:lumMod val="50000"/>
                  </a:schemeClr>
                </a:solidFill>
              </a:rPr>
              <a:t>(Some functions used in QuickStart would be discussed in the upcoming presentations. So, for now, just enjoy programming without actual understanding.)</a:t>
            </a:r>
          </a:p>
        </p:txBody>
      </p:sp>
      <p:pic>
        <p:nvPicPr>
          <p:cNvPr id="5" name="Picture 4">
            <a:extLst>
              <a:ext uri="{FF2B5EF4-FFF2-40B4-BE49-F238E27FC236}">
                <a16:creationId xmlns:a16="http://schemas.microsoft.com/office/drawing/2014/main" id="{6C13E062-7992-CC25-F9D0-B4B9D689ED24}"/>
              </a:ext>
            </a:extLst>
          </p:cNvPr>
          <p:cNvPicPr>
            <a:picLocks noChangeAspect="1"/>
          </p:cNvPicPr>
          <p:nvPr/>
        </p:nvPicPr>
        <p:blipFill>
          <a:blip r:embed="rId2"/>
          <a:stretch>
            <a:fillRect/>
          </a:stretch>
        </p:blipFill>
        <p:spPr>
          <a:xfrm>
            <a:off x="5028713" y="3992685"/>
            <a:ext cx="7163286" cy="2865315"/>
          </a:xfrm>
          <a:prstGeom prst="rect">
            <a:avLst/>
          </a:prstGeom>
        </p:spPr>
      </p:pic>
      <p:pic>
        <p:nvPicPr>
          <p:cNvPr id="4" name="Picture 3" descr="Michael Zhang (Director, Master of Business Analytics Program)">
            <a:extLst>
              <a:ext uri="{FF2B5EF4-FFF2-40B4-BE49-F238E27FC236}">
                <a16:creationId xmlns:a16="http://schemas.microsoft.com/office/drawing/2014/main" id="{BD924CAA-B7DA-C381-8D42-77D32BCAD9C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4"/>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7818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FADDDB-E54E-FE24-DEF5-A0F11745E49A}"/>
              </a:ext>
            </a:extLst>
          </p:cNvPr>
          <p:cNvSpPr txBox="1"/>
          <p:nvPr/>
        </p:nvSpPr>
        <p:spPr>
          <a:xfrm>
            <a:off x="-2" y="-1"/>
            <a:ext cx="12192001" cy="584775"/>
          </a:xfrm>
          <a:prstGeom prst="rect">
            <a:avLst/>
          </a:prstGeom>
          <a:noFill/>
        </p:spPr>
        <p:txBody>
          <a:bodyPr wrap="square" rtlCol="0">
            <a:spAutoFit/>
          </a:bodyPr>
          <a:lstStyle/>
          <a:p>
            <a:r>
              <a:rPr lang="en-CA" sz="3200" b="1" dirty="0">
                <a:solidFill>
                  <a:srgbClr val="612141"/>
                </a:solidFill>
              </a:rPr>
              <a:t>4. Warm-Up: Couple of Questions btw</a:t>
            </a:r>
          </a:p>
        </p:txBody>
      </p:sp>
      <p:sp>
        <p:nvSpPr>
          <p:cNvPr id="3" name="TextBox 2">
            <a:extLst>
              <a:ext uri="{FF2B5EF4-FFF2-40B4-BE49-F238E27FC236}">
                <a16:creationId xmlns:a16="http://schemas.microsoft.com/office/drawing/2014/main" id="{DB5F32F4-7C18-C734-F8E5-F4C83081A466}"/>
              </a:ext>
            </a:extLst>
          </p:cNvPr>
          <p:cNvSpPr txBox="1"/>
          <p:nvPr/>
        </p:nvSpPr>
        <p:spPr>
          <a:xfrm>
            <a:off x="-3" y="584774"/>
            <a:ext cx="11832881" cy="2585323"/>
          </a:xfrm>
          <a:prstGeom prst="rect">
            <a:avLst/>
          </a:prstGeom>
          <a:noFill/>
        </p:spPr>
        <p:txBody>
          <a:bodyPr wrap="square" rtlCol="0">
            <a:spAutoFit/>
          </a:bodyPr>
          <a:lstStyle/>
          <a:p>
            <a:r>
              <a:rPr lang="en-CA" dirty="0"/>
              <a:t>(If you can’t answer that’s okay….)</a:t>
            </a:r>
          </a:p>
          <a:p>
            <a:endParaRPr lang="en-CA" dirty="0"/>
          </a:p>
          <a:p>
            <a:pPr marL="342900" indent="-342900">
              <a:buAutoNum type="arabicPeriod"/>
            </a:pPr>
            <a:r>
              <a:rPr lang="en-CA" dirty="0"/>
              <a:t>Is the tool decorator optional?</a:t>
            </a:r>
          </a:p>
          <a:p>
            <a:pPr marL="342900" indent="-342900">
              <a:buAutoNum type="arabicPeriod"/>
            </a:pPr>
            <a:r>
              <a:rPr lang="en-CA" dirty="0"/>
              <a:t>What does </a:t>
            </a:r>
            <a:r>
              <a:rPr lang="en-CA" dirty="0" err="1"/>
              <a:t>dataclass</a:t>
            </a:r>
            <a:r>
              <a:rPr lang="en-CA" dirty="0"/>
              <a:t> decorator do?</a:t>
            </a:r>
          </a:p>
          <a:p>
            <a:pPr marL="342900" indent="-342900">
              <a:buAutoNum type="arabicPeriod"/>
            </a:pPr>
            <a:r>
              <a:rPr lang="en-CA" dirty="0"/>
              <a:t>What are the differences between user prompt and system prompt? (open question, which means no standard answer.)</a:t>
            </a:r>
          </a:p>
          <a:p>
            <a:pPr marL="342900" indent="-342900">
              <a:buAutoNum type="arabicPeriod"/>
            </a:pPr>
            <a:r>
              <a:rPr lang="en-CA" dirty="0"/>
              <a:t>Can the agent call a tool if name of this tool is removed from system prompt? </a:t>
            </a:r>
          </a:p>
          <a:p>
            <a:r>
              <a:rPr lang="en-CA" dirty="0"/>
              <a:t>……….</a:t>
            </a:r>
          </a:p>
          <a:p>
            <a:pPr marL="342900" indent="-342900">
              <a:buAutoNum type="arabicPeriod"/>
            </a:pPr>
            <a:endParaRPr lang="en-CA" dirty="0"/>
          </a:p>
        </p:txBody>
      </p:sp>
      <p:pic>
        <p:nvPicPr>
          <p:cNvPr id="4" name="Picture 3" descr="Michael Zhang (Director, Master of Business Analytics Program)">
            <a:extLst>
              <a:ext uri="{FF2B5EF4-FFF2-40B4-BE49-F238E27FC236}">
                <a16:creationId xmlns:a16="http://schemas.microsoft.com/office/drawing/2014/main" id="{0AD7F3F2-D520-0327-FA40-47FF97CA703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5902324"/>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8268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8C887-52A8-8D1B-FC1D-A269A29E3A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C91AAD-F3DA-315C-89CA-20C2B308AD1E}"/>
              </a:ext>
            </a:extLst>
          </p:cNvPr>
          <p:cNvSpPr txBox="1"/>
          <p:nvPr/>
        </p:nvSpPr>
        <p:spPr>
          <a:xfrm>
            <a:off x="1054100" y="1460500"/>
            <a:ext cx="10083800" cy="769441"/>
          </a:xfrm>
          <a:prstGeom prst="rect">
            <a:avLst/>
          </a:prstGeom>
          <a:noFill/>
        </p:spPr>
        <p:txBody>
          <a:bodyPr wrap="square" rtlCol="0">
            <a:spAutoFit/>
          </a:bodyPr>
          <a:lstStyle/>
          <a:p>
            <a:pPr algn="ctr"/>
            <a:r>
              <a:rPr lang="en-CA" sz="4400" b="1" dirty="0">
                <a:solidFill>
                  <a:srgbClr val="612141"/>
                </a:solidFill>
              </a:rPr>
              <a:t>Thank you for your paged attention!</a:t>
            </a:r>
          </a:p>
        </p:txBody>
      </p:sp>
      <p:pic>
        <p:nvPicPr>
          <p:cNvPr id="5" name="Picture 4">
            <a:extLst>
              <a:ext uri="{FF2B5EF4-FFF2-40B4-BE49-F238E27FC236}">
                <a16:creationId xmlns:a16="http://schemas.microsoft.com/office/drawing/2014/main" id="{C0D87A3E-C9F4-9124-2DC9-C504113FAD10}"/>
              </a:ext>
            </a:extLst>
          </p:cNvPr>
          <p:cNvPicPr>
            <a:picLocks noChangeAspect="1"/>
          </p:cNvPicPr>
          <p:nvPr/>
        </p:nvPicPr>
        <p:blipFill>
          <a:blip r:embed="rId2"/>
          <a:stretch>
            <a:fillRect/>
          </a:stretch>
        </p:blipFill>
        <p:spPr>
          <a:xfrm>
            <a:off x="1718587" y="2501130"/>
            <a:ext cx="8754826" cy="1855739"/>
          </a:xfrm>
          <a:prstGeom prst="rect">
            <a:avLst/>
          </a:prstGeom>
        </p:spPr>
      </p:pic>
      <p:pic>
        <p:nvPicPr>
          <p:cNvPr id="3" name="Picture 2" descr="Michael Zhang (Director, Master of Business Analytics Program)">
            <a:extLst>
              <a:ext uri="{FF2B5EF4-FFF2-40B4-BE49-F238E27FC236}">
                <a16:creationId xmlns:a16="http://schemas.microsoft.com/office/drawing/2014/main" id="{A570740D-FEB2-89FB-A3F6-23D0EFD92A2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4"/>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24906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con&#10;&#10;Description automatically generated">
            <a:extLst>
              <a:ext uri="{FF2B5EF4-FFF2-40B4-BE49-F238E27FC236}">
                <a16:creationId xmlns:a16="http://schemas.microsoft.com/office/drawing/2014/main" id="{C3A96417-83DB-5245-B67B-F06AC312B240}"/>
              </a:ext>
            </a:extLst>
          </p:cNvPr>
          <p:cNvPicPr>
            <a:picLocks noChangeAspect="1"/>
          </p:cNvPicPr>
          <p:nvPr/>
        </p:nvPicPr>
        <p:blipFill>
          <a:blip r:embed="rId2"/>
          <a:stretch>
            <a:fillRect/>
          </a:stretch>
        </p:blipFill>
        <p:spPr>
          <a:xfrm>
            <a:off x="5623152" y="2866836"/>
            <a:ext cx="945696" cy="1124327"/>
          </a:xfrm>
          <a:prstGeom prst="rect">
            <a:avLst/>
          </a:prstGeom>
        </p:spPr>
      </p:pic>
    </p:spTree>
    <p:extLst>
      <p:ext uri="{BB962C8B-B14F-4D97-AF65-F5344CB8AC3E}">
        <p14:creationId xmlns:p14="http://schemas.microsoft.com/office/powerpoint/2010/main" val="2967837301"/>
      </p:ext>
    </p:extLst>
  </p:cSld>
  <p:clrMapOvr>
    <a:masterClrMapping/>
  </p:clrMapOvr>
</p:sld>
</file>

<file path=ppt/theme/theme1.xml><?xml version="1.0" encoding="utf-8"?>
<a:theme xmlns:a="http://schemas.openxmlformats.org/drawingml/2006/main" name="Custom Design">
  <a:themeElements>
    <a:clrScheme name="SMU Brand">
      <a:dk1>
        <a:srgbClr val="5D5E5D"/>
      </a:dk1>
      <a:lt1>
        <a:srgbClr val="FFFFFF"/>
      </a:lt1>
      <a:dk2>
        <a:srgbClr val="5F0A3E"/>
      </a:dk2>
      <a:lt2>
        <a:srgbClr val="CBCBCB"/>
      </a:lt2>
      <a:accent1>
        <a:srgbClr val="BA1B33"/>
      </a:accent1>
      <a:accent2>
        <a:srgbClr val="8CC645"/>
      </a:accent2>
      <a:accent3>
        <a:srgbClr val="FFE73C"/>
      </a:accent3>
      <a:accent4>
        <a:srgbClr val="FE7024"/>
      </a:accent4>
      <a:accent5>
        <a:srgbClr val="02BADF"/>
      </a:accent5>
      <a:accent6>
        <a:srgbClr val="FFFFFF"/>
      </a:accent6>
      <a:hlink>
        <a:srgbClr val="0563C1"/>
      </a:hlink>
      <a:folHlink>
        <a:srgbClr val="BA1B33"/>
      </a:folHlink>
    </a:clrScheme>
    <a:fontScheme name="Custom 1">
      <a:majorFont>
        <a:latin typeface="Raleway Extrabold"/>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DBFC40F3-7CD4-4529-8B92-DB825C0EA444}" vid="{5FC9822B-9D40-4053-B188-1529CAE1BD01}"/>
    </a:ext>
  </a:extLst>
</a:theme>
</file>

<file path=ppt/theme/theme2.xml><?xml version="1.0" encoding="utf-8"?>
<a:theme xmlns:a="http://schemas.openxmlformats.org/drawingml/2006/main" name="Office Theme">
  <a:themeElements>
    <a:clrScheme name="SMU Brand">
      <a:dk1>
        <a:srgbClr val="5D5E5D"/>
      </a:dk1>
      <a:lt1>
        <a:srgbClr val="FFFFFF"/>
      </a:lt1>
      <a:dk2>
        <a:srgbClr val="5F0A3E"/>
      </a:dk2>
      <a:lt2>
        <a:srgbClr val="CBCBCB"/>
      </a:lt2>
      <a:accent1>
        <a:srgbClr val="BA1B33"/>
      </a:accent1>
      <a:accent2>
        <a:srgbClr val="8CC645"/>
      </a:accent2>
      <a:accent3>
        <a:srgbClr val="FFE73C"/>
      </a:accent3>
      <a:accent4>
        <a:srgbClr val="FE7024"/>
      </a:accent4>
      <a:accent5>
        <a:srgbClr val="02BADF"/>
      </a:accent5>
      <a:accent6>
        <a:srgbClr val="FFFFFF"/>
      </a:accent6>
      <a:hlink>
        <a:srgbClr val="0563C1"/>
      </a:hlink>
      <a:folHlink>
        <a:srgbClr val="BA1B33"/>
      </a:folHlink>
    </a:clrScheme>
    <a:fontScheme name="SMU">
      <a:majorFont>
        <a:latin typeface="Arial Black"/>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DBFC40F3-7CD4-4529-8B92-DB825C0EA444}" vid="{3F13DB48-E3EA-4868-91CC-15C4CB52CDA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ec2d0b7-503f-4434-bd5e-691963e6366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107646D0035FA4C8F1F95DBA74C7670" ma:contentTypeVersion="17" ma:contentTypeDescription="Create a new document." ma:contentTypeScope="" ma:versionID="cf5fc4cdedd07f1462f4c8ec2afe1d1c">
  <xsd:schema xmlns:xsd="http://www.w3.org/2001/XMLSchema" xmlns:xs="http://www.w3.org/2001/XMLSchema" xmlns:p="http://schemas.microsoft.com/office/2006/metadata/properties" xmlns:ns3="9ec2d0b7-503f-4434-bd5e-691963e6366e" xmlns:ns4="a169fe49-86d9-4b9f-a163-9271c3e82536" targetNamespace="http://schemas.microsoft.com/office/2006/metadata/properties" ma:root="true" ma:fieldsID="20a8c7e6184b57429edc59a72a4cddf8" ns3:_="" ns4:_="">
    <xsd:import namespace="9ec2d0b7-503f-4434-bd5e-691963e6366e"/>
    <xsd:import namespace="a169fe49-86d9-4b9f-a163-9271c3e82536"/>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_activity" minOccurs="0"/>
                <xsd:element ref="ns3:MediaServiceObjectDetectorVersions" minOccurs="0"/>
                <xsd:element ref="ns3:MediaServiceGenerationTime" minOccurs="0"/>
                <xsd:element ref="ns3:MediaServiceEventHashCode" minOccurs="0"/>
                <xsd:element ref="ns3:MediaLengthInSeconds" minOccurs="0"/>
                <xsd:element ref="ns3:MediaServiceSearchProperties" minOccurs="0"/>
                <xsd:element ref="ns3:MediaServiceDateTaken" minOccurs="0"/>
                <xsd:element ref="ns3:MediaServiceSystemTags" minOccurs="0"/>
                <xsd:element ref="ns3:MediaServiceLocation"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c2d0b7-503f-4434-bd5e-691963e636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Location" ma:index="23" nillable="true" ma:displayName="Location" ma:indexed="true" ma:internalName="MediaServiceLocation" ma:readOnly="true">
      <xsd:simpleType>
        <xsd:restriction base="dms:Text"/>
      </xsd:simpleType>
    </xsd:element>
    <xsd:element name="MediaServiceOCR" ma:index="24"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169fe49-86d9-4b9f-a163-9271c3e8253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1CCE7F9-BB03-4D29-A244-C8FCCA2B3E19}">
  <ds:schemaRefs>
    <ds:schemaRef ds:uri="http://schemas.microsoft.com/sharepoint/v3/contenttype/forms"/>
  </ds:schemaRefs>
</ds:datastoreItem>
</file>

<file path=customXml/itemProps2.xml><?xml version="1.0" encoding="utf-8"?>
<ds:datastoreItem xmlns:ds="http://schemas.openxmlformats.org/officeDocument/2006/customXml" ds:itemID="{F018E202-7E2C-4F25-B352-1695B79A5E4F}">
  <ds:schemaRefs>
    <ds:schemaRef ds:uri="9ec2d0b7-503f-4434-bd5e-691963e6366e"/>
    <ds:schemaRef ds:uri="a169fe49-86d9-4b9f-a163-9271c3e8253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A7425D8-505A-4C3E-A58C-BB480D4AEAF5}">
  <ds:schemaRefs>
    <ds:schemaRef ds:uri="9ec2d0b7-503f-4434-bd5e-691963e6366e"/>
    <ds:schemaRef ds:uri="a169fe49-86d9-4b9f-a163-9271c3e8253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SMUPresentationTemplate_FontsEmbedded</Template>
  <TotalTime>2307</TotalTime>
  <Words>1294</Words>
  <Application>Microsoft Office PowerPoint</Application>
  <PresentationFormat>Widescreen</PresentationFormat>
  <Paragraphs>101</Paragraphs>
  <Slides>20</Slides>
  <Notes>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20</vt:i4>
      </vt:variant>
    </vt:vector>
  </HeadingPairs>
  <TitlesOfParts>
    <vt:vector size="25" baseType="lpstr">
      <vt:lpstr>Arial Black</vt:lpstr>
      <vt:lpstr>Calibri</vt:lpstr>
      <vt:lpstr>Arial</vt:lpstr>
      <vt:lpstr>Custom Design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Zhouri</dc:creator>
  <cp:lastModifiedBy>Yilin Huang</cp:lastModifiedBy>
  <cp:revision>34</cp:revision>
  <cp:lastPrinted>2022-03-31T15:24:48Z</cp:lastPrinted>
  <dcterms:created xsi:type="dcterms:W3CDTF">2025-06-19T12:10:18Z</dcterms:created>
  <dcterms:modified xsi:type="dcterms:W3CDTF">2026-01-18T18:10:38Z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0x010100C107646D0035FA4C8F1F95DBA74C7670</vt:lpwstr>
  </property>
</Properties>
</file>