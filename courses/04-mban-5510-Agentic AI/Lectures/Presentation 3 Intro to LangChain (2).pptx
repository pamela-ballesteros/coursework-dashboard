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73" r:id="rId4"/>
    <p:sldMasterId id="2147483795" r:id="rId5"/>
  </p:sldMasterIdLst>
  <p:notesMasterIdLst>
    <p:notesMasterId r:id="rId39"/>
  </p:notesMasterIdLst>
  <p:handoutMasterIdLst>
    <p:handoutMasterId r:id="rId40"/>
  </p:handoutMasterIdLst>
  <p:sldIdLst>
    <p:sldId id="290" r:id="rId6"/>
    <p:sldId id="493" r:id="rId7"/>
    <p:sldId id="510" r:id="rId8"/>
    <p:sldId id="511" r:id="rId9"/>
    <p:sldId id="512" r:id="rId10"/>
    <p:sldId id="513" r:id="rId11"/>
    <p:sldId id="514" r:id="rId12"/>
    <p:sldId id="515" r:id="rId13"/>
    <p:sldId id="516" r:id="rId14"/>
    <p:sldId id="523" r:id="rId15"/>
    <p:sldId id="517" r:id="rId16"/>
    <p:sldId id="518" r:id="rId17"/>
    <p:sldId id="519" r:id="rId18"/>
    <p:sldId id="494" r:id="rId19"/>
    <p:sldId id="495" r:id="rId20"/>
    <p:sldId id="498" r:id="rId21"/>
    <p:sldId id="496" r:id="rId22"/>
    <p:sldId id="497" r:id="rId23"/>
    <p:sldId id="500" r:id="rId24"/>
    <p:sldId id="499" r:id="rId25"/>
    <p:sldId id="501" r:id="rId26"/>
    <p:sldId id="502" r:id="rId27"/>
    <p:sldId id="503" r:id="rId28"/>
    <p:sldId id="504" r:id="rId29"/>
    <p:sldId id="505" r:id="rId30"/>
    <p:sldId id="506" r:id="rId31"/>
    <p:sldId id="507" r:id="rId32"/>
    <p:sldId id="520" r:id="rId33"/>
    <p:sldId id="521" r:id="rId34"/>
    <p:sldId id="522" r:id="rId35"/>
    <p:sldId id="509" r:id="rId36"/>
    <p:sldId id="508" r:id="rId37"/>
    <p:sldId id="475" r:id="rId38"/>
  </p:sldIdLst>
  <p:sldSz cx="12192000" cy="6858000"/>
  <p:notesSz cx="6858000" cy="9144000"/>
  <p:embeddedFontLst>
    <p:embeddedFont>
      <p:font typeface="Arial Black" panose="020B0A04020102020204" pitchFamily="34" charset="0"/>
      <p:bold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14966C77-95E5-1E49-B131-2F9202CDF0C1}">
          <p14:sldIdLst>
            <p14:sldId id="290"/>
          </p14:sldIdLst>
        </p14:section>
        <p14:section name="Presentation" id="{9C487E9F-D4EB-EB42-B385-3CDF030F4242}">
          <p14:sldIdLst>
            <p14:sldId id="493"/>
            <p14:sldId id="510"/>
            <p14:sldId id="511"/>
            <p14:sldId id="512"/>
            <p14:sldId id="513"/>
            <p14:sldId id="514"/>
            <p14:sldId id="515"/>
            <p14:sldId id="516"/>
            <p14:sldId id="523"/>
            <p14:sldId id="517"/>
            <p14:sldId id="518"/>
            <p14:sldId id="519"/>
            <p14:sldId id="494"/>
            <p14:sldId id="495"/>
            <p14:sldId id="498"/>
            <p14:sldId id="496"/>
            <p14:sldId id="497"/>
            <p14:sldId id="500"/>
            <p14:sldId id="499"/>
            <p14:sldId id="501"/>
            <p14:sldId id="502"/>
            <p14:sldId id="503"/>
            <p14:sldId id="504"/>
            <p14:sldId id="505"/>
            <p14:sldId id="506"/>
            <p14:sldId id="507"/>
            <p14:sldId id="520"/>
            <p14:sldId id="521"/>
            <p14:sldId id="522"/>
            <p14:sldId id="509"/>
            <p14:sldId id="508"/>
            <p14:sldId id="4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A83934F-2BC0-1588-E986-F9EF5995AB8B}" name="Margaret Murphy" initials="MM" userId="S::Margaret.Murphy@smu.ca::1c5a68ef-e9f5-4d75-aa17-d402a31635af" providerId="AD"/>
  <p188:author id="{D79F8BE3-B503-55B1-C2C3-4870E081325C}" name="Nadine LaRoche" initials="NL" userId="S::nadine.laroche@smu.ca::c7099506-2b9b-4cb9-a512-27782df0d03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2141"/>
    <a:srgbClr val="BB1B33"/>
    <a:srgbClr val="5F0A3E"/>
    <a:srgbClr val="EEDC00"/>
    <a:srgbClr val="00A2C7"/>
    <a:srgbClr val="72A300"/>
    <a:srgbClr val="FF6A14"/>
    <a:srgbClr val="9D2235"/>
    <a:srgbClr val="911330"/>
    <a:srgbClr val="2B2E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7410" autoAdjust="0"/>
  </p:normalViewPr>
  <p:slideViewPr>
    <p:cSldViewPr snapToGrid="0">
      <p:cViewPr varScale="1">
        <p:scale>
          <a:sx n="97" d="100"/>
          <a:sy n="97" d="100"/>
        </p:scale>
        <p:origin x="1074" y="11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microsoft.com/office/2018/10/relationships/authors" Target="authors.xml"/><Relationship Id="rId20" Type="http://schemas.openxmlformats.org/officeDocument/2006/relationships/slide" Target="slides/slide15.xml"/><Relationship Id="rId41" Type="http://schemas.openxmlformats.org/officeDocument/2006/relationships/font" Target="fonts/font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DF4323-3BF0-95F4-7460-74AA9630418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E97145D2-7B56-E808-6C80-2F1E66D2188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721F4E-852C-4843-848B-65B72FDCC89C}" type="datetimeFigureOut">
              <a:rPr lang="en-CA" smtClean="0"/>
              <a:t>2026-01-31</a:t>
            </a:fld>
            <a:endParaRPr lang="en-CA"/>
          </a:p>
        </p:txBody>
      </p:sp>
      <p:sp>
        <p:nvSpPr>
          <p:cNvPr id="4" name="Footer Placeholder 3">
            <a:extLst>
              <a:ext uri="{FF2B5EF4-FFF2-40B4-BE49-F238E27FC236}">
                <a16:creationId xmlns:a16="http://schemas.microsoft.com/office/drawing/2014/main" id="{98E5F336-B085-CC83-95AF-CE57BE7728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98D9F14A-8744-1B49-D51E-4617ED3F4AA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51E18B-2064-4377-9E3F-6D274F9CD1BD}" type="slidenum">
              <a:rPr lang="en-CA" smtClean="0"/>
              <a:t>‹#›</a:t>
            </a:fld>
            <a:endParaRPr lang="en-CA"/>
          </a:p>
        </p:txBody>
      </p:sp>
    </p:spTree>
    <p:extLst>
      <p:ext uri="{BB962C8B-B14F-4D97-AF65-F5344CB8AC3E}">
        <p14:creationId xmlns:p14="http://schemas.microsoft.com/office/powerpoint/2010/main" val="25073060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B6FF8-7EE2-8344-B6A5-C9AE38CA73C7}" type="datetimeFigureOut">
              <a:rPr lang="en-US" smtClean="0"/>
              <a:t>1/31/2026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F60C5B-9251-0E4E-A71E-273408E7D990}" type="slidenum">
              <a:rPr lang="en-US" smtClean="0"/>
              <a:t>‹#›</a:t>
            </a:fld>
            <a:endParaRPr lang="en-US"/>
          </a:p>
        </p:txBody>
      </p:sp>
    </p:spTree>
    <p:extLst>
      <p:ext uri="{BB962C8B-B14F-4D97-AF65-F5344CB8AC3E}">
        <p14:creationId xmlns:p14="http://schemas.microsoft.com/office/powerpoint/2010/main" val="376265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ea typeface="Calibri"/>
              <a:cs typeface="Calibri"/>
            </a:endParaRPr>
          </a:p>
          <a:p>
            <a:endParaRPr lang="en-CA"/>
          </a:p>
        </p:txBody>
      </p:sp>
      <p:sp>
        <p:nvSpPr>
          <p:cNvPr id="4" name="Slide Number Placeholder 3"/>
          <p:cNvSpPr>
            <a:spLocks noGrp="1"/>
          </p:cNvSpPr>
          <p:nvPr>
            <p:ph type="sldNum" sz="quarter" idx="5"/>
          </p:nvPr>
        </p:nvSpPr>
        <p:spPr/>
        <p:txBody>
          <a:bodyPr/>
          <a:lstStyle/>
          <a:p>
            <a:fld id="{0DF60C5B-9251-0E4E-A71E-273408E7D990}" type="slidenum">
              <a:rPr lang="en-US" smtClean="0"/>
              <a:t>1</a:t>
            </a:fld>
            <a:endParaRPr lang="en-US"/>
          </a:p>
        </p:txBody>
      </p:sp>
    </p:spTree>
    <p:extLst>
      <p:ext uri="{BB962C8B-B14F-4D97-AF65-F5344CB8AC3E}">
        <p14:creationId xmlns:p14="http://schemas.microsoft.com/office/powerpoint/2010/main" val="3635520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a:buNone/>
            </a:pPr>
            <a:endParaRPr lang="en-US" dirty="0">
              <a:solidFill>
                <a:srgbClr val="5D5E5D"/>
              </a:solidFill>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DF60C5B-9251-0E4E-A71E-273408E7D990}" type="slidenum">
              <a:rPr lang="en-US" smtClean="0"/>
              <a:t>2</a:t>
            </a:fld>
            <a:endParaRPr lang="en-US"/>
          </a:p>
        </p:txBody>
      </p:sp>
    </p:spTree>
    <p:extLst>
      <p:ext uri="{BB962C8B-B14F-4D97-AF65-F5344CB8AC3E}">
        <p14:creationId xmlns:p14="http://schemas.microsoft.com/office/powerpoint/2010/main" val="3152015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FC943-8101-CA47-FC1B-8460F2C346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1F8A97-03F7-56D9-F86A-4BCA1E4BCC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489BC5-9FE9-849D-24F9-BB91A4AB090E}"/>
              </a:ext>
            </a:extLst>
          </p:cNvPr>
          <p:cNvSpPr>
            <a:spLocks noGrp="1"/>
          </p:cNvSpPr>
          <p:nvPr>
            <p:ph type="body" idx="1"/>
          </p:nvPr>
        </p:nvSpPr>
        <p:spPr/>
        <p:txBody>
          <a:bodyPr/>
          <a:lstStyle/>
          <a:p>
            <a:pPr marL="0" indent="0">
              <a:buFont typeface="Arial"/>
              <a:buNone/>
            </a:pPr>
            <a:endParaRPr lang="en-US" dirty="0">
              <a:solidFill>
                <a:srgbClr val="5D5E5D"/>
              </a:solidFill>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C5EF218F-639F-7EED-C3BA-60B0E1B88C84}"/>
              </a:ext>
            </a:extLst>
          </p:cNvPr>
          <p:cNvSpPr>
            <a:spLocks noGrp="1"/>
          </p:cNvSpPr>
          <p:nvPr>
            <p:ph type="sldNum" sz="quarter" idx="5"/>
          </p:nvPr>
        </p:nvSpPr>
        <p:spPr/>
        <p:txBody>
          <a:bodyPr/>
          <a:lstStyle/>
          <a:p>
            <a:fld id="{0DF60C5B-9251-0E4E-A71E-273408E7D990}" type="slidenum">
              <a:rPr lang="en-US" smtClean="0"/>
              <a:t>3</a:t>
            </a:fld>
            <a:endParaRPr lang="en-US"/>
          </a:p>
        </p:txBody>
      </p:sp>
    </p:spTree>
    <p:extLst>
      <p:ext uri="{BB962C8B-B14F-4D97-AF65-F5344CB8AC3E}">
        <p14:creationId xmlns:p14="http://schemas.microsoft.com/office/powerpoint/2010/main" val="2685019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0955A-FDDC-4EE7-0C8B-86A32B7CCA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51459A-EC31-4AEC-3CCF-7DDC37F8A5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6FB227-58D6-D6FF-1467-B614840F46A4}"/>
              </a:ext>
            </a:extLst>
          </p:cNvPr>
          <p:cNvSpPr>
            <a:spLocks noGrp="1"/>
          </p:cNvSpPr>
          <p:nvPr>
            <p:ph type="body" idx="1"/>
          </p:nvPr>
        </p:nvSpPr>
        <p:spPr/>
        <p:txBody>
          <a:bodyPr/>
          <a:lstStyle/>
          <a:p>
            <a:pPr marL="0" indent="0">
              <a:buFont typeface="Arial"/>
              <a:buNone/>
            </a:pPr>
            <a:endParaRPr lang="en-US" dirty="0">
              <a:solidFill>
                <a:srgbClr val="5D5E5D"/>
              </a:solidFill>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D0F9EB17-4DFB-E844-7182-3338FC1E70AA}"/>
              </a:ext>
            </a:extLst>
          </p:cNvPr>
          <p:cNvSpPr>
            <a:spLocks noGrp="1"/>
          </p:cNvSpPr>
          <p:nvPr>
            <p:ph type="sldNum" sz="quarter" idx="5"/>
          </p:nvPr>
        </p:nvSpPr>
        <p:spPr/>
        <p:txBody>
          <a:bodyPr/>
          <a:lstStyle/>
          <a:p>
            <a:fld id="{0DF60C5B-9251-0E4E-A71E-273408E7D990}" type="slidenum">
              <a:rPr lang="en-US" smtClean="0"/>
              <a:t>4</a:t>
            </a:fld>
            <a:endParaRPr lang="en-US"/>
          </a:p>
        </p:txBody>
      </p:sp>
    </p:spTree>
    <p:extLst>
      <p:ext uri="{BB962C8B-B14F-4D97-AF65-F5344CB8AC3E}">
        <p14:creationId xmlns:p14="http://schemas.microsoft.com/office/powerpoint/2010/main" val="3129172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DF60C5B-9251-0E4E-A71E-273408E7D990}" type="slidenum">
              <a:rPr lang="en-US" smtClean="0"/>
              <a:t>14</a:t>
            </a:fld>
            <a:endParaRPr lang="en-US"/>
          </a:p>
        </p:txBody>
      </p:sp>
    </p:spTree>
    <p:extLst>
      <p:ext uri="{BB962C8B-B14F-4D97-AF65-F5344CB8AC3E}">
        <p14:creationId xmlns:p14="http://schemas.microsoft.com/office/powerpoint/2010/main" val="818774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BF102-3E23-31E2-89B1-6D10E76D6A30}"/>
              </a:ext>
            </a:extLst>
          </p:cNvPr>
          <p:cNvSpPr>
            <a:spLocks noGrp="1"/>
          </p:cNvSpPr>
          <p:nvPr>
            <p:ph type="ctrTitle"/>
          </p:nvPr>
        </p:nvSpPr>
        <p:spPr>
          <a:xfrm>
            <a:off x="1524000" y="1122363"/>
            <a:ext cx="9144000" cy="2387600"/>
          </a:xfrm>
        </p:spPr>
        <p:txBody>
          <a:bodyPr anchor="b">
            <a:normAutofit/>
          </a:bodyPr>
          <a:lstStyle>
            <a:lvl1pPr algn="ctr">
              <a:defRPr sz="4200">
                <a:solidFill>
                  <a:srgbClr val="5F0A3E"/>
                </a:solidFill>
              </a:defRPr>
            </a:lvl1pPr>
          </a:lstStyle>
          <a:p>
            <a:r>
              <a:rPr lang="en-US"/>
              <a:t>Click to edit Master title style</a:t>
            </a:r>
          </a:p>
        </p:txBody>
      </p:sp>
      <p:sp>
        <p:nvSpPr>
          <p:cNvPr id="3" name="Subtitle 2">
            <a:extLst>
              <a:ext uri="{FF2B5EF4-FFF2-40B4-BE49-F238E27FC236}">
                <a16:creationId xmlns:a16="http://schemas.microsoft.com/office/drawing/2014/main" id="{E10CE49A-F308-F906-57BF-301518EDB371}"/>
              </a:ext>
            </a:extLst>
          </p:cNvPr>
          <p:cNvSpPr>
            <a:spLocks noGrp="1"/>
          </p:cNvSpPr>
          <p:nvPr>
            <p:ph type="subTitle" idx="1"/>
          </p:nvPr>
        </p:nvSpPr>
        <p:spPr>
          <a:xfrm>
            <a:off x="1524000" y="3602038"/>
            <a:ext cx="9144000" cy="1655762"/>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C2DB8F-3E2D-066F-06A0-BAC3A512485A}"/>
              </a:ext>
            </a:extLst>
          </p:cNvPr>
          <p:cNvSpPr>
            <a:spLocks noGrp="1"/>
          </p:cNvSpPr>
          <p:nvPr>
            <p:ph type="dt" sz="half" idx="10"/>
          </p:nvPr>
        </p:nvSpPr>
        <p:spPr/>
        <p:txBody>
          <a:bodyPr/>
          <a:lstStyle/>
          <a:p>
            <a:fld id="{93D1B2C0-1FD5-7B40-B252-D9944AD07450}" type="datetimeFigureOut">
              <a:rPr lang="en-US" smtClean="0"/>
              <a:t>1/31/2026</a:t>
            </a:fld>
            <a:endParaRPr lang="en-US"/>
          </a:p>
        </p:txBody>
      </p:sp>
      <p:sp>
        <p:nvSpPr>
          <p:cNvPr id="5" name="Footer Placeholder 4">
            <a:extLst>
              <a:ext uri="{FF2B5EF4-FFF2-40B4-BE49-F238E27FC236}">
                <a16:creationId xmlns:a16="http://schemas.microsoft.com/office/drawing/2014/main" id="{706529B2-49CA-4E66-3564-88DFBB70E3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90FC01-E720-407D-5043-01DA805881E1}"/>
              </a:ext>
            </a:extLst>
          </p:cNvPr>
          <p:cNvSpPr>
            <a:spLocks noGrp="1"/>
          </p:cNvSpPr>
          <p:nvPr>
            <p:ph type="sldNum" sz="quarter" idx="12"/>
          </p:nvPr>
        </p:nvSpPr>
        <p:spPr/>
        <p:txBody>
          <a:bodyPr/>
          <a:lstStyle/>
          <a:p>
            <a:fld id="{FDC0A681-0EFA-2C42-B0CE-6F23BA4C0A49}" type="slidenum">
              <a:rPr lang="en-US" smtClean="0"/>
              <a:t>‹#›</a:t>
            </a:fld>
            <a:endParaRPr lang="en-US"/>
          </a:p>
        </p:txBody>
      </p:sp>
    </p:spTree>
    <p:extLst>
      <p:ext uri="{BB962C8B-B14F-4D97-AF65-F5344CB8AC3E}">
        <p14:creationId xmlns:p14="http://schemas.microsoft.com/office/powerpoint/2010/main" val="1916852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80603A-465B-D048-A17D-E0BC88D932E2}"/>
              </a:ext>
            </a:extLst>
          </p:cNvPr>
          <p:cNvSpPr/>
          <p:nvPr userDrawn="1"/>
        </p:nvSpPr>
        <p:spPr>
          <a:xfrm>
            <a:off x="0" y="0"/>
            <a:ext cx="12192000" cy="5738648"/>
          </a:xfrm>
          <a:prstGeom prst="rect">
            <a:avLst/>
          </a:prstGeom>
          <a:solidFill>
            <a:srgbClr val="612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612141"/>
              </a:solidFill>
            </a:endParaRPr>
          </a:p>
        </p:txBody>
      </p:sp>
      <p:pic>
        <p:nvPicPr>
          <p:cNvPr id="3" name="Picture 2" descr="A picture containing text, sign&#10;&#10;Description automatically generated">
            <a:extLst>
              <a:ext uri="{FF2B5EF4-FFF2-40B4-BE49-F238E27FC236}">
                <a16:creationId xmlns:a16="http://schemas.microsoft.com/office/drawing/2014/main" id="{7465B2A5-17AC-534F-998D-982C6FA1F47E}"/>
              </a:ext>
            </a:extLst>
          </p:cNvPr>
          <p:cNvPicPr>
            <a:picLocks noChangeAspect="1"/>
          </p:cNvPicPr>
          <p:nvPr userDrawn="1"/>
        </p:nvPicPr>
        <p:blipFill>
          <a:blip r:embed="rId2"/>
          <a:stretch>
            <a:fillRect/>
          </a:stretch>
        </p:blipFill>
        <p:spPr>
          <a:xfrm>
            <a:off x="9990508" y="6036270"/>
            <a:ext cx="1753043" cy="518506"/>
          </a:xfrm>
          <a:prstGeom prst="rect">
            <a:avLst/>
          </a:prstGeom>
        </p:spPr>
      </p:pic>
      <p:pic>
        <p:nvPicPr>
          <p:cNvPr id="4" name="Picture 3" descr="Shape&#10;&#10;Description automatically generated">
            <a:extLst>
              <a:ext uri="{FF2B5EF4-FFF2-40B4-BE49-F238E27FC236}">
                <a16:creationId xmlns:a16="http://schemas.microsoft.com/office/drawing/2014/main" id="{F779E60D-13A1-644B-A835-FD02D32D669B}"/>
              </a:ext>
            </a:extLst>
          </p:cNvPr>
          <p:cNvPicPr>
            <a:picLocks noChangeAspect="1"/>
          </p:cNvPicPr>
          <p:nvPr userDrawn="1"/>
        </p:nvPicPr>
        <p:blipFill rotWithShape="1">
          <a:blip r:embed="rId3"/>
          <a:srcRect l="26182"/>
          <a:stretch/>
        </p:blipFill>
        <p:spPr>
          <a:xfrm>
            <a:off x="0" y="3897246"/>
            <a:ext cx="9553262" cy="2879292"/>
          </a:xfrm>
          <a:prstGeom prst="rect">
            <a:avLst/>
          </a:prstGeom>
        </p:spPr>
      </p:pic>
      <p:sp>
        <p:nvSpPr>
          <p:cNvPr id="7" name="Title 1">
            <a:extLst>
              <a:ext uri="{FF2B5EF4-FFF2-40B4-BE49-F238E27FC236}">
                <a16:creationId xmlns:a16="http://schemas.microsoft.com/office/drawing/2014/main" id="{938C8071-8435-B248-8CC4-8CC2D6D75346}"/>
              </a:ext>
            </a:extLst>
          </p:cNvPr>
          <p:cNvSpPr>
            <a:spLocks noGrp="1"/>
          </p:cNvSpPr>
          <p:nvPr>
            <p:ph type="title"/>
          </p:nvPr>
        </p:nvSpPr>
        <p:spPr>
          <a:xfrm>
            <a:off x="957942" y="1794923"/>
            <a:ext cx="9140215" cy="834630"/>
          </a:xfrm>
          <a:prstGeom prst="rect">
            <a:avLst/>
          </a:prstGeom>
        </p:spPr>
        <p:txBody>
          <a:bodyPr anchor="b">
            <a:normAutofit/>
          </a:bodyPr>
          <a:lstStyle>
            <a:lvl1pPr algn="l">
              <a:defRPr sz="4200" b="0">
                <a:solidFill>
                  <a:schemeClr val="bg1"/>
                </a:solidFill>
                <a:latin typeface="Arial Black" panose="020B0A04020102020204" pitchFamily="34" charset="0"/>
              </a:defRPr>
            </a:lvl1pPr>
          </a:lstStyle>
          <a:p>
            <a:r>
              <a:rPr lang="en-US"/>
              <a:t>Click to edit Master title style</a:t>
            </a:r>
          </a:p>
        </p:txBody>
      </p:sp>
      <p:sp>
        <p:nvSpPr>
          <p:cNvPr id="8" name="Text Placeholder 2">
            <a:extLst>
              <a:ext uri="{FF2B5EF4-FFF2-40B4-BE49-F238E27FC236}">
                <a16:creationId xmlns:a16="http://schemas.microsoft.com/office/drawing/2014/main" id="{9DB37785-45C8-AE4A-9166-6D7F52963688}"/>
              </a:ext>
            </a:extLst>
          </p:cNvPr>
          <p:cNvSpPr>
            <a:spLocks noGrp="1"/>
          </p:cNvSpPr>
          <p:nvPr>
            <p:ph type="body" idx="1"/>
          </p:nvPr>
        </p:nvSpPr>
        <p:spPr>
          <a:xfrm>
            <a:off x="957942" y="2867819"/>
            <a:ext cx="6088901" cy="461666"/>
          </a:xfrm>
        </p:spPr>
        <p:txBody>
          <a:bodyPr/>
          <a:lstStyle>
            <a:lvl1pPr marL="0" indent="0">
              <a:buNone/>
              <a:defRPr sz="24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556643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DC5CD5-7EC1-FE4D-BB82-8485AC698AC7}"/>
              </a:ext>
            </a:extLst>
          </p:cNvPr>
          <p:cNvSpPr/>
          <p:nvPr userDrawn="1"/>
        </p:nvSpPr>
        <p:spPr>
          <a:xfrm>
            <a:off x="0" y="0"/>
            <a:ext cx="12192000" cy="6858000"/>
          </a:xfrm>
          <a:prstGeom prst="rect">
            <a:avLst/>
          </a:prstGeom>
          <a:solidFill>
            <a:srgbClr val="61214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3FF1A6-E974-CA44-972F-ABD12FC73ECB}"/>
              </a:ext>
            </a:extLst>
          </p:cNvPr>
          <p:cNvSpPr>
            <a:spLocks noGrp="1"/>
          </p:cNvSpPr>
          <p:nvPr>
            <p:ph type="title"/>
          </p:nvPr>
        </p:nvSpPr>
        <p:spPr>
          <a:xfrm>
            <a:off x="2322581" y="3011685"/>
            <a:ext cx="7546837" cy="834630"/>
          </a:xfrm>
          <a:prstGeom prst="rect">
            <a:avLst/>
          </a:prstGeom>
        </p:spPr>
        <p:txBody>
          <a:bodyPr anchor="b">
            <a:normAutofit/>
          </a:bodyPr>
          <a:lstStyle>
            <a:lvl1pPr algn="ctr">
              <a:defRPr sz="4200" b="0">
                <a:solidFill>
                  <a:schemeClr val="bg1"/>
                </a:solidFill>
                <a:latin typeface="Arial Black" panose="020B0A04020102020204" pitchFamily="34" charset="0"/>
              </a:defRPr>
            </a:lvl1pPr>
          </a:lstStyle>
          <a:p>
            <a:r>
              <a:rPr lang="en-US"/>
              <a:t>Click to edit Master title</a:t>
            </a:r>
          </a:p>
        </p:txBody>
      </p:sp>
    </p:spTree>
    <p:extLst>
      <p:ext uri="{BB962C8B-B14F-4D97-AF65-F5344CB8AC3E}">
        <p14:creationId xmlns:p14="http://schemas.microsoft.com/office/powerpoint/2010/main" val="3570308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ub 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DBFF5A7-AD8A-4F41-AA2A-46D7A544F5F3}"/>
              </a:ext>
            </a:extLst>
          </p:cNvPr>
          <p:cNvSpPr/>
          <p:nvPr userDrawn="1"/>
        </p:nvSpPr>
        <p:spPr>
          <a:xfrm>
            <a:off x="0" y="0"/>
            <a:ext cx="12192000" cy="6858000"/>
          </a:xfrm>
          <a:prstGeom prst="rect">
            <a:avLst/>
          </a:prstGeom>
          <a:solidFill>
            <a:srgbClr val="5F0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E3A2FE9-F0FD-3E41-B8AF-2580AE51F119}"/>
              </a:ext>
            </a:extLst>
          </p:cNvPr>
          <p:cNvPicPr>
            <a:picLocks noChangeAspect="1"/>
          </p:cNvPicPr>
          <p:nvPr userDrawn="1"/>
        </p:nvPicPr>
        <p:blipFill rotWithShape="1">
          <a:blip r:embed="rId2">
            <a:alphaModFix amt="20000"/>
          </a:blip>
          <a:srcRect t="12302" r="18707" b="20095"/>
          <a:stretch/>
        </p:blipFill>
        <p:spPr>
          <a:xfrm>
            <a:off x="3921800" y="0"/>
            <a:ext cx="8270200" cy="6858000"/>
          </a:xfrm>
          <a:prstGeom prst="rect">
            <a:avLst/>
          </a:prstGeom>
        </p:spPr>
      </p:pic>
      <p:sp>
        <p:nvSpPr>
          <p:cNvPr id="2" name="Title 1">
            <a:extLst>
              <a:ext uri="{FF2B5EF4-FFF2-40B4-BE49-F238E27FC236}">
                <a16:creationId xmlns:a16="http://schemas.microsoft.com/office/drawing/2014/main" id="{7EEA496E-B445-F84B-9139-A2B6AB2ADA2C}"/>
              </a:ext>
            </a:extLst>
          </p:cNvPr>
          <p:cNvSpPr>
            <a:spLocks noGrp="1"/>
          </p:cNvSpPr>
          <p:nvPr>
            <p:ph type="ctrTitle"/>
          </p:nvPr>
        </p:nvSpPr>
        <p:spPr>
          <a:xfrm>
            <a:off x="838200" y="2136914"/>
            <a:ext cx="8444948" cy="806366"/>
          </a:xfrm>
          <a:prstGeom prst="rect">
            <a:avLst/>
          </a:prstGeom>
        </p:spPr>
        <p:txBody>
          <a:bodyPr anchor="b">
            <a:normAutofit/>
          </a:bodyPr>
          <a:lstStyle>
            <a:lvl1pPr algn="l">
              <a:defRPr sz="4200" b="1">
                <a:solidFill>
                  <a:schemeClr val="bg1"/>
                </a:solidFill>
                <a:latin typeface="+mj-lt"/>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906543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Full Page No Cre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A6D71-36B5-AC48-9B7E-3F5F53D9DD47}"/>
              </a:ext>
            </a:extLst>
          </p:cNvPr>
          <p:cNvSpPr>
            <a:spLocks noGrp="1"/>
          </p:cNvSpPr>
          <p:nvPr>
            <p:ph type="title"/>
          </p:nvPr>
        </p:nvSpPr>
        <p:spPr>
          <a:xfrm>
            <a:off x="695130" y="729734"/>
            <a:ext cx="10801740" cy="612052"/>
          </a:xfrm>
          <a:prstGeom prst="rect">
            <a:avLst/>
          </a:prstGeom>
        </p:spPr>
        <p:txBody>
          <a:bodyPr>
            <a:noAutofit/>
          </a:bodyPr>
          <a:lstStyle>
            <a:lvl1pPr>
              <a:defRPr sz="3200" b="1">
                <a:solidFill>
                  <a:srgbClr val="612141"/>
                </a:solidFill>
                <a:latin typeface="+mj-lt"/>
                <a:cs typeface="Arial" panose="020B0604020202020204" pitchFamily="34" charset="0"/>
              </a:defRPr>
            </a:lvl1pPr>
          </a:lstStyle>
          <a:p>
            <a:r>
              <a:rPr lang="en-US"/>
              <a:t>Click to edit Master title</a:t>
            </a:r>
          </a:p>
        </p:txBody>
      </p:sp>
      <p:sp>
        <p:nvSpPr>
          <p:cNvPr id="9" name="Content Placeholder 3">
            <a:extLst>
              <a:ext uri="{FF2B5EF4-FFF2-40B4-BE49-F238E27FC236}">
                <a16:creationId xmlns:a16="http://schemas.microsoft.com/office/drawing/2014/main" id="{701B0FE1-4AFD-C544-8ECF-5525E9A58923}"/>
              </a:ext>
            </a:extLst>
          </p:cNvPr>
          <p:cNvSpPr>
            <a:spLocks noGrp="1"/>
          </p:cNvSpPr>
          <p:nvPr>
            <p:ph sz="half" idx="2"/>
          </p:nvPr>
        </p:nvSpPr>
        <p:spPr>
          <a:xfrm>
            <a:off x="695130" y="1461795"/>
            <a:ext cx="10801740" cy="4570426"/>
          </a:xfrm>
          <a:prstGeom prst="rect">
            <a:avLst/>
          </a:prstGeom>
        </p:spPr>
        <p:txBody>
          <a:bodyPr numCol="2" spcCol="324000">
            <a:normAutofit/>
          </a:bodyPr>
          <a:lstStyle>
            <a:lvl1pPr marL="0" indent="0">
              <a:lnSpc>
                <a:spcPct val="100000"/>
              </a:lnSpc>
              <a:spcAft>
                <a:spcPts val="600"/>
              </a:spcAft>
              <a:buNone/>
              <a:defRPr sz="1500">
                <a:latin typeface="Arial" panose="020B0604020202020204" pitchFamily="34" charset="0"/>
                <a:cs typeface="Arial" panose="020B0604020202020204" pitchFamily="34" charset="0"/>
              </a:defRPr>
            </a:lvl1pPr>
            <a:lvl2pPr>
              <a:lnSpc>
                <a:spcPct val="100000"/>
              </a:lnSpc>
              <a:spcAft>
                <a:spcPts val="600"/>
              </a:spcAft>
              <a:defRPr sz="1500">
                <a:latin typeface="Arial" panose="020B0604020202020204" pitchFamily="34" charset="0"/>
                <a:cs typeface="Arial" panose="020B0604020202020204" pitchFamily="34" charset="0"/>
              </a:defRPr>
            </a:lvl2pPr>
            <a:lvl3pPr>
              <a:lnSpc>
                <a:spcPct val="100000"/>
              </a:lnSpc>
              <a:spcAft>
                <a:spcPts val="600"/>
              </a:spcAft>
              <a:defRPr sz="1500">
                <a:latin typeface="Arial" panose="020B0604020202020204" pitchFamily="34" charset="0"/>
                <a:cs typeface="Arial" panose="020B0604020202020204" pitchFamily="34" charset="0"/>
              </a:defRPr>
            </a:lvl3pPr>
            <a:lvl4pPr>
              <a:lnSpc>
                <a:spcPct val="100000"/>
              </a:lnSpc>
              <a:spcAft>
                <a:spcPts val="600"/>
              </a:spcAft>
              <a:defRPr sz="1500">
                <a:latin typeface="Arial" panose="020B0604020202020204" pitchFamily="34" charset="0"/>
                <a:cs typeface="Arial" panose="020B0604020202020204" pitchFamily="34" charset="0"/>
              </a:defRPr>
            </a:lvl4pPr>
            <a:lvl5pPr>
              <a:lnSpc>
                <a:spcPct val="100000"/>
              </a:lnSpc>
              <a:spcAft>
                <a:spcPts val="600"/>
              </a:spcAft>
              <a:defRPr sz="15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23FBB12-2468-DE45-B89E-06D4F1B6B164}"/>
              </a:ext>
            </a:extLst>
          </p:cNvPr>
          <p:cNvSpPr txBox="1"/>
          <p:nvPr userDrawn="1"/>
        </p:nvSpPr>
        <p:spPr>
          <a:xfrm>
            <a:off x="695131" y="6180210"/>
            <a:ext cx="5400869"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8346AF-B9E5-3D40-B164-07D577A9E9D3}" type="slidenum">
              <a:rPr lang="en-US" sz="1200" smtClean="0">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GB" sz="1200" b="0" i="0">
              <a:solidFill>
                <a:schemeClr val="bg2">
                  <a:lumMod val="25000"/>
                </a:schemeClr>
              </a:solidFill>
              <a:latin typeface="Arial" panose="020B0604020202020204" pitchFamily="34" charset="0"/>
              <a:cs typeface="Arial" panose="020B0604020202020204" pitchFamily="34" charset="0"/>
            </a:endParaRPr>
          </a:p>
          <a:p>
            <a:pPr algn="r"/>
            <a:endParaRPr lang="en-US">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23D7990E-29A7-E243-9878-BCBFF5F93795}"/>
              </a:ext>
            </a:extLst>
          </p:cNvPr>
          <p:cNvCxnSpPr>
            <a:cxnSpLocks/>
          </p:cNvCxnSpPr>
          <p:nvPr userDrawn="1"/>
        </p:nvCxnSpPr>
        <p:spPr>
          <a:xfrm>
            <a:off x="695130" y="6032231"/>
            <a:ext cx="10792677" cy="0"/>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23849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8_Footer Only">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1767872F-9363-4A44-B992-C3B401C29392}"/>
              </a:ext>
            </a:extLst>
          </p:cNvPr>
          <p:cNvCxnSpPr>
            <a:cxnSpLocks/>
          </p:cNvCxnSpPr>
          <p:nvPr userDrawn="1"/>
        </p:nvCxnSpPr>
        <p:spPr>
          <a:xfrm>
            <a:off x="695130" y="6032231"/>
            <a:ext cx="10019253" cy="0"/>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8FEDB748-6D42-484D-8ADE-3E4D73C16606}"/>
              </a:ext>
            </a:extLst>
          </p:cNvPr>
          <p:cNvSpPr txBox="1"/>
          <p:nvPr userDrawn="1"/>
        </p:nvSpPr>
        <p:spPr>
          <a:xfrm>
            <a:off x="695131" y="6180210"/>
            <a:ext cx="540086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8346AF-B9E5-3D40-B164-07D577A9E9D3}" type="slidenum">
              <a:rPr lang="en-US" sz="1200" smtClean="0">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200"/>
              <a:t>  </a:t>
            </a:r>
            <a:endParaRPr lang="en-US"/>
          </a:p>
        </p:txBody>
      </p:sp>
      <p:pic>
        <p:nvPicPr>
          <p:cNvPr id="7" name="Picture 6" descr="Icon&#10;&#10;Description automatically generated">
            <a:extLst>
              <a:ext uri="{FF2B5EF4-FFF2-40B4-BE49-F238E27FC236}">
                <a16:creationId xmlns:a16="http://schemas.microsoft.com/office/drawing/2014/main" id="{F8B6913D-03AE-FB44-A58E-48445865D167}"/>
              </a:ext>
            </a:extLst>
          </p:cNvPr>
          <p:cNvPicPr>
            <a:picLocks noChangeAspect="1"/>
          </p:cNvPicPr>
          <p:nvPr userDrawn="1"/>
        </p:nvPicPr>
        <p:blipFill>
          <a:blip r:embed="rId2"/>
          <a:stretch>
            <a:fillRect/>
          </a:stretch>
        </p:blipFill>
        <p:spPr>
          <a:xfrm>
            <a:off x="11039678" y="5733608"/>
            <a:ext cx="608054" cy="722909"/>
          </a:xfrm>
          <a:prstGeom prst="rect">
            <a:avLst/>
          </a:prstGeom>
        </p:spPr>
      </p:pic>
    </p:spTree>
    <p:extLst>
      <p:ext uri="{BB962C8B-B14F-4D97-AF65-F5344CB8AC3E}">
        <p14:creationId xmlns:p14="http://schemas.microsoft.com/office/powerpoint/2010/main" val="1372313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D1B2C0-1FD5-7B40-B252-D9944AD07450}" type="datetimeFigureOut">
              <a:rPr lang="en-US" smtClean="0"/>
              <a:t>1/31/2026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DC0A681-0EFA-2C42-B0CE-6F23BA4C0A49}" type="slidenum">
              <a:rPr lang="en-US" smtClean="0"/>
              <a:t>‹#›</a:t>
            </a:fld>
            <a:endParaRPr lang="en-US"/>
          </a:p>
        </p:txBody>
      </p:sp>
    </p:spTree>
    <p:extLst>
      <p:ext uri="{BB962C8B-B14F-4D97-AF65-F5344CB8AC3E}">
        <p14:creationId xmlns:p14="http://schemas.microsoft.com/office/powerpoint/2010/main" val="808578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_Full Photo">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0945A27-B44B-1645-BEFC-D48F1644F205}"/>
              </a:ext>
            </a:extLst>
          </p:cNvPr>
          <p:cNvSpPr>
            <a:spLocks noGrp="1"/>
          </p:cNvSpPr>
          <p:nvPr>
            <p:ph type="pic" idx="1" hasCustomPrompt="1"/>
          </p:nvPr>
        </p:nvSpPr>
        <p:spPr>
          <a:xfrm>
            <a:off x="0" y="0"/>
            <a:ext cx="12192000" cy="6858000"/>
          </a:xfrm>
          <a:prstGeom prst="rect">
            <a:avLst/>
          </a:prstGeom>
        </p:spPr>
        <p:txBody>
          <a:bodyPr>
            <a:normAutofit/>
          </a:bodyPr>
          <a:lstStyle>
            <a:lvl1pPr marL="0" indent="0">
              <a:buNone/>
              <a:defRPr sz="2800">
                <a:solidFill>
                  <a:srgbClr val="5F0A3E"/>
                </a:solidFill>
                <a:latin typeface="Arial Black" panose="020B0A040201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to edit Master title</a:t>
            </a:r>
          </a:p>
        </p:txBody>
      </p:sp>
    </p:spTree>
    <p:extLst>
      <p:ext uri="{BB962C8B-B14F-4D97-AF65-F5344CB8AC3E}">
        <p14:creationId xmlns:p14="http://schemas.microsoft.com/office/powerpoint/2010/main" val="16110473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DC78D5-1CB8-9C44-8B83-1D77E61AEA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51C7A6-6123-AE49-8FEE-51E84EFB11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419391-878F-B548-96DD-19F2AB577F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93D1B2C0-1FD5-7B40-B252-D9944AD07450}" type="datetimeFigureOut">
              <a:rPr lang="en-US" smtClean="0"/>
              <a:pPr/>
              <a:t>1/31/2026</a:t>
            </a:fld>
            <a:endParaRPr lang="en-US"/>
          </a:p>
        </p:txBody>
      </p:sp>
      <p:sp>
        <p:nvSpPr>
          <p:cNvPr id="5" name="Footer Placeholder 4">
            <a:extLst>
              <a:ext uri="{FF2B5EF4-FFF2-40B4-BE49-F238E27FC236}">
                <a16:creationId xmlns:a16="http://schemas.microsoft.com/office/drawing/2014/main" id="{7AA4264C-5947-8042-8D2E-76E3B84D05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D48B4ECB-2E5A-594E-92A1-FDA88DD35B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FDC0A681-0EFA-2C42-B0CE-6F23BA4C0A49}" type="slidenum">
              <a:rPr lang="en-US" smtClean="0"/>
              <a:pPr/>
              <a:t>‹#›</a:t>
            </a:fld>
            <a:endParaRPr lang="en-US"/>
          </a:p>
        </p:txBody>
      </p:sp>
    </p:spTree>
    <p:extLst>
      <p:ext uri="{BB962C8B-B14F-4D97-AF65-F5344CB8AC3E}">
        <p14:creationId xmlns:p14="http://schemas.microsoft.com/office/powerpoint/2010/main" val="2352668767"/>
      </p:ext>
    </p:extLst>
  </p:cSld>
  <p:clrMap bg1="lt1" tx1="dk1" bg2="lt2" tx2="dk2" accent1="accent1" accent2="accent2" accent3="accent3" accent4="accent4" accent5="accent5" accent6="accent6" hlink="hlink" folHlink="folHlink"/>
  <p:sldLayoutIdLst>
    <p:sldLayoutId id="2147483814" r:id="rId1"/>
  </p:sldLayoutIdLst>
  <p:txStyles>
    <p:titleStyle>
      <a:lvl1pPr algn="l" defTabSz="914400" rtl="0" eaLnBrk="1" latinLnBrk="0" hangingPunct="1">
        <a:lnSpc>
          <a:spcPct val="90000"/>
        </a:lnSpc>
        <a:spcBef>
          <a:spcPct val="0"/>
        </a:spcBef>
        <a:buNone/>
        <a:defRPr sz="4000" kern="1200">
          <a:solidFill>
            <a:srgbClr val="5F0A3E"/>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93D1B2C0-1FD5-7B40-B252-D9944AD07450}" type="datetimeFigureOut">
              <a:rPr lang="en-US" smtClean="0"/>
              <a:pPr/>
              <a:t>1/31/2026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FDC0A681-0EFA-2C42-B0CE-6F23BA4C0A49}" type="slidenum">
              <a:rPr lang="en-US" smtClean="0"/>
              <a:pPr/>
              <a:t>‹#›</a:t>
            </a:fld>
            <a:endParaRPr lang="en-US"/>
          </a:p>
        </p:txBody>
      </p:sp>
    </p:spTree>
    <p:extLst>
      <p:ext uri="{BB962C8B-B14F-4D97-AF65-F5344CB8AC3E}">
        <p14:creationId xmlns:p14="http://schemas.microsoft.com/office/powerpoint/2010/main" val="2831194283"/>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15" r:id="rId3"/>
    <p:sldLayoutId id="2147483691" r:id="rId4"/>
    <p:sldLayoutId id="2147483698" r:id="rId5"/>
    <p:sldLayoutId id="2147483802" r:id="rId6"/>
    <p:sldLayoutId id="2147483687" r:id="rId7"/>
  </p:sldLayoutIdLst>
  <p:txStyles>
    <p:titleStyle>
      <a:lvl1pPr algn="l" defTabSz="914400" rtl="0" eaLnBrk="1" latinLnBrk="0" hangingPunct="1">
        <a:lnSpc>
          <a:spcPct val="90000"/>
        </a:lnSpc>
        <a:spcBef>
          <a:spcPct val="0"/>
        </a:spcBef>
        <a:buNone/>
        <a:defRPr sz="3200" kern="1200">
          <a:solidFill>
            <a:srgbClr val="5F0A3E"/>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4" Type="http://schemas.openxmlformats.org/officeDocument/2006/relationships/image" Target="../media/image6.jpeg"/></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4" Type="http://schemas.openxmlformats.org/officeDocument/2006/relationships/image" Target="../media/image6.jpeg"/></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 Id="rId4" Type="http://schemas.openxmlformats.org/officeDocument/2006/relationships/image" Target="../media/image6.jpe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 Id="rId5" Type="http://schemas.openxmlformats.org/officeDocument/2006/relationships/image" Target="../media/image6.jpeg"/><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developers.google.com/maps/documentation/places/web-service/text-search" TargetMode="External"/><Relationship Id="rId1" Type="http://schemas.openxmlformats.org/officeDocument/2006/relationships/slideLayout" Target="../slideLayouts/slideLayout6.xml"/><Relationship Id="rId5" Type="http://schemas.openxmlformats.org/officeDocument/2006/relationships/image" Target="../media/image6.jpe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635A218-27F7-256D-A877-57520D4E2DE6}"/>
              </a:ext>
            </a:extLst>
          </p:cNvPr>
          <p:cNvSpPr txBox="1"/>
          <p:nvPr/>
        </p:nvSpPr>
        <p:spPr>
          <a:xfrm>
            <a:off x="266700" y="292100"/>
            <a:ext cx="8940800" cy="1754326"/>
          </a:xfrm>
          <a:prstGeom prst="rect">
            <a:avLst/>
          </a:prstGeom>
          <a:noFill/>
        </p:spPr>
        <p:txBody>
          <a:bodyPr wrap="square" rtlCol="0">
            <a:spAutoFit/>
          </a:bodyPr>
          <a:lstStyle/>
          <a:p>
            <a:r>
              <a:rPr lang="en-CA" sz="5400" dirty="0">
                <a:solidFill>
                  <a:schemeClr val="bg1"/>
                </a:solidFill>
              </a:rPr>
              <a:t>A</a:t>
            </a:r>
            <a:r>
              <a:rPr lang="en-US" altLang="zh-CN" sz="5400" dirty="0">
                <a:solidFill>
                  <a:schemeClr val="bg1"/>
                </a:solidFill>
              </a:rPr>
              <a:t>gentic AI with LangChain and LangGraph</a:t>
            </a:r>
            <a:endParaRPr lang="en-CA" sz="5400" dirty="0">
              <a:solidFill>
                <a:schemeClr val="bg1"/>
              </a:solidFill>
            </a:endParaRPr>
          </a:p>
        </p:txBody>
      </p:sp>
      <p:sp>
        <p:nvSpPr>
          <p:cNvPr id="9" name="TextBox 8">
            <a:extLst>
              <a:ext uri="{FF2B5EF4-FFF2-40B4-BE49-F238E27FC236}">
                <a16:creationId xmlns:a16="http://schemas.microsoft.com/office/drawing/2014/main" id="{03D239DE-28E5-372A-F828-C2546E36A630}"/>
              </a:ext>
            </a:extLst>
          </p:cNvPr>
          <p:cNvSpPr txBox="1"/>
          <p:nvPr/>
        </p:nvSpPr>
        <p:spPr>
          <a:xfrm>
            <a:off x="266701" y="4086443"/>
            <a:ext cx="7035800" cy="1815882"/>
          </a:xfrm>
          <a:prstGeom prst="rect">
            <a:avLst/>
          </a:prstGeom>
          <a:noFill/>
        </p:spPr>
        <p:txBody>
          <a:bodyPr wrap="square" rtlCol="0">
            <a:spAutoFit/>
          </a:bodyPr>
          <a:lstStyle/>
          <a:p>
            <a:r>
              <a:rPr lang="en-CA" sz="2800" dirty="0">
                <a:solidFill>
                  <a:schemeClr val="bg1"/>
                </a:solidFill>
              </a:rPr>
              <a:t>Presentation 3: I</a:t>
            </a:r>
            <a:r>
              <a:rPr lang="en-US" altLang="zh-CN" sz="2800" dirty="0" err="1">
                <a:solidFill>
                  <a:schemeClr val="bg1"/>
                </a:solidFill>
              </a:rPr>
              <a:t>ntro</a:t>
            </a:r>
            <a:r>
              <a:rPr lang="en-US" altLang="zh-CN" sz="2800" dirty="0">
                <a:solidFill>
                  <a:schemeClr val="bg1"/>
                </a:solidFill>
              </a:rPr>
              <a:t> to </a:t>
            </a:r>
            <a:r>
              <a:rPr lang="en-US" altLang="zh-CN" sz="2800" dirty="0" err="1">
                <a:solidFill>
                  <a:schemeClr val="bg1"/>
                </a:solidFill>
              </a:rPr>
              <a:t>LangChain</a:t>
            </a:r>
            <a:endParaRPr lang="en-CA" sz="2800" dirty="0">
              <a:solidFill>
                <a:schemeClr val="bg1"/>
              </a:solidFill>
            </a:endParaRPr>
          </a:p>
          <a:p>
            <a:r>
              <a:rPr lang="en-CA" sz="2800" dirty="0">
                <a:solidFill>
                  <a:schemeClr val="bg1"/>
                </a:solidFill>
              </a:rPr>
              <a:t>Primary Instructor: Michael Z</a:t>
            </a:r>
          </a:p>
          <a:p>
            <a:r>
              <a:rPr lang="en-CA" sz="2800" dirty="0">
                <a:solidFill>
                  <a:schemeClr val="bg1"/>
                </a:solidFill>
              </a:rPr>
              <a:t>RA: YH</a:t>
            </a:r>
          </a:p>
          <a:p>
            <a:r>
              <a:rPr lang="en-CA" sz="2800" dirty="0">
                <a:solidFill>
                  <a:schemeClr val="bg1"/>
                </a:solidFill>
              </a:rPr>
              <a:t>Date: 2026.Jan-Feb</a:t>
            </a:r>
          </a:p>
        </p:txBody>
      </p:sp>
      <p:pic>
        <p:nvPicPr>
          <p:cNvPr id="2" name="Picture 2" descr="image">
            <a:extLst>
              <a:ext uri="{FF2B5EF4-FFF2-40B4-BE49-F238E27FC236}">
                <a16:creationId xmlns:a16="http://schemas.microsoft.com/office/drawing/2014/main" id="{53873E8E-61B6-1116-FE9B-A03F66747E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00" y="3061001"/>
            <a:ext cx="4889500" cy="26669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Michael Zhang (Director, Master of Business Analytics Program)">
            <a:extLst>
              <a:ext uri="{FF2B5EF4-FFF2-40B4-BE49-F238E27FC236}">
                <a16:creationId xmlns:a16="http://schemas.microsoft.com/office/drawing/2014/main" id="{92481207-CC40-55FB-07C1-3EF6034873CF}"/>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577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0C980F-9BC2-8B33-8098-95FCD2BE729D}"/>
              </a:ext>
            </a:extLst>
          </p:cNvPr>
          <p:cNvSpPr txBox="1"/>
          <p:nvPr/>
        </p:nvSpPr>
        <p:spPr>
          <a:xfrm>
            <a:off x="126999" y="3356520"/>
            <a:ext cx="12065001" cy="1446550"/>
          </a:xfrm>
          <a:prstGeom prst="rect">
            <a:avLst/>
          </a:prstGeom>
          <a:noFill/>
        </p:spPr>
        <p:txBody>
          <a:bodyPr wrap="square" rtlCol="0">
            <a:spAutoFit/>
          </a:bodyPr>
          <a:lstStyle/>
          <a:p>
            <a:r>
              <a:rPr lang="en-CA" sz="4400" b="1" dirty="0">
                <a:solidFill>
                  <a:srgbClr val="612141"/>
                </a:solidFill>
              </a:rPr>
              <a:t>0. Common Sense &amp; A Q</a:t>
            </a:r>
            <a:r>
              <a:rPr lang="en-US" sz="4400" b="1" dirty="0" err="1">
                <a:solidFill>
                  <a:srgbClr val="612141"/>
                </a:solidFill>
              </a:rPr>
              <a:t>uick</a:t>
            </a:r>
            <a:r>
              <a:rPr lang="en-US" altLang="zh-CN" sz="4400" b="1" dirty="0">
                <a:solidFill>
                  <a:srgbClr val="612141"/>
                </a:solidFill>
              </a:rPr>
              <a:t> Review of QuickStart</a:t>
            </a:r>
            <a:endParaRPr lang="en-CA" sz="4400" b="1" dirty="0">
              <a:solidFill>
                <a:srgbClr val="612141"/>
              </a:solidFill>
            </a:endParaRPr>
          </a:p>
        </p:txBody>
      </p:sp>
      <p:pic>
        <p:nvPicPr>
          <p:cNvPr id="3" name="Picture 2" descr="Michael Zhang (Director, Master of Business Analytics Program)">
            <a:extLst>
              <a:ext uri="{FF2B5EF4-FFF2-40B4-BE49-F238E27FC236}">
                <a16:creationId xmlns:a16="http://schemas.microsoft.com/office/drawing/2014/main" id="{60EA24FB-F21E-5E87-470E-120FECDED63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3121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921B-8264-BF9C-E34A-02C2D58B0D7E}"/>
            </a:ext>
          </a:extLst>
        </p:cNvPr>
        <p:cNvGrpSpPr/>
        <p:nvPr/>
      </p:nvGrpSpPr>
      <p:grpSpPr>
        <a:xfrm>
          <a:off x="0" y="0"/>
          <a:ext cx="0" cy="0"/>
          <a:chOff x="0" y="0"/>
          <a:chExt cx="0" cy="0"/>
        </a:xfrm>
      </p:grpSpPr>
      <p:pic>
        <p:nvPicPr>
          <p:cNvPr id="3" name="Picture 2" descr="Michael Zhang (Director, Master of Business Analytics Program)">
            <a:extLst>
              <a:ext uri="{FF2B5EF4-FFF2-40B4-BE49-F238E27FC236}">
                <a16:creationId xmlns:a16="http://schemas.microsoft.com/office/drawing/2014/main" id="{6DACFC66-7523-002B-5345-0883FFC46C6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AC1C1D8-FE9F-F9B4-69AA-9CE5481AFC32}"/>
              </a:ext>
            </a:extLst>
          </p:cNvPr>
          <p:cNvSpPr txBox="1"/>
          <p:nvPr/>
        </p:nvSpPr>
        <p:spPr>
          <a:xfrm>
            <a:off x="0" y="0"/>
            <a:ext cx="12192000" cy="1077218"/>
          </a:xfrm>
          <a:prstGeom prst="rect">
            <a:avLst/>
          </a:prstGeom>
          <a:noFill/>
        </p:spPr>
        <p:txBody>
          <a:bodyPr wrap="square" rtlCol="0">
            <a:spAutoFit/>
          </a:bodyPr>
          <a:lstStyle/>
          <a:p>
            <a:r>
              <a:rPr lang="en-CA" sz="3200" b="1" dirty="0">
                <a:solidFill>
                  <a:srgbClr val="612141"/>
                </a:solidFill>
              </a:rPr>
              <a:t>0. A Quick Review of QuickStart: What? I need to install packages?</a:t>
            </a:r>
          </a:p>
        </p:txBody>
      </p:sp>
      <p:sp>
        <p:nvSpPr>
          <p:cNvPr id="5" name="TextBox 4">
            <a:extLst>
              <a:ext uri="{FF2B5EF4-FFF2-40B4-BE49-F238E27FC236}">
                <a16:creationId xmlns:a16="http://schemas.microsoft.com/office/drawing/2014/main" id="{E746F310-74BF-FAFD-4D82-81C92FC6EECB}"/>
              </a:ext>
            </a:extLst>
          </p:cNvPr>
          <p:cNvSpPr txBox="1"/>
          <p:nvPr/>
        </p:nvSpPr>
        <p:spPr>
          <a:xfrm>
            <a:off x="0" y="1077218"/>
            <a:ext cx="5523470" cy="3970318"/>
          </a:xfrm>
          <a:prstGeom prst="rect">
            <a:avLst/>
          </a:prstGeom>
          <a:noFill/>
        </p:spPr>
        <p:txBody>
          <a:bodyPr wrap="square" rtlCol="0">
            <a:spAutoFit/>
          </a:bodyPr>
          <a:lstStyle/>
          <a:p>
            <a:r>
              <a:rPr lang="en-CA" dirty="0"/>
              <a:t>You made a Python package that </a:t>
            </a:r>
            <a:r>
              <a:rPr lang="en-US" altLang="zh-CN" dirty="0"/>
              <a:t>help you make use of AI to make AI Agents</a:t>
            </a:r>
            <a:r>
              <a:rPr lang="en-CA" dirty="0"/>
              <a:t> whenever you want. Let’s call it ai-agents-factory. And obviously, native Python doesn’t have this functionality, and you also want others to use. Then you build the wheel and publish it.</a:t>
            </a:r>
          </a:p>
          <a:p>
            <a:endParaRPr lang="en-CA" dirty="0"/>
          </a:p>
          <a:p>
            <a:r>
              <a:rPr lang="en-CA" dirty="0"/>
              <a:t>This Python package would be available in </a:t>
            </a:r>
            <a:r>
              <a:rPr lang="en-CA" dirty="0" err="1"/>
              <a:t>PyPi</a:t>
            </a:r>
            <a:r>
              <a:rPr lang="en-CA" dirty="0"/>
              <a:t>, which is maintained by Python Software Foundation, the organization behind Python language.</a:t>
            </a:r>
          </a:p>
          <a:p>
            <a:endParaRPr lang="en-CA" dirty="0"/>
          </a:p>
          <a:p>
            <a:r>
              <a:rPr lang="en-CA" dirty="0"/>
              <a:t>Of course, if what you publish contains virus, it would be removed and nobody can search it through pip or any other python package managers.</a:t>
            </a:r>
          </a:p>
        </p:txBody>
      </p:sp>
      <p:pic>
        <p:nvPicPr>
          <p:cNvPr id="7" name="Picture 6">
            <a:extLst>
              <a:ext uri="{FF2B5EF4-FFF2-40B4-BE49-F238E27FC236}">
                <a16:creationId xmlns:a16="http://schemas.microsoft.com/office/drawing/2014/main" id="{67419B76-C8CB-144B-D907-6EB736066560}"/>
              </a:ext>
            </a:extLst>
          </p:cNvPr>
          <p:cNvPicPr>
            <a:picLocks noChangeAspect="1"/>
          </p:cNvPicPr>
          <p:nvPr/>
        </p:nvPicPr>
        <p:blipFill>
          <a:blip r:embed="rId4"/>
          <a:stretch>
            <a:fillRect/>
          </a:stretch>
        </p:blipFill>
        <p:spPr>
          <a:xfrm>
            <a:off x="5695739" y="1077217"/>
            <a:ext cx="6496261" cy="4421539"/>
          </a:xfrm>
          <a:prstGeom prst="rect">
            <a:avLst/>
          </a:prstGeom>
        </p:spPr>
      </p:pic>
    </p:spTree>
    <p:extLst>
      <p:ext uri="{BB962C8B-B14F-4D97-AF65-F5344CB8AC3E}">
        <p14:creationId xmlns:p14="http://schemas.microsoft.com/office/powerpoint/2010/main" val="3226595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11207-D464-CDDF-8396-2621709A3DBA}"/>
            </a:ext>
          </a:extLst>
        </p:cNvPr>
        <p:cNvGrpSpPr/>
        <p:nvPr/>
      </p:nvGrpSpPr>
      <p:grpSpPr>
        <a:xfrm>
          <a:off x="0" y="0"/>
          <a:ext cx="0" cy="0"/>
          <a:chOff x="0" y="0"/>
          <a:chExt cx="0" cy="0"/>
        </a:xfrm>
      </p:grpSpPr>
      <p:pic>
        <p:nvPicPr>
          <p:cNvPr id="3" name="Picture 2" descr="Michael Zhang (Director, Master of Business Analytics Program)">
            <a:extLst>
              <a:ext uri="{FF2B5EF4-FFF2-40B4-BE49-F238E27FC236}">
                <a16:creationId xmlns:a16="http://schemas.microsoft.com/office/drawing/2014/main" id="{CEE13E07-4C48-D8D2-0CE2-A4E2D46726E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7C42452-D9BA-9996-3863-77865F1F0409}"/>
              </a:ext>
            </a:extLst>
          </p:cNvPr>
          <p:cNvSpPr txBox="1"/>
          <p:nvPr/>
        </p:nvSpPr>
        <p:spPr>
          <a:xfrm>
            <a:off x="0" y="0"/>
            <a:ext cx="12192000" cy="1077218"/>
          </a:xfrm>
          <a:prstGeom prst="rect">
            <a:avLst/>
          </a:prstGeom>
          <a:noFill/>
        </p:spPr>
        <p:txBody>
          <a:bodyPr wrap="square" rtlCol="0">
            <a:spAutoFit/>
          </a:bodyPr>
          <a:lstStyle/>
          <a:p>
            <a:r>
              <a:rPr lang="en-CA" sz="3200" b="1" dirty="0">
                <a:solidFill>
                  <a:srgbClr val="612141"/>
                </a:solidFill>
              </a:rPr>
              <a:t>0. A Quick Review of QuickStart: What? I need to install packages?</a:t>
            </a:r>
          </a:p>
        </p:txBody>
      </p:sp>
      <p:sp>
        <p:nvSpPr>
          <p:cNvPr id="5" name="TextBox 4">
            <a:extLst>
              <a:ext uri="{FF2B5EF4-FFF2-40B4-BE49-F238E27FC236}">
                <a16:creationId xmlns:a16="http://schemas.microsoft.com/office/drawing/2014/main" id="{0244CBDB-F4C2-6A8D-BA81-112FC9A9ABE9}"/>
              </a:ext>
            </a:extLst>
          </p:cNvPr>
          <p:cNvSpPr txBox="1"/>
          <p:nvPr/>
        </p:nvSpPr>
        <p:spPr>
          <a:xfrm>
            <a:off x="0" y="1077218"/>
            <a:ext cx="12192000" cy="646331"/>
          </a:xfrm>
          <a:prstGeom prst="rect">
            <a:avLst/>
          </a:prstGeom>
          <a:noFill/>
        </p:spPr>
        <p:txBody>
          <a:bodyPr wrap="square" rtlCol="0">
            <a:spAutoFit/>
          </a:bodyPr>
          <a:lstStyle/>
          <a:p>
            <a:r>
              <a:rPr lang="en-CA" dirty="0"/>
              <a:t>You keep updating it and publish multiple versions (releases management). One day, you found the following feature from Python 3.10 useful then you decide to use it in newer version of your Python package. Let’s say 2.0.</a:t>
            </a:r>
          </a:p>
        </p:txBody>
      </p:sp>
      <p:pic>
        <p:nvPicPr>
          <p:cNvPr id="9" name="Picture 8">
            <a:extLst>
              <a:ext uri="{FF2B5EF4-FFF2-40B4-BE49-F238E27FC236}">
                <a16:creationId xmlns:a16="http://schemas.microsoft.com/office/drawing/2014/main" id="{B92CEEC7-6CE1-A127-8118-38EA8003DA4E}"/>
              </a:ext>
            </a:extLst>
          </p:cNvPr>
          <p:cNvPicPr>
            <a:picLocks noChangeAspect="1"/>
          </p:cNvPicPr>
          <p:nvPr/>
        </p:nvPicPr>
        <p:blipFill>
          <a:blip r:embed="rId4"/>
          <a:stretch>
            <a:fillRect/>
          </a:stretch>
        </p:blipFill>
        <p:spPr>
          <a:xfrm>
            <a:off x="0" y="1723548"/>
            <a:ext cx="10672330" cy="646331"/>
          </a:xfrm>
          <a:prstGeom prst="rect">
            <a:avLst/>
          </a:prstGeom>
        </p:spPr>
      </p:pic>
      <p:sp>
        <p:nvSpPr>
          <p:cNvPr id="6" name="TextBox 5">
            <a:extLst>
              <a:ext uri="{FF2B5EF4-FFF2-40B4-BE49-F238E27FC236}">
                <a16:creationId xmlns:a16="http://schemas.microsoft.com/office/drawing/2014/main" id="{8CDF9307-6146-4537-B120-5D4DD5D30371}"/>
              </a:ext>
            </a:extLst>
          </p:cNvPr>
          <p:cNvSpPr txBox="1"/>
          <p:nvPr/>
        </p:nvSpPr>
        <p:spPr>
          <a:xfrm>
            <a:off x="0" y="2568444"/>
            <a:ext cx="12192000" cy="3139321"/>
          </a:xfrm>
          <a:prstGeom prst="rect">
            <a:avLst/>
          </a:prstGeom>
          <a:noFill/>
        </p:spPr>
        <p:txBody>
          <a:bodyPr wrap="square" rtlCol="0">
            <a:spAutoFit/>
          </a:bodyPr>
          <a:lstStyle/>
          <a:p>
            <a:r>
              <a:rPr lang="en-CA" dirty="0"/>
              <a:t>Then, regardless of what Python package manager you are using, uv or native pip, as long as you are using Python &lt;3.10, ai-agents-factory 2.0 would </a:t>
            </a:r>
            <a:r>
              <a:rPr lang="en-CA" sz="3600" b="1" dirty="0">
                <a:solidFill>
                  <a:srgbClr val="FF0000"/>
                </a:solidFill>
              </a:rPr>
              <a:t>NEVER</a:t>
            </a:r>
            <a:r>
              <a:rPr lang="en-CA" dirty="0"/>
              <a:t> be indexed and downloaded. This is why some of you can not download new </a:t>
            </a:r>
            <a:r>
              <a:rPr lang="en-CA" dirty="0" err="1"/>
              <a:t>langchain</a:t>
            </a:r>
            <a:r>
              <a:rPr lang="en-CA" dirty="0"/>
              <a:t> (1.2.x+). If you are using Python &lt;3.11, old </a:t>
            </a:r>
            <a:r>
              <a:rPr lang="en-CA" dirty="0" err="1"/>
              <a:t>langchain</a:t>
            </a:r>
            <a:r>
              <a:rPr lang="en-CA" dirty="0"/>
              <a:t> would be indexed and downloaded.</a:t>
            </a:r>
          </a:p>
          <a:p>
            <a:endParaRPr lang="en-CA" dirty="0"/>
          </a:p>
          <a:p>
            <a:r>
              <a:rPr lang="en-CA" dirty="0"/>
              <a:t>Old </a:t>
            </a:r>
            <a:r>
              <a:rPr lang="en-CA" dirty="0" err="1"/>
              <a:t>langchain</a:t>
            </a:r>
            <a:r>
              <a:rPr lang="en-CA" dirty="0"/>
              <a:t> is not the focus of LangChain Inc but it’s still being maintained.</a:t>
            </a:r>
          </a:p>
          <a:p>
            <a:endParaRPr lang="en-CA" dirty="0"/>
          </a:p>
          <a:p>
            <a:r>
              <a:rPr lang="en-CA" dirty="0"/>
              <a:t>Btw we are learning new </a:t>
            </a:r>
            <a:r>
              <a:rPr lang="en-CA" dirty="0" err="1"/>
              <a:t>langchain</a:t>
            </a:r>
            <a:r>
              <a:rPr lang="en-CA" dirty="0"/>
              <a:t>, as stated in Presentation 1.</a:t>
            </a:r>
          </a:p>
          <a:p>
            <a:endParaRPr lang="en-CA" dirty="0"/>
          </a:p>
          <a:p>
            <a:r>
              <a:rPr lang="en-CA" dirty="0"/>
              <a:t>One of the reasons that I don’t like </a:t>
            </a:r>
            <a:r>
              <a:rPr lang="en-CA" dirty="0" err="1"/>
              <a:t>colab</a:t>
            </a:r>
            <a:r>
              <a:rPr lang="en-CA" dirty="0"/>
              <a:t> is because it has a lot of packages pre-installed and you might never realize you need to install additional packages.</a:t>
            </a:r>
          </a:p>
        </p:txBody>
      </p:sp>
    </p:spTree>
    <p:extLst>
      <p:ext uri="{BB962C8B-B14F-4D97-AF65-F5344CB8AC3E}">
        <p14:creationId xmlns:p14="http://schemas.microsoft.com/office/powerpoint/2010/main" val="2569773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21BF01-06D4-62BB-F94D-992B2185CB7A}"/>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0. A Quick Review of QuickStart: Environment Variables</a:t>
            </a:r>
          </a:p>
        </p:txBody>
      </p:sp>
      <p:pic>
        <p:nvPicPr>
          <p:cNvPr id="4" name="Picture 3">
            <a:extLst>
              <a:ext uri="{FF2B5EF4-FFF2-40B4-BE49-F238E27FC236}">
                <a16:creationId xmlns:a16="http://schemas.microsoft.com/office/drawing/2014/main" id="{F4DF0A20-2249-A1DC-E839-2C34322B8C41}"/>
              </a:ext>
            </a:extLst>
          </p:cNvPr>
          <p:cNvPicPr>
            <a:picLocks noChangeAspect="1"/>
          </p:cNvPicPr>
          <p:nvPr/>
        </p:nvPicPr>
        <p:blipFill>
          <a:blip r:embed="rId2"/>
          <a:srcRect l="-1" t="11459" r="1485"/>
          <a:stretch>
            <a:fillRect/>
          </a:stretch>
        </p:blipFill>
        <p:spPr>
          <a:xfrm>
            <a:off x="-1" y="3228506"/>
            <a:ext cx="7339915" cy="2673819"/>
          </a:xfrm>
          <a:prstGeom prst="rect">
            <a:avLst/>
          </a:prstGeom>
        </p:spPr>
      </p:pic>
      <p:sp>
        <p:nvSpPr>
          <p:cNvPr id="5" name="TextBox 4">
            <a:extLst>
              <a:ext uri="{FF2B5EF4-FFF2-40B4-BE49-F238E27FC236}">
                <a16:creationId xmlns:a16="http://schemas.microsoft.com/office/drawing/2014/main" id="{72F71404-5008-40CF-2CE2-1AC04E704FD3}"/>
              </a:ext>
            </a:extLst>
          </p:cNvPr>
          <p:cNvSpPr txBox="1"/>
          <p:nvPr/>
        </p:nvSpPr>
        <p:spPr>
          <a:xfrm>
            <a:off x="-1" y="584775"/>
            <a:ext cx="12191999" cy="2585323"/>
          </a:xfrm>
          <a:prstGeom prst="rect">
            <a:avLst/>
          </a:prstGeom>
          <a:noFill/>
        </p:spPr>
        <p:txBody>
          <a:bodyPr wrap="square" rtlCol="0">
            <a:spAutoFit/>
          </a:bodyPr>
          <a:lstStyle/>
          <a:p>
            <a:r>
              <a:rPr lang="en-CA" dirty="0"/>
              <a:t>I am not teaching computer literacy but just to let you know that in windows OS, environment variables are stored like key-value pairs. The OPENAI_API_KEY is the variable, the </a:t>
            </a:r>
            <a:r>
              <a:rPr lang="en-CA" dirty="0" err="1"/>
              <a:t>sk</a:t>
            </a:r>
            <a:r>
              <a:rPr lang="en-CA" dirty="0"/>
              <a:t>-………. in the email I sent you is the value.</a:t>
            </a:r>
          </a:p>
          <a:p>
            <a:endParaRPr lang="en-CA" dirty="0"/>
          </a:p>
          <a:p>
            <a:r>
              <a:rPr lang="en-CA" dirty="0"/>
              <a:t>You could add OPENAI_API_KEY in it for sure but to make changes take effect, you need to restart your machine, which is a little bit inconvenient. If you do that, it could be really convenient when programming at some point because under the hood, </a:t>
            </a:r>
            <a:r>
              <a:rPr lang="en-CA" dirty="0" err="1"/>
              <a:t>openai</a:t>
            </a:r>
            <a:r>
              <a:rPr lang="en-CA" dirty="0"/>
              <a:t>, the python package would try to find an environment variable called “OPENAI_API_KEY” and retrieve its value. But when you need to update your key, you might have to restart your machine.</a:t>
            </a:r>
          </a:p>
          <a:p>
            <a:endParaRPr lang="en-CA" dirty="0"/>
          </a:p>
          <a:p>
            <a:r>
              <a:rPr lang="en-CA" dirty="0"/>
              <a:t>This is why I told you to use .env file, which is more flexible. Updating API key doesn’t need to restart anything.</a:t>
            </a:r>
          </a:p>
        </p:txBody>
      </p:sp>
      <p:pic>
        <p:nvPicPr>
          <p:cNvPr id="6" name="Picture 5" descr="Michael Zhang (Director, Master of Business Analytics Program)">
            <a:extLst>
              <a:ext uri="{FF2B5EF4-FFF2-40B4-BE49-F238E27FC236}">
                <a16:creationId xmlns:a16="http://schemas.microsoft.com/office/drawing/2014/main" id="{1237F92D-7074-7CF1-3BA2-74326FA2655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965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514927-CE2B-04DE-3A31-5D2680292510}"/>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0. A Quick Review of QuickStart: API vs API key</a:t>
            </a:r>
          </a:p>
        </p:txBody>
      </p:sp>
      <p:sp>
        <p:nvSpPr>
          <p:cNvPr id="3" name="TextBox 2">
            <a:extLst>
              <a:ext uri="{FF2B5EF4-FFF2-40B4-BE49-F238E27FC236}">
                <a16:creationId xmlns:a16="http://schemas.microsoft.com/office/drawing/2014/main" id="{49FB885A-B00C-9D40-0E87-2B7A9B94B358}"/>
              </a:ext>
            </a:extLst>
          </p:cNvPr>
          <p:cNvSpPr txBox="1"/>
          <p:nvPr/>
        </p:nvSpPr>
        <p:spPr>
          <a:xfrm>
            <a:off x="0" y="584775"/>
            <a:ext cx="12192000" cy="2585323"/>
          </a:xfrm>
          <a:prstGeom prst="rect">
            <a:avLst/>
          </a:prstGeom>
          <a:noFill/>
        </p:spPr>
        <p:txBody>
          <a:bodyPr wrap="square" rtlCol="0">
            <a:spAutoFit/>
          </a:bodyPr>
          <a:lstStyle/>
          <a:p>
            <a:r>
              <a:rPr lang="en-CA" dirty="0"/>
              <a:t>One day, Michael deployed a home-made LLM in a server with public IP address. He wants to sell this LLM. So he made a Python package and named it “</a:t>
            </a:r>
            <a:r>
              <a:rPr lang="en-CA" dirty="0" err="1"/>
              <a:t>michael-llm</a:t>
            </a:r>
            <a:r>
              <a:rPr lang="en-CA" dirty="0"/>
              <a:t>”.</a:t>
            </a:r>
          </a:p>
          <a:p>
            <a:endParaRPr lang="en-CA" dirty="0"/>
          </a:p>
          <a:p>
            <a:r>
              <a:rPr lang="en-CA" dirty="0"/>
              <a:t>Anyone who downloaded this package meets the technical </a:t>
            </a:r>
            <a:r>
              <a:rPr lang="en-CA" dirty="0" err="1"/>
              <a:t>prereq</a:t>
            </a:r>
            <a:r>
              <a:rPr lang="en-CA" dirty="0"/>
              <a:t> to use </a:t>
            </a:r>
            <a:r>
              <a:rPr lang="en-CA" dirty="0" err="1"/>
              <a:t>michael’s</a:t>
            </a:r>
            <a:r>
              <a:rPr lang="en-CA" dirty="0"/>
              <a:t> LLM.</a:t>
            </a:r>
          </a:p>
          <a:p>
            <a:endParaRPr lang="en-CA" dirty="0"/>
          </a:p>
          <a:p>
            <a:r>
              <a:rPr lang="en-CA" dirty="0"/>
              <a:t>But Michael doesn’t want everyone to use. Then he sent some keys to those who paid for this service so that only the key holders could access his LLM.</a:t>
            </a:r>
          </a:p>
          <a:p>
            <a:endParaRPr lang="en-CA" dirty="0"/>
          </a:p>
          <a:p>
            <a:r>
              <a:rPr lang="en-CA" dirty="0"/>
              <a:t>We call the key “API key”. The functions you use to access </a:t>
            </a:r>
            <a:r>
              <a:rPr lang="en-CA" dirty="0" err="1"/>
              <a:t>michael’s</a:t>
            </a:r>
            <a:r>
              <a:rPr lang="en-CA" dirty="0"/>
              <a:t> LLM are called “API”.</a:t>
            </a:r>
          </a:p>
        </p:txBody>
      </p:sp>
      <p:pic>
        <p:nvPicPr>
          <p:cNvPr id="4" name="Picture 3" descr="Michael Zhang (Director, Master of Business Analytics Program)">
            <a:extLst>
              <a:ext uri="{FF2B5EF4-FFF2-40B4-BE49-F238E27FC236}">
                <a16:creationId xmlns:a16="http://schemas.microsoft.com/office/drawing/2014/main" id="{CF548A15-41A2-89BA-F2B2-5566742B27C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9166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6EA6AE-64C5-11CC-8A60-4FCEFB137485}"/>
              </a:ext>
            </a:extLst>
          </p:cNvPr>
          <p:cNvPicPr>
            <a:picLocks noChangeAspect="1"/>
          </p:cNvPicPr>
          <p:nvPr/>
        </p:nvPicPr>
        <p:blipFill>
          <a:blip r:embed="rId2"/>
          <a:stretch>
            <a:fillRect/>
          </a:stretch>
        </p:blipFill>
        <p:spPr>
          <a:xfrm>
            <a:off x="24699" y="1349157"/>
            <a:ext cx="5475502" cy="4159685"/>
          </a:xfrm>
          <a:prstGeom prst="rect">
            <a:avLst/>
          </a:prstGeom>
        </p:spPr>
      </p:pic>
      <p:sp>
        <p:nvSpPr>
          <p:cNvPr id="4" name="TextBox 3">
            <a:extLst>
              <a:ext uri="{FF2B5EF4-FFF2-40B4-BE49-F238E27FC236}">
                <a16:creationId xmlns:a16="http://schemas.microsoft.com/office/drawing/2014/main" id="{596E3F91-F7D1-178C-AA36-6D0C3EE48352}"/>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0. A Quick Review of QuickStart: Virtual Environment</a:t>
            </a:r>
          </a:p>
        </p:txBody>
      </p:sp>
      <p:sp>
        <p:nvSpPr>
          <p:cNvPr id="5" name="TextBox 4">
            <a:extLst>
              <a:ext uri="{FF2B5EF4-FFF2-40B4-BE49-F238E27FC236}">
                <a16:creationId xmlns:a16="http://schemas.microsoft.com/office/drawing/2014/main" id="{BB51CA72-B413-F737-CCCD-DFE2F4127200}"/>
              </a:ext>
            </a:extLst>
          </p:cNvPr>
          <p:cNvSpPr txBox="1"/>
          <p:nvPr/>
        </p:nvSpPr>
        <p:spPr>
          <a:xfrm>
            <a:off x="0" y="584775"/>
            <a:ext cx="8476735" cy="369332"/>
          </a:xfrm>
          <a:prstGeom prst="rect">
            <a:avLst/>
          </a:prstGeom>
          <a:noFill/>
        </p:spPr>
        <p:txBody>
          <a:bodyPr wrap="square" rtlCol="0">
            <a:spAutoFit/>
          </a:bodyPr>
          <a:lstStyle/>
          <a:p>
            <a:r>
              <a:rPr lang="en-CA" dirty="0"/>
              <a:t>Click the .</a:t>
            </a:r>
            <a:r>
              <a:rPr lang="en-CA" dirty="0" err="1"/>
              <a:t>venv</a:t>
            </a:r>
            <a:r>
              <a:rPr lang="en-CA" dirty="0"/>
              <a:t> folder created in </a:t>
            </a:r>
            <a:r>
              <a:rPr lang="en-CA" dirty="0" err="1"/>
              <a:t>linux</a:t>
            </a:r>
            <a:r>
              <a:rPr lang="en-CA" dirty="0"/>
              <a:t> system (Rocky Linux Enterprise)…….</a:t>
            </a:r>
          </a:p>
        </p:txBody>
      </p:sp>
      <p:pic>
        <p:nvPicPr>
          <p:cNvPr id="7" name="Picture 6">
            <a:extLst>
              <a:ext uri="{FF2B5EF4-FFF2-40B4-BE49-F238E27FC236}">
                <a16:creationId xmlns:a16="http://schemas.microsoft.com/office/drawing/2014/main" id="{FBA14D6C-FA5D-7D60-E635-EC45F999F8A9}"/>
              </a:ext>
            </a:extLst>
          </p:cNvPr>
          <p:cNvPicPr>
            <a:picLocks noChangeAspect="1"/>
          </p:cNvPicPr>
          <p:nvPr/>
        </p:nvPicPr>
        <p:blipFill>
          <a:blip r:embed="rId3"/>
          <a:stretch>
            <a:fillRect/>
          </a:stretch>
        </p:blipFill>
        <p:spPr>
          <a:xfrm>
            <a:off x="6512011" y="1451332"/>
            <a:ext cx="5655290" cy="3454300"/>
          </a:xfrm>
          <a:prstGeom prst="rect">
            <a:avLst/>
          </a:prstGeom>
        </p:spPr>
      </p:pic>
      <p:cxnSp>
        <p:nvCxnSpPr>
          <p:cNvPr id="9" name="Straight Arrow Connector 8">
            <a:extLst>
              <a:ext uri="{FF2B5EF4-FFF2-40B4-BE49-F238E27FC236}">
                <a16:creationId xmlns:a16="http://schemas.microsoft.com/office/drawing/2014/main" id="{11655A8E-C11D-B8A2-257E-953E32FC3D40}"/>
              </a:ext>
            </a:extLst>
          </p:cNvPr>
          <p:cNvCxnSpPr>
            <a:cxnSpLocks/>
          </p:cNvCxnSpPr>
          <p:nvPr/>
        </p:nvCxnSpPr>
        <p:spPr>
          <a:xfrm flipV="1">
            <a:off x="2248930" y="3033949"/>
            <a:ext cx="4263081" cy="2266733"/>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1" name="Picture 10" descr="Michael Zhang (Director, Master of Business Analytics Program)">
            <a:extLst>
              <a:ext uri="{FF2B5EF4-FFF2-40B4-BE49-F238E27FC236}">
                <a16:creationId xmlns:a16="http://schemas.microsoft.com/office/drawing/2014/main" id="{C0360161-A231-DB6C-7914-0981DE9B3BC9}"/>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5894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5242E9-4101-41DD-2108-673F6D7A6E52}"/>
              </a:ext>
            </a:extLst>
          </p:cNvPr>
          <p:cNvPicPr>
            <a:picLocks noChangeAspect="1"/>
          </p:cNvPicPr>
          <p:nvPr/>
        </p:nvPicPr>
        <p:blipFill>
          <a:blip r:embed="rId2"/>
          <a:stretch>
            <a:fillRect/>
          </a:stretch>
        </p:blipFill>
        <p:spPr>
          <a:xfrm>
            <a:off x="-1" y="4300599"/>
            <a:ext cx="10480863" cy="1601726"/>
          </a:xfrm>
          <a:prstGeom prst="rect">
            <a:avLst/>
          </a:prstGeom>
        </p:spPr>
      </p:pic>
      <p:sp>
        <p:nvSpPr>
          <p:cNvPr id="4" name="TextBox 3">
            <a:extLst>
              <a:ext uri="{FF2B5EF4-FFF2-40B4-BE49-F238E27FC236}">
                <a16:creationId xmlns:a16="http://schemas.microsoft.com/office/drawing/2014/main" id="{A5807F7D-1162-D72A-1819-D85F2424F7EF}"/>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0. A Quick Review of QuickStart: Symbolic Link</a:t>
            </a:r>
          </a:p>
        </p:txBody>
      </p:sp>
      <p:pic>
        <p:nvPicPr>
          <p:cNvPr id="6" name="Picture 5">
            <a:extLst>
              <a:ext uri="{FF2B5EF4-FFF2-40B4-BE49-F238E27FC236}">
                <a16:creationId xmlns:a16="http://schemas.microsoft.com/office/drawing/2014/main" id="{21533BA6-27FE-2B89-6B4F-F8B9C38BDF28}"/>
              </a:ext>
            </a:extLst>
          </p:cNvPr>
          <p:cNvPicPr>
            <a:picLocks noChangeAspect="1"/>
          </p:cNvPicPr>
          <p:nvPr/>
        </p:nvPicPr>
        <p:blipFill>
          <a:blip r:embed="rId3"/>
          <a:stretch>
            <a:fillRect/>
          </a:stretch>
        </p:blipFill>
        <p:spPr>
          <a:xfrm>
            <a:off x="-1" y="1842235"/>
            <a:ext cx="6157844" cy="2458364"/>
          </a:xfrm>
          <a:prstGeom prst="rect">
            <a:avLst/>
          </a:prstGeom>
        </p:spPr>
      </p:pic>
      <p:sp>
        <p:nvSpPr>
          <p:cNvPr id="7" name="TextBox 6">
            <a:extLst>
              <a:ext uri="{FF2B5EF4-FFF2-40B4-BE49-F238E27FC236}">
                <a16:creationId xmlns:a16="http://schemas.microsoft.com/office/drawing/2014/main" id="{2D3BCB12-CE7A-B273-D86B-1A9F1C30EFD0}"/>
              </a:ext>
            </a:extLst>
          </p:cNvPr>
          <p:cNvSpPr txBox="1"/>
          <p:nvPr/>
        </p:nvSpPr>
        <p:spPr>
          <a:xfrm>
            <a:off x="0" y="584775"/>
            <a:ext cx="11257005" cy="1200329"/>
          </a:xfrm>
          <a:prstGeom prst="rect">
            <a:avLst/>
          </a:prstGeom>
          <a:noFill/>
        </p:spPr>
        <p:txBody>
          <a:bodyPr wrap="square" rtlCol="0">
            <a:spAutoFit/>
          </a:bodyPr>
          <a:lstStyle/>
          <a:p>
            <a:r>
              <a:rPr lang="en-CA" dirty="0"/>
              <a:t>Inside the .</a:t>
            </a:r>
            <a:r>
              <a:rPr lang="en-CA" dirty="0" err="1"/>
              <a:t>venv</a:t>
            </a:r>
            <a:r>
              <a:rPr lang="en-CA" dirty="0"/>
              <a:t>/bin, you could find three files (symbolic links). They are not actual Python interpreters but all point to actual Python interpreter, which is located in </a:t>
            </a:r>
            <a:r>
              <a:rPr lang="en-CA" dirty="0" err="1"/>
              <a:t>usr</a:t>
            </a:r>
            <a:r>
              <a:rPr lang="en-CA" dirty="0"/>
              <a:t>/bin/python3.11.</a:t>
            </a:r>
          </a:p>
          <a:p>
            <a:endParaRPr lang="en-CA" dirty="0"/>
          </a:p>
          <a:p>
            <a:r>
              <a:rPr lang="en-CA" dirty="0"/>
              <a:t>Use </a:t>
            </a:r>
            <a:r>
              <a:rPr lang="en-CA" dirty="0" err="1"/>
              <a:t>readlink</a:t>
            </a:r>
            <a:r>
              <a:rPr lang="en-CA" dirty="0"/>
              <a:t> to see what these files are actually pointing to……..</a:t>
            </a:r>
          </a:p>
        </p:txBody>
      </p:sp>
      <p:pic>
        <p:nvPicPr>
          <p:cNvPr id="8" name="Picture 7" descr="Michael Zhang (Director, Master of Business Analytics Program)">
            <a:extLst>
              <a:ext uri="{FF2B5EF4-FFF2-40B4-BE49-F238E27FC236}">
                <a16:creationId xmlns:a16="http://schemas.microsoft.com/office/drawing/2014/main" id="{2AEBD051-A3F2-978F-556C-0DBA7D67E1B4}"/>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241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B8EBC1-6437-B594-9839-D0BB6E17E566}"/>
              </a:ext>
            </a:extLst>
          </p:cNvPr>
          <p:cNvPicPr>
            <a:picLocks noChangeAspect="1"/>
          </p:cNvPicPr>
          <p:nvPr/>
        </p:nvPicPr>
        <p:blipFill>
          <a:blip r:embed="rId2"/>
          <a:stretch>
            <a:fillRect/>
          </a:stretch>
        </p:blipFill>
        <p:spPr>
          <a:xfrm>
            <a:off x="0" y="584775"/>
            <a:ext cx="6744690" cy="4626322"/>
          </a:xfrm>
          <a:prstGeom prst="rect">
            <a:avLst/>
          </a:prstGeom>
        </p:spPr>
      </p:pic>
      <p:sp>
        <p:nvSpPr>
          <p:cNvPr id="4" name="TextBox 3">
            <a:extLst>
              <a:ext uri="{FF2B5EF4-FFF2-40B4-BE49-F238E27FC236}">
                <a16:creationId xmlns:a16="http://schemas.microsoft.com/office/drawing/2014/main" id="{F697BF63-73DA-8130-B794-31B5328FE102}"/>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0. A Quick Review of QuickStart: .</a:t>
            </a:r>
            <a:r>
              <a:rPr lang="en-CA" sz="3200" b="1" dirty="0" err="1">
                <a:solidFill>
                  <a:srgbClr val="612141"/>
                </a:solidFill>
              </a:rPr>
              <a:t>venv</a:t>
            </a:r>
            <a:r>
              <a:rPr lang="en-CA" sz="3200" b="1" dirty="0">
                <a:solidFill>
                  <a:srgbClr val="612141"/>
                </a:solidFill>
              </a:rPr>
              <a:t> in Windows OS</a:t>
            </a:r>
          </a:p>
        </p:txBody>
      </p:sp>
      <p:pic>
        <p:nvPicPr>
          <p:cNvPr id="8" name="Picture 7">
            <a:extLst>
              <a:ext uri="{FF2B5EF4-FFF2-40B4-BE49-F238E27FC236}">
                <a16:creationId xmlns:a16="http://schemas.microsoft.com/office/drawing/2014/main" id="{AA22C78F-C749-D3D4-BE0F-8E34D831B61D}"/>
              </a:ext>
            </a:extLst>
          </p:cNvPr>
          <p:cNvPicPr>
            <a:picLocks noChangeAspect="1"/>
          </p:cNvPicPr>
          <p:nvPr/>
        </p:nvPicPr>
        <p:blipFill>
          <a:blip r:embed="rId3"/>
          <a:stretch>
            <a:fillRect/>
          </a:stretch>
        </p:blipFill>
        <p:spPr>
          <a:xfrm>
            <a:off x="6744690" y="914400"/>
            <a:ext cx="5447309" cy="2920182"/>
          </a:xfrm>
          <a:prstGeom prst="rect">
            <a:avLst/>
          </a:prstGeom>
        </p:spPr>
      </p:pic>
      <p:pic>
        <p:nvPicPr>
          <p:cNvPr id="9" name="Picture 8" descr="Michael Zhang (Director, Master of Business Analytics Program)">
            <a:extLst>
              <a:ext uri="{FF2B5EF4-FFF2-40B4-BE49-F238E27FC236}">
                <a16:creationId xmlns:a16="http://schemas.microsoft.com/office/drawing/2014/main" id="{FEE04FA6-EFA9-7158-30F1-D5F778DBA0C6}"/>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Arrow Connector 10">
            <a:extLst>
              <a:ext uri="{FF2B5EF4-FFF2-40B4-BE49-F238E27FC236}">
                <a16:creationId xmlns:a16="http://schemas.microsoft.com/office/drawing/2014/main" id="{3A7CF9F8-3F9A-B226-B91E-6855CE50BF49}"/>
              </a:ext>
            </a:extLst>
          </p:cNvPr>
          <p:cNvCxnSpPr/>
          <p:nvPr/>
        </p:nvCxnSpPr>
        <p:spPr>
          <a:xfrm flipV="1">
            <a:off x="3470149" y="3573452"/>
            <a:ext cx="3274541" cy="1322173"/>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296043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6D243-47E7-B4B7-4585-908D8C0314C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DCDB384-0459-5DE9-FF3D-8550AA7FF086}"/>
              </a:ext>
            </a:extLst>
          </p:cNvPr>
          <p:cNvSpPr txBox="1"/>
          <p:nvPr/>
        </p:nvSpPr>
        <p:spPr>
          <a:xfrm>
            <a:off x="0" y="0"/>
            <a:ext cx="12192000" cy="1077218"/>
          </a:xfrm>
          <a:prstGeom prst="rect">
            <a:avLst/>
          </a:prstGeom>
          <a:noFill/>
        </p:spPr>
        <p:txBody>
          <a:bodyPr wrap="square" rtlCol="0">
            <a:spAutoFit/>
          </a:bodyPr>
          <a:lstStyle/>
          <a:p>
            <a:r>
              <a:rPr lang="en-CA" sz="3200" b="1" dirty="0">
                <a:solidFill>
                  <a:srgbClr val="612141"/>
                </a:solidFill>
              </a:rPr>
              <a:t>0. A Quick Review of QuickStart: Global Python Interpreter in Windows</a:t>
            </a:r>
          </a:p>
        </p:txBody>
      </p:sp>
      <p:pic>
        <p:nvPicPr>
          <p:cNvPr id="9" name="Picture 8" descr="Michael Zhang (Director, Master of Business Analytics Program)">
            <a:extLst>
              <a:ext uri="{FF2B5EF4-FFF2-40B4-BE49-F238E27FC236}">
                <a16:creationId xmlns:a16="http://schemas.microsoft.com/office/drawing/2014/main" id="{982C8D69-3CFC-B44E-BA32-6831A0DE96D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19547A4-B0FA-3EEC-4C83-D325A7A5C3A6}"/>
              </a:ext>
            </a:extLst>
          </p:cNvPr>
          <p:cNvPicPr>
            <a:picLocks noChangeAspect="1"/>
          </p:cNvPicPr>
          <p:nvPr/>
        </p:nvPicPr>
        <p:blipFill>
          <a:blip r:embed="rId3"/>
          <a:stretch>
            <a:fillRect/>
          </a:stretch>
        </p:blipFill>
        <p:spPr>
          <a:xfrm>
            <a:off x="1288026" y="1072301"/>
            <a:ext cx="8691715" cy="4834941"/>
          </a:xfrm>
          <a:prstGeom prst="rect">
            <a:avLst/>
          </a:prstGeom>
        </p:spPr>
      </p:pic>
    </p:spTree>
    <p:extLst>
      <p:ext uri="{BB962C8B-B14F-4D97-AF65-F5344CB8AC3E}">
        <p14:creationId xmlns:p14="http://schemas.microsoft.com/office/powerpoint/2010/main" val="2654189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86A188-333E-1461-B6E5-F52146D0A037}"/>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0. A Quick Review of QuickStart: QuickStart</a:t>
            </a:r>
          </a:p>
        </p:txBody>
      </p:sp>
      <p:pic>
        <p:nvPicPr>
          <p:cNvPr id="4" name="Picture 3">
            <a:extLst>
              <a:ext uri="{FF2B5EF4-FFF2-40B4-BE49-F238E27FC236}">
                <a16:creationId xmlns:a16="http://schemas.microsoft.com/office/drawing/2014/main" id="{7A7441B7-9925-3EBC-5785-FCD3D4261B02}"/>
              </a:ext>
            </a:extLst>
          </p:cNvPr>
          <p:cNvPicPr>
            <a:picLocks noChangeAspect="1"/>
          </p:cNvPicPr>
          <p:nvPr/>
        </p:nvPicPr>
        <p:blipFill>
          <a:blip r:embed="rId2"/>
          <a:stretch>
            <a:fillRect/>
          </a:stretch>
        </p:blipFill>
        <p:spPr>
          <a:xfrm>
            <a:off x="0" y="584775"/>
            <a:ext cx="5696465" cy="4209647"/>
          </a:xfrm>
          <a:prstGeom prst="rect">
            <a:avLst/>
          </a:prstGeom>
        </p:spPr>
      </p:pic>
      <p:sp>
        <p:nvSpPr>
          <p:cNvPr id="5" name="TextBox 4">
            <a:extLst>
              <a:ext uri="{FF2B5EF4-FFF2-40B4-BE49-F238E27FC236}">
                <a16:creationId xmlns:a16="http://schemas.microsoft.com/office/drawing/2014/main" id="{C1343D5D-0315-4046-7094-8EC0FFDE105A}"/>
              </a:ext>
            </a:extLst>
          </p:cNvPr>
          <p:cNvSpPr txBox="1"/>
          <p:nvPr/>
        </p:nvSpPr>
        <p:spPr>
          <a:xfrm>
            <a:off x="5696465" y="584775"/>
            <a:ext cx="6495535" cy="3693319"/>
          </a:xfrm>
          <a:prstGeom prst="rect">
            <a:avLst/>
          </a:prstGeom>
          <a:noFill/>
        </p:spPr>
        <p:txBody>
          <a:bodyPr wrap="square" rtlCol="0">
            <a:spAutoFit/>
          </a:bodyPr>
          <a:lstStyle/>
          <a:p>
            <a:r>
              <a:rPr lang="en-CA" dirty="0"/>
              <a:t>Recipe:</a:t>
            </a:r>
          </a:p>
          <a:p>
            <a:pPr marL="342900" indent="-342900">
              <a:buAutoNum type="arabicPeriod"/>
            </a:pPr>
            <a:r>
              <a:rPr lang="en-CA" dirty="0"/>
              <a:t>Install uv</a:t>
            </a:r>
          </a:p>
          <a:p>
            <a:pPr marL="342900" indent="-342900">
              <a:buAutoNum type="arabicPeriod"/>
            </a:pPr>
            <a:r>
              <a:rPr lang="en-CA" dirty="0"/>
              <a:t>Find an empty folder and </a:t>
            </a:r>
            <a:r>
              <a:rPr lang="en-CA" b="1" dirty="0"/>
              <a:t>pin</a:t>
            </a:r>
            <a:r>
              <a:rPr lang="en-CA" dirty="0"/>
              <a:t> a version of python to it (let’s say 3.11). Then initialize it (uv </a:t>
            </a:r>
            <a:r>
              <a:rPr lang="en-CA" dirty="0" err="1"/>
              <a:t>init</a:t>
            </a:r>
            <a:r>
              <a:rPr lang="en-CA" dirty="0"/>
              <a:t>) and install </a:t>
            </a:r>
            <a:r>
              <a:rPr lang="en-CA" dirty="0" err="1"/>
              <a:t>langchain</a:t>
            </a:r>
            <a:r>
              <a:rPr lang="en-CA" dirty="0"/>
              <a:t>, </a:t>
            </a:r>
            <a:r>
              <a:rPr lang="en-CA" dirty="0" err="1"/>
              <a:t>langchain-openai</a:t>
            </a:r>
            <a:r>
              <a:rPr lang="en-CA" dirty="0"/>
              <a:t>, python-</a:t>
            </a:r>
            <a:r>
              <a:rPr lang="en-CA" dirty="0" err="1"/>
              <a:t>dotenv</a:t>
            </a:r>
            <a:r>
              <a:rPr lang="en-CA" dirty="0"/>
              <a:t> using Python 3.11 or higher (uv add …….).</a:t>
            </a:r>
          </a:p>
          <a:p>
            <a:pPr marL="342900" indent="-342900">
              <a:buAutoNum type="arabicPeriod"/>
            </a:pPr>
            <a:r>
              <a:rPr lang="en-CA" dirty="0"/>
              <a:t>Replace “</a:t>
            </a:r>
            <a:r>
              <a:rPr lang="en-CA" dirty="0" err="1"/>
              <a:t>claude</a:t>
            </a:r>
            <a:r>
              <a:rPr lang="en-CA" dirty="0"/>
              <a:t>-…..” with </a:t>
            </a:r>
            <a:r>
              <a:rPr lang="en-CA" dirty="0" err="1"/>
              <a:t>ChatOpenAI</a:t>
            </a:r>
            <a:r>
              <a:rPr lang="en-CA" dirty="0"/>
              <a:t>(model = “….”, </a:t>
            </a:r>
            <a:r>
              <a:rPr lang="en-CA" dirty="0" err="1"/>
              <a:t>api_key</a:t>
            </a:r>
            <a:r>
              <a:rPr lang="en-CA" dirty="0"/>
              <a:t> = </a:t>
            </a:r>
            <a:r>
              <a:rPr lang="en-CA" dirty="0" err="1"/>
              <a:t>os.getenv</a:t>
            </a:r>
            <a:r>
              <a:rPr lang="en-CA" dirty="0"/>
              <a:t>(“OPENAI_API_KEY”))</a:t>
            </a:r>
          </a:p>
          <a:p>
            <a:pPr marL="342900" indent="-342900">
              <a:buAutoNum type="arabicPeriod"/>
            </a:pPr>
            <a:r>
              <a:rPr lang="en-CA" dirty="0"/>
              <a:t>Add </a:t>
            </a:r>
            <a:r>
              <a:rPr lang="en-CA" dirty="0" err="1"/>
              <a:t>load_dotenv</a:t>
            </a:r>
            <a:r>
              <a:rPr lang="en-CA" dirty="0"/>
              <a:t>() after imports.</a:t>
            </a:r>
          </a:p>
          <a:p>
            <a:pPr marL="342900" indent="-342900">
              <a:buAutoNum type="arabicPeriod"/>
            </a:pPr>
            <a:r>
              <a:rPr lang="en-CA" dirty="0"/>
              <a:t>Create a variable to hold what’s returned by invoke function and then print it out.</a:t>
            </a:r>
          </a:p>
          <a:p>
            <a:pPr marL="342900" indent="-342900">
              <a:buAutoNum type="arabicPeriod"/>
            </a:pPr>
            <a:r>
              <a:rPr lang="en-CA" dirty="0"/>
              <a:t>Create .env file then put OPENAI_API_KEY=</a:t>
            </a:r>
            <a:r>
              <a:rPr lang="en-CA" dirty="0" err="1"/>
              <a:t>sk</a:t>
            </a:r>
            <a:r>
              <a:rPr lang="en-CA" dirty="0"/>
              <a:t>…… in it.</a:t>
            </a:r>
          </a:p>
          <a:p>
            <a:pPr marL="342900" indent="-342900">
              <a:buAutoNum type="arabicPeriod"/>
            </a:pPr>
            <a:r>
              <a:rPr lang="en-CA" dirty="0"/>
              <a:t>In terminal, uv run ….. .</a:t>
            </a:r>
            <a:r>
              <a:rPr lang="en-CA" dirty="0" err="1"/>
              <a:t>py</a:t>
            </a:r>
            <a:endParaRPr lang="en-CA" dirty="0"/>
          </a:p>
        </p:txBody>
      </p:sp>
      <p:pic>
        <p:nvPicPr>
          <p:cNvPr id="7" name="Picture 6">
            <a:extLst>
              <a:ext uri="{FF2B5EF4-FFF2-40B4-BE49-F238E27FC236}">
                <a16:creationId xmlns:a16="http://schemas.microsoft.com/office/drawing/2014/main" id="{4FFC5846-22B9-2565-305D-78190DFD38B0}"/>
              </a:ext>
            </a:extLst>
          </p:cNvPr>
          <p:cNvPicPr>
            <a:picLocks noChangeAspect="1"/>
          </p:cNvPicPr>
          <p:nvPr/>
        </p:nvPicPr>
        <p:blipFill>
          <a:blip r:embed="rId3"/>
          <a:stretch>
            <a:fillRect/>
          </a:stretch>
        </p:blipFill>
        <p:spPr>
          <a:xfrm>
            <a:off x="6676103" y="4216570"/>
            <a:ext cx="5011715" cy="2232997"/>
          </a:xfrm>
          <a:prstGeom prst="rect">
            <a:avLst/>
          </a:prstGeom>
        </p:spPr>
      </p:pic>
      <p:cxnSp>
        <p:nvCxnSpPr>
          <p:cNvPr id="9" name="Straight Arrow Connector 8">
            <a:extLst>
              <a:ext uri="{FF2B5EF4-FFF2-40B4-BE49-F238E27FC236}">
                <a16:creationId xmlns:a16="http://schemas.microsoft.com/office/drawing/2014/main" id="{6734524B-5DA8-D8BA-E12B-2BA330671C9E}"/>
              </a:ext>
            </a:extLst>
          </p:cNvPr>
          <p:cNvCxnSpPr/>
          <p:nvPr/>
        </p:nvCxnSpPr>
        <p:spPr>
          <a:xfrm flipH="1">
            <a:off x="7588765" y="1354930"/>
            <a:ext cx="1266567" cy="2844710"/>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 name="TextBox 9">
            <a:extLst>
              <a:ext uri="{FF2B5EF4-FFF2-40B4-BE49-F238E27FC236}">
                <a16:creationId xmlns:a16="http://schemas.microsoft.com/office/drawing/2014/main" id="{F76DEF44-4453-2EC8-6A81-0C5B2B00D550}"/>
              </a:ext>
            </a:extLst>
          </p:cNvPr>
          <p:cNvSpPr txBox="1"/>
          <p:nvPr/>
        </p:nvSpPr>
        <p:spPr>
          <a:xfrm>
            <a:off x="5696465" y="6449567"/>
            <a:ext cx="5468249" cy="369332"/>
          </a:xfrm>
          <a:prstGeom prst="rect">
            <a:avLst/>
          </a:prstGeom>
          <a:noFill/>
        </p:spPr>
        <p:txBody>
          <a:bodyPr wrap="square" rtlCol="0">
            <a:spAutoFit/>
          </a:bodyPr>
          <a:lstStyle/>
          <a:p>
            <a:r>
              <a:rPr lang="en-CA" dirty="0"/>
              <a:t>https://docs.astral.sh/uv/reference/cli/#uv-python-pin</a:t>
            </a:r>
          </a:p>
        </p:txBody>
      </p:sp>
      <p:pic>
        <p:nvPicPr>
          <p:cNvPr id="11" name="Picture 10" descr="Michael Zhang (Director, Master of Business Analytics Program)">
            <a:extLst>
              <a:ext uri="{FF2B5EF4-FFF2-40B4-BE49-F238E27FC236}">
                <a16:creationId xmlns:a16="http://schemas.microsoft.com/office/drawing/2014/main" id="{C1635789-094F-4372-233C-247A440FE57E}"/>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3131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139E30-8841-CB8B-0539-8E02FDE3F646}"/>
              </a:ext>
            </a:extLst>
          </p:cNvPr>
          <p:cNvPicPr>
            <a:picLocks noChangeAspect="1"/>
          </p:cNvPicPr>
          <p:nvPr/>
        </p:nvPicPr>
        <p:blipFill>
          <a:blip r:embed="rId2"/>
          <a:stretch>
            <a:fillRect/>
          </a:stretch>
        </p:blipFill>
        <p:spPr>
          <a:xfrm>
            <a:off x="0" y="2625560"/>
            <a:ext cx="12192000" cy="2873197"/>
          </a:xfrm>
          <a:prstGeom prst="rect">
            <a:avLst/>
          </a:prstGeom>
        </p:spPr>
      </p:pic>
      <p:sp>
        <p:nvSpPr>
          <p:cNvPr id="4" name="TextBox 3">
            <a:extLst>
              <a:ext uri="{FF2B5EF4-FFF2-40B4-BE49-F238E27FC236}">
                <a16:creationId xmlns:a16="http://schemas.microsoft.com/office/drawing/2014/main" id="{8159C806-F3DC-2FE5-DDBA-D8BA9A94CC04}"/>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0. A Quick Review of QuickStart: What’s Returned?</a:t>
            </a:r>
          </a:p>
        </p:txBody>
      </p:sp>
      <p:pic>
        <p:nvPicPr>
          <p:cNvPr id="5" name="Picture 4" descr="Michael Zhang (Director, Master of Business Analytics Program)">
            <a:extLst>
              <a:ext uri="{FF2B5EF4-FFF2-40B4-BE49-F238E27FC236}">
                <a16:creationId xmlns:a16="http://schemas.microsoft.com/office/drawing/2014/main" id="{8193F658-BFEB-9D55-73D7-2BD0CC05B53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331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228B4B-2245-CEEE-0D8D-7ED29600DAE2}"/>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0. A Quick Review of QuickStart: FYI</a:t>
            </a:r>
          </a:p>
        </p:txBody>
      </p:sp>
      <p:pic>
        <p:nvPicPr>
          <p:cNvPr id="4" name="Picture 3">
            <a:extLst>
              <a:ext uri="{FF2B5EF4-FFF2-40B4-BE49-F238E27FC236}">
                <a16:creationId xmlns:a16="http://schemas.microsoft.com/office/drawing/2014/main" id="{E4E661CA-C15C-E1B9-9249-1A1973DD8F18}"/>
              </a:ext>
            </a:extLst>
          </p:cNvPr>
          <p:cNvPicPr>
            <a:picLocks noChangeAspect="1"/>
          </p:cNvPicPr>
          <p:nvPr/>
        </p:nvPicPr>
        <p:blipFill>
          <a:blip r:embed="rId2"/>
          <a:stretch>
            <a:fillRect/>
          </a:stretch>
        </p:blipFill>
        <p:spPr>
          <a:xfrm>
            <a:off x="0" y="584775"/>
            <a:ext cx="5782482" cy="3296110"/>
          </a:xfrm>
          <a:prstGeom prst="rect">
            <a:avLst/>
          </a:prstGeom>
        </p:spPr>
      </p:pic>
      <p:sp>
        <p:nvSpPr>
          <p:cNvPr id="5" name="TextBox 4">
            <a:extLst>
              <a:ext uri="{FF2B5EF4-FFF2-40B4-BE49-F238E27FC236}">
                <a16:creationId xmlns:a16="http://schemas.microsoft.com/office/drawing/2014/main" id="{D471888F-AAFB-CEB1-0F46-579AF555E1F7}"/>
              </a:ext>
            </a:extLst>
          </p:cNvPr>
          <p:cNvSpPr txBox="1"/>
          <p:nvPr/>
        </p:nvSpPr>
        <p:spPr>
          <a:xfrm>
            <a:off x="5894173" y="584775"/>
            <a:ext cx="5745892" cy="6093976"/>
          </a:xfrm>
          <a:prstGeom prst="rect">
            <a:avLst/>
          </a:prstGeom>
          <a:noFill/>
        </p:spPr>
        <p:txBody>
          <a:bodyPr wrap="square" rtlCol="0">
            <a:spAutoFit/>
          </a:bodyPr>
          <a:lstStyle/>
          <a:p>
            <a:r>
              <a:rPr lang="en-CA" sz="1000" dirty="0"/>
              <a:t>[</a:t>
            </a:r>
            <a:r>
              <a:rPr lang="en-CA" sz="1000" dirty="0" err="1"/>
              <a:t>yilin@ai</a:t>
            </a:r>
            <a:r>
              <a:rPr lang="en-CA" sz="1000" dirty="0"/>
              <a:t> ~]$ cd projects/</a:t>
            </a:r>
            <a:r>
              <a:rPr lang="en-CA" sz="1000" dirty="0" err="1"/>
              <a:t>quickstart_of_lc</a:t>
            </a:r>
            <a:endParaRPr lang="en-CA" sz="1000" dirty="0"/>
          </a:p>
          <a:p>
            <a:r>
              <a:rPr lang="en-CA" sz="1000" dirty="0"/>
              <a:t>[</a:t>
            </a:r>
            <a:r>
              <a:rPr lang="en-CA" sz="1000" dirty="0" err="1"/>
              <a:t>yilin@ai</a:t>
            </a:r>
            <a:r>
              <a:rPr lang="en-CA" sz="1000" dirty="0"/>
              <a:t> </a:t>
            </a:r>
            <a:r>
              <a:rPr lang="en-CA" sz="1000" dirty="0" err="1"/>
              <a:t>quickstart_of_lc</a:t>
            </a:r>
            <a:r>
              <a:rPr lang="en-CA" sz="1000" dirty="0"/>
              <a:t>]$ uv python pin 3.11</a:t>
            </a:r>
          </a:p>
          <a:p>
            <a:r>
              <a:rPr lang="en-CA" sz="1000" dirty="0"/>
              <a:t>Pinned `.python-version` to `3.11`</a:t>
            </a:r>
          </a:p>
          <a:p>
            <a:r>
              <a:rPr lang="en-CA" sz="1000" dirty="0"/>
              <a:t>[</a:t>
            </a:r>
            <a:r>
              <a:rPr lang="en-CA" sz="1000" dirty="0" err="1"/>
              <a:t>yilin@ai</a:t>
            </a:r>
            <a:r>
              <a:rPr lang="en-CA" sz="1000" dirty="0"/>
              <a:t> </a:t>
            </a:r>
            <a:r>
              <a:rPr lang="en-CA" sz="1000" dirty="0" err="1"/>
              <a:t>quickstart_of_lc</a:t>
            </a:r>
            <a:r>
              <a:rPr lang="en-CA" sz="1000" dirty="0"/>
              <a:t>]$ uv </a:t>
            </a:r>
            <a:r>
              <a:rPr lang="en-CA" sz="1000" dirty="0" err="1"/>
              <a:t>init</a:t>
            </a:r>
            <a:endParaRPr lang="en-CA" sz="1000" dirty="0"/>
          </a:p>
          <a:p>
            <a:r>
              <a:rPr lang="en-CA" sz="1000" dirty="0"/>
              <a:t>Initialized project `</a:t>
            </a:r>
            <a:r>
              <a:rPr lang="en-CA" sz="1000" dirty="0" err="1"/>
              <a:t>quickstart</a:t>
            </a:r>
            <a:r>
              <a:rPr lang="en-CA" sz="1000" dirty="0"/>
              <a:t>-of-lc`</a:t>
            </a:r>
          </a:p>
          <a:p>
            <a:r>
              <a:rPr lang="en-CA" sz="1000" dirty="0"/>
              <a:t>[</a:t>
            </a:r>
            <a:r>
              <a:rPr lang="en-CA" sz="1000" dirty="0" err="1"/>
              <a:t>yilin@ai</a:t>
            </a:r>
            <a:r>
              <a:rPr lang="en-CA" sz="1000" dirty="0"/>
              <a:t> </a:t>
            </a:r>
            <a:r>
              <a:rPr lang="en-CA" sz="1000" dirty="0" err="1"/>
              <a:t>quickstart_of_lc</a:t>
            </a:r>
            <a:r>
              <a:rPr lang="en-CA" sz="1000" dirty="0"/>
              <a:t>]$ ls -a</a:t>
            </a:r>
          </a:p>
          <a:p>
            <a:r>
              <a:rPr lang="en-CA" sz="1000" dirty="0"/>
              <a:t>.  ..  .git  .</a:t>
            </a:r>
            <a:r>
              <a:rPr lang="en-CA" sz="1000" dirty="0" err="1"/>
              <a:t>gitignore</a:t>
            </a:r>
            <a:r>
              <a:rPr lang="en-CA" sz="1000" dirty="0"/>
              <a:t>  main.py  </a:t>
            </a:r>
            <a:r>
              <a:rPr lang="en-CA" sz="1000" dirty="0" err="1"/>
              <a:t>pyproject.toml</a:t>
            </a:r>
            <a:r>
              <a:rPr lang="en-CA" sz="1000" dirty="0"/>
              <a:t>  .python-version  README.md</a:t>
            </a:r>
          </a:p>
          <a:p>
            <a:r>
              <a:rPr lang="en-CA" sz="1000" dirty="0"/>
              <a:t>[</a:t>
            </a:r>
            <a:r>
              <a:rPr lang="en-CA" sz="1000" dirty="0" err="1"/>
              <a:t>yilin@ai</a:t>
            </a:r>
            <a:r>
              <a:rPr lang="en-CA" sz="1000" dirty="0"/>
              <a:t> </a:t>
            </a:r>
            <a:r>
              <a:rPr lang="en-CA" sz="1000" dirty="0" err="1"/>
              <a:t>quickstart_of_lc</a:t>
            </a:r>
            <a:r>
              <a:rPr lang="en-CA" sz="1000" dirty="0"/>
              <a:t>]$ uv add </a:t>
            </a:r>
            <a:r>
              <a:rPr lang="en-CA" sz="1000" dirty="0" err="1"/>
              <a:t>langchain</a:t>
            </a:r>
            <a:r>
              <a:rPr lang="en-CA" sz="1000" dirty="0"/>
              <a:t> </a:t>
            </a:r>
            <a:r>
              <a:rPr lang="en-CA" sz="1000" dirty="0" err="1"/>
              <a:t>langchain-openai</a:t>
            </a:r>
            <a:r>
              <a:rPr lang="en-CA" sz="1000" dirty="0"/>
              <a:t> python-</a:t>
            </a:r>
            <a:r>
              <a:rPr lang="en-CA" sz="1000" dirty="0" err="1"/>
              <a:t>dotenv</a:t>
            </a:r>
            <a:endParaRPr lang="en-CA" sz="1000" dirty="0"/>
          </a:p>
          <a:p>
            <a:r>
              <a:rPr lang="en-CA" sz="1000" dirty="0"/>
              <a:t>Using </a:t>
            </a:r>
            <a:r>
              <a:rPr lang="en-CA" sz="1000" dirty="0" err="1"/>
              <a:t>CPython</a:t>
            </a:r>
            <a:r>
              <a:rPr lang="en-CA" sz="1000" dirty="0"/>
              <a:t> 3.11.13 interpreter at: /</a:t>
            </a:r>
            <a:r>
              <a:rPr lang="en-CA" sz="1000" dirty="0" err="1"/>
              <a:t>usr</a:t>
            </a:r>
            <a:r>
              <a:rPr lang="en-CA" sz="1000" dirty="0"/>
              <a:t>/bin/python3.11</a:t>
            </a:r>
          </a:p>
          <a:p>
            <a:r>
              <a:rPr lang="en-CA" sz="1000" dirty="0"/>
              <a:t>Creating virtual environment at: .</a:t>
            </a:r>
            <a:r>
              <a:rPr lang="en-CA" sz="1000" dirty="0" err="1"/>
              <a:t>venv</a:t>
            </a:r>
            <a:endParaRPr lang="en-CA" sz="1000" dirty="0"/>
          </a:p>
          <a:p>
            <a:r>
              <a:rPr lang="en-CA" sz="1000" dirty="0"/>
              <a:t>Resolved 43 packages in 785ms</a:t>
            </a:r>
          </a:p>
          <a:p>
            <a:r>
              <a:rPr lang="en-CA" sz="1000" dirty="0"/>
              <a:t>Prepared 27 packages in 452ms</a:t>
            </a:r>
          </a:p>
          <a:p>
            <a:r>
              <a:rPr lang="en-CA" sz="1000" dirty="0"/>
              <a:t>Installed 41 packages in 156ms</a:t>
            </a:r>
          </a:p>
          <a:p>
            <a:r>
              <a:rPr lang="en-CA" sz="1000" dirty="0"/>
              <a:t> …………..</a:t>
            </a:r>
          </a:p>
          <a:p>
            <a:r>
              <a:rPr lang="en-CA" sz="1000" dirty="0"/>
              <a:t>[</a:t>
            </a:r>
            <a:r>
              <a:rPr lang="en-CA" sz="1000" dirty="0" err="1"/>
              <a:t>yilin@ai</a:t>
            </a:r>
            <a:r>
              <a:rPr lang="en-CA" sz="1000" dirty="0"/>
              <a:t> </a:t>
            </a:r>
            <a:r>
              <a:rPr lang="en-CA" sz="1000" dirty="0" err="1"/>
              <a:t>quickstart_of_lc</a:t>
            </a:r>
            <a:r>
              <a:rPr lang="en-CA" sz="1000" dirty="0"/>
              <a:t>]$ uv run main.py</a:t>
            </a:r>
          </a:p>
          <a:p>
            <a:r>
              <a:rPr lang="en-CA" sz="1000" dirty="0"/>
              <a:t>{'messages': [</a:t>
            </a:r>
            <a:r>
              <a:rPr lang="en-CA" sz="1000" dirty="0" err="1"/>
              <a:t>HumanMessage</a:t>
            </a:r>
            <a:r>
              <a:rPr lang="en-CA" sz="1000" dirty="0"/>
              <a:t>(content='what is the weather in sf', </a:t>
            </a:r>
            <a:r>
              <a:rPr lang="en-CA" sz="1000" dirty="0" err="1"/>
              <a:t>additional_kwargs</a:t>
            </a:r>
            <a:r>
              <a:rPr lang="en-CA" sz="1000" dirty="0"/>
              <a:t>={}, </a:t>
            </a:r>
            <a:r>
              <a:rPr lang="en-CA" sz="1000" dirty="0" err="1"/>
              <a:t>response_metadata</a:t>
            </a:r>
            <a:r>
              <a:rPr lang="en-CA" sz="1000" dirty="0"/>
              <a:t>={}, id='6f05e083-9937-46ff-a603-7af7e4014a21'), </a:t>
            </a:r>
            <a:r>
              <a:rPr lang="en-CA" sz="1000" dirty="0" err="1"/>
              <a:t>AIMessage</a:t>
            </a:r>
            <a:r>
              <a:rPr lang="en-CA" sz="1000" dirty="0"/>
              <a:t>(content='', </a:t>
            </a:r>
            <a:r>
              <a:rPr lang="en-CA" sz="1000" dirty="0" err="1"/>
              <a:t>additional_kwargs</a:t>
            </a:r>
            <a:r>
              <a:rPr lang="en-CA" sz="1000" dirty="0"/>
              <a:t>={'refusal': None}, </a:t>
            </a:r>
            <a:r>
              <a:rPr lang="en-CA" sz="1000" dirty="0" err="1"/>
              <a:t>response_metadata</a:t>
            </a:r>
            <a:r>
              <a:rPr lang="en-CA" sz="1000" dirty="0"/>
              <a:t>={'</a:t>
            </a:r>
            <a:r>
              <a:rPr lang="en-CA" sz="1000" dirty="0" err="1"/>
              <a:t>token_usage</a:t>
            </a:r>
            <a:r>
              <a:rPr lang="en-CA" sz="1000" dirty="0"/>
              <a:t>': {'</a:t>
            </a:r>
            <a:r>
              <a:rPr lang="en-CA" sz="1000" dirty="0" err="1"/>
              <a:t>completion_tokens</a:t>
            </a:r>
            <a:r>
              <a:rPr lang="en-CA" sz="1000" dirty="0"/>
              <a:t>': 15, '</a:t>
            </a:r>
            <a:r>
              <a:rPr lang="en-CA" sz="1000" dirty="0" err="1"/>
              <a:t>prompt_tokens</a:t>
            </a:r>
            <a:r>
              <a:rPr lang="en-CA" sz="1000" dirty="0"/>
              <a:t>': 56, '</a:t>
            </a:r>
            <a:r>
              <a:rPr lang="en-CA" sz="1000" dirty="0" err="1"/>
              <a:t>total_tokens</a:t>
            </a:r>
            <a:r>
              <a:rPr lang="en-CA" sz="1000" dirty="0"/>
              <a:t>': 71, '</a:t>
            </a:r>
            <a:r>
              <a:rPr lang="en-CA" sz="1000" dirty="0" err="1"/>
              <a:t>completion_tokens_details</a:t>
            </a:r>
            <a:r>
              <a:rPr lang="en-CA" sz="1000" dirty="0"/>
              <a:t>': {'</a:t>
            </a:r>
            <a:r>
              <a:rPr lang="en-CA" sz="1000" dirty="0" err="1"/>
              <a:t>accepted_prediction_tokens</a:t>
            </a:r>
            <a:r>
              <a:rPr lang="en-CA" sz="1000" dirty="0"/>
              <a:t>': 0, '</a:t>
            </a:r>
            <a:r>
              <a:rPr lang="en-CA" sz="1000" dirty="0" err="1"/>
              <a:t>audio_tokens</a:t>
            </a:r>
            <a:r>
              <a:rPr lang="en-CA" sz="1000" dirty="0"/>
              <a:t>': 0, '</a:t>
            </a:r>
            <a:r>
              <a:rPr lang="en-CA" sz="1000" dirty="0" err="1"/>
              <a:t>reasoning_tokens</a:t>
            </a:r>
            <a:r>
              <a:rPr lang="en-CA" sz="1000" dirty="0"/>
              <a:t>': 0, '</a:t>
            </a:r>
            <a:r>
              <a:rPr lang="en-CA" sz="1000" dirty="0" err="1"/>
              <a:t>rejected_prediction_tokens</a:t>
            </a:r>
            <a:r>
              <a:rPr lang="en-CA" sz="1000" dirty="0"/>
              <a:t>': 0}, '</a:t>
            </a:r>
            <a:r>
              <a:rPr lang="en-CA" sz="1000" dirty="0" err="1"/>
              <a:t>prompt_tokens_details</a:t>
            </a:r>
            <a:r>
              <a:rPr lang="en-CA" sz="1000" dirty="0"/>
              <a:t>': {'</a:t>
            </a:r>
            <a:r>
              <a:rPr lang="en-CA" sz="1000" dirty="0" err="1"/>
              <a:t>audio_tokens</a:t>
            </a:r>
            <a:r>
              <a:rPr lang="en-CA" sz="1000" dirty="0"/>
              <a:t>': 0, '</a:t>
            </a:r>
            <a:r>
              <a:rPr lang="en-CA" sz="1000" dirty="0" err="1"/>
              <a:t>cached_tokens</a:t>
            </a:r>
            <a:r>
              <a:rPr lang="en-CA" sz="1000" dirty="0"/>
              <a:t>': 0}}, '</a:t>
            </a:r>
            <a:r>
              <a:rPr lang="en-CA" sz="1000" dirty="0" err="1"/>
              <a:t>model_provider</a:t>
            </a:r>
            <a:r>
              <a:rPr lang="en-CA" sz="1000" dirty="0"/>
              <a:t>': '</a:t>
            </a:r>
            <a:r>
              <a:rPr lang="en-CA" sz="1000" dirty="0" err="1"/>
              <a:t>openai</a:t>
            </a:r>
            <a:r>
              <a:rPr lang="en-CA" sz="1000" dirty="0"/>
              <a:t>', '</a:t>
            </a:r>
            <a:r>
              <a:rPr lang="en-CA" sz="1000" dirty="0" err="1"/>
              <a:t>model_name</a:t>
            </a:r>
            <a:r>
              <a:rPr lang="en-CA" sz="1000" dirty="0"/>
              <a:t>': 'gpt-4o-2024-08-06', '</a:t>
            </a:r>
            <a:r>
              <a:rPr lang="en-CA" sz="1000" dirty="0" err="1"/>
              <a:t>system_fingerprint</a:t>
            </a:r>
            <a:r>
              <a:rPr lang="en-CA" sz="1000" dirty="0"/>
              <a:t>': 'fp_deacdd5f6f', 'id': 'chatcmpl-D20UQAoez16QSEtMaay6jpFFpsMOO', '</a:t>
            </a:r>
            <a:r>
              <a:rPr lang="en-CA" sz="1000" dirty="0" err="1"/>
              <a:t>service_tier</a:t>
            </a:r>
            <a:r>
              <a:rPr lang="en-CA" sz="1000" dirty="0"/>
              <a:t>': 'default', '</a:t>
            </a:r>
            <a:r>
              <a:rPr lang="en-CA" sz="1000" dirty="0" err="1"/>
              <a:t>finish_reason</a:t>
            </a:r>
            <a:r>
              <a:rPr lang="en-CA" sz="1000" dirty="0"/>
              <a:t>': '</a:t>
            </a:r>
            <a:r>
              <a:rPr lang="en-CA" sz="1000" dirty="0" err="1"/>
              <a:t>tool_calls</a:t>
            </a:r>
            <a:r>
              <a:rPr lang="en-CA" sz="1000" dirty="0"/>
              <a:t>', '</a:t>
            </a:r>
            <a:r>
              <a:rPr lang="en-CA" sz="1000" dirty="0" err="1"/>
              <a:t>logprobs</a:t>
            </a:r>
            <a:r>
              <a:rPr lang="en-CA" sz="1000" dirty="0"/>
              <a:t>': None}, id='</a:t>
            </a:r>
            <a:r>
              <a:rPr lang="en-CA" sz="1000" dirty="0" err="1"/>
              <a:t>lc_run</a:t>
            </a:r>
            <a:r>
              <a:rPr lang="en-CA" sz="1000" dirty="0"/>
              <a:t>--019bf6b9-7861-71b1-8aa8-a05f39f646ed-0', </a:t>
            </a:r>
            <a:r>
              <a:rPr lang="en-CA" sz="1000" dirty="0" err="1"/>
              <a:t>tool_calls</a:t>
            </a:r>
            <a:r>
              <a:rPr lang="en-CA" sz="1000" dirty="0"/>
              <a:t>=[{'name': '</a:t>
            </a:r>
            <a:r>
              <a:rPr lang="en-CA" sz="1000" dirty="0" err="1"/>
              <a:t>get_weather</a:t>
            </a:r>
            <a:r>
              <a:rPr lang="en-CA" sz="1000" dirty="0"/>
              <a:t>', '</a:t>
            </a:r>
            <a:r>
              <a:rPr lang="en-CA" sz="1000" dirty="0" err="1"/>
              <a:t>args</a:t>
            </a:r>
            <a:r>
              <a:rPr lang="en-CA" sz="1000" dirty="0"/>
              <a:t>': {'city': 'San Francisco'}, 'id': 'call_2TN2ceM70Uv2hMp2IL639xyH', 'type': '</a:t>
            </a:r>
            <a:r>
              <a:rPr lang="en-CA" sz="1000" dirty="0" err="1"/>
              <a:t>tool_call</a:t>
            </a:r>
            <a:r>
              <a:rPr lang="en-CA" sz="1000" dirty="0"/>
              <a:t>'}], </a:t>
            </a:r>
            <a:r>
              <a:rPr lang="en-CA" sz="1000" dirty="0" err="1"/>
              <a:t>invalid_tool_calls</a:t>
            </a:r>
            <a:r>
              <a:rPr lang="en-CA" sz="1000" dirty="0"/>
              <a:t>=[], </a:t>
            </a:r>
            <a:r>
              <a:rPr lang="en-CA" sz="1000" dirty="0" err="1"/>
              <a:t>usage_metadata</a:t>
            </a:r>
            <a:r>
              <a:rPr lang="en-CA" sz="1000" dirty="0"/>
              <a:t>={'</a:t>
            </a:r>
            <a:r>
              <a:rPr lang="en-CA" sz="1000" dirty="0" err="1"/>
              <a:t>input_tokens</a:t>
            </a:r>
            <a:r>
              <a:rPr lang="en-CA" sz="1000" dirty="0"/>
              <a:t>': 56, '</a:t>
            </a:r>
            <a:r>
              <a:rPr lang="en-CA" sz="1000" dirty="0" err="1"/>
              <a:t>output_tokens</a:t>
            </a:r>
            <a:r>
              <a:rPr lang="en-CA" sz="1000" dirty="0"/>
              <a:t>': 15, '</a:t>
            </a:r>
            <a:r>
              <a:rPr lang="en-CA" sz="1000" dirty="0" err="1"/>
              <a:t>total_tokens</a:t>
            </a:r>
            <a:r>
              <a:rPr lang="en-CA" sz="1000" dirty="0"/>
              <a:t>': 71, '</a:t>
            </a:r>
            <a:r>
              <a:rPr lang="en-CA" sz="1000" dirty="0" err="1"/>
              <a:t>input_token_details</a:t>
            </a:r>
            <a:r>
              <a:rPr lang="en-CA" sz="1000" dirty="0"/>
              <a:t>': {'audio': 0, '</a:t>
            </a:r>
            <a:r>
              <a:rPr lang="en-CA" sz="1000" dirty="0" err="1"/>
              <a:t>cache_read</a:t>
            </a:r>
            <a:r>
              <a:rPr lang="en-CA" sz="1000" dirty="0"/>
              <a:t>': 0}, '</a:t>
            </a:r>
            <a:r>
              <a:rPr lang="en-CA" sz="1000" dirty="0" err="1"/>
              <a:t>output_token_details</a:t>
            </a:r>
            <a:r>
              <a:rPr lang="en-CA" sz="1000" dirty="0"/>
              <a:t>': {'audio': 0, 'reasoning': 0}}), </a:t>
            </a:r>
            <a:r>
              <a:rPr lang="en-CA" sz="1000" dirty="0" err="1"/>
              <a:t>ToolMessage</a:t>
            </a:r>
            <a:r>
              <a:rPr lang="en-CA" sz="1000" dirty="0"/>
              <a:t>(content="It's always sunny in San Francisco!", name='</a:t>
            </a:r>
            <a:r>
              <a:rPr lang="en-CA" sz="1000" dirty="0" err="1"/>
              <a:t>get_weather</a:t>
            </a:r>
            <a:r>
              <a:rPr lang="en-CA" sz="1000" dirty="0"/>
              <a:t>', id='89e729b9-7b30-4c2e-8ee9-b5dd32e8f531', </a:t>
            </a:r>
            <a:r>
              <a:rPr lang="en-CA" sz="1000" dirty="0" err="1"/>
              <a:t>tool_call_id</a:t>
            </a:r>
            <a:r>
              <a:rPr lang="en-CA" sz="1000" dirty="0"/>
              <a:t>='call_2TN2ceM70Uv2hMp2IL639xyH'), </a:t>
            </a:r>
            <a:r>
              <a:rPr lang="en-CA" sz="1000" dirty="0" err="1"/>
              <a:t>AIMessage</a:t>
            </a:r>
            <a:r>
              <a:rPr lang="en-CA" sz="1000" dirty="0"/>
              <a:t>(content='Currently, the weather in San Francisco is sunny. ☀️', </a:t>
            </a:r>
            <a:r>
              <a:rPr lang="en-CA" sz="1000" dirty="0" err="1"/>
              <a:t>additional_kwargs</a:t>
            </a:r>
            <a:r>
              <a:rPr lang="en-CA" sz="1000" dirty="0"/>
              <a:t>={'refusal': None}, </a:t>
            </a:r>
            <a:r>
              <a:rPr lang="en-CA" sz="1000" dirty="0" err="1"/>
              <a:t>response_metadata</a:t>
            </a:r>
            <a:r>
              <a:rPr lang="en-CA" sz="1000" dirty="0"/>
              <a:t>={'</a:t>
            </a:r>
            <a:r>
              <a:rPr lang="en-CA" sz="1000" dirty="0" err="1"/>
              <a:t>token_usage</a:t>
            </a:r>
            <a:r>
              <a:rPr lang="en-CA" sz="1000" dirty="0"/>
              <a:t>': {'</a:t>
            </a:r>
            <a:r>
              <a:rPr lang="en-CA" sz="1000" dirty="0" err="1"/>
              <a:t>completion_tokens</a:t>
            </a:r>
            <a:r>
              <a:rPr lang="en-CA" sz="1000" dirty="0"/>
              <a:t>': 14, '</a:t>
            </a:r>
            <a:r>
              <a:rPr lang="en-CA" sz="1000" dirty="0" err="1"/>
              <a:t>prompt_tokens</a:t>
            </a:r>
            <a:r>
              <a:rPr lang="en-CA" sz="1000" dirty="0"/>
              <a:t>': 86, '</a:t>
            </a:r>
            <a:r>
              <a:rPr lang="en-CA" sz="1000" dirty="0" err="1"/>
              <a:t>total_tokens</a:t>
            </a:r>
            <a:r>
              <a:rPr lang="en-CA" sz="1000" dirty="0"/>
              <a:t>': 100, '</a:t>
            </a:r>
            <a:r>
              <a:rPr lang="en-CA" sz="1000" dirty="0" err="1"/>
              <a:t>completion_tokens_details</a:t>
            </a:r>
            <a:r>
              <a:rPr lang="en-CA" sz="1000" dirty="0"/>
              <a:t>': {'</a:t>
            </a:r>
            <a:r>
              <a:rPr lang="en-CA" sz="1000" dirty="0" err="1"/>
              <a:t>accepted_prediction_tokens</a:t>
            </a:r>
            <a:r>
              <a:rPr lang="en-CA" sz="1000" dirty="0"/>
              <a:t>': 0, '</a:t>
            </a:r>
            <a:r>
              <a:rPr lang="en-CA" sz="1000" dirty="0" err="1"/>
              <a:t>audio_tokens</a:t>
            </a:r>
            <a:r>
              <a:rPr lang="en-CA" sz="1000" dirty="0"/>
              <a:t>': 0, '</a:t>
            </a:r>
            <a:r>
              <a:rPr lang="en-CA" sz="1000" dirty="0" err="1"/>
              <a:t>reasoning_tokens</a:t>
            </a:r>
            <a:r>
              <a:rPr lang="en-CA" sz="1000" dirty="0"/>
              <a:t>': 0, '</a:t>
            </a:r>
            <a:r>
              <a:rPr lang="en-CA" sz="1000" dirty="0" err="1"/>
              <a:t>rejected_prediction_tokens</a:t>
            </a:r>
            <a:r>
              <a:rPr lang="en-CA" sz="1000" dirty="0"/>
              <a:t>': 0}, '</a:t>
            </a:r>
            <a:r>
              <a:rPr lang="en-CA" sz="1000" dirty="0" err="1"/>
              <a:t>prompt_tokens_details</a:t>
            </a:r>
            <a:r>
              <a:rPr lang="en-CA" sz="1000" dirty="0"/>
              <a:t>': {'</a:t>
            </a:r>
            <a:r>
              <a:rPr lang="en-CA" sz="1000" dirty="0" err="1"/>
              <a:t>audio_tokens</a:t>
            </a:r>
            <a:r>
              <a:rPr lang="en-CA" sz="1000" dirty="0"/>
              <a:t>': 0, '</a:t>
            </a:r>
            <a:r>
              <a:rPr lang="en-CA" sz="1000" dirty="0" err="1"/>
              <a:t>cached_tokens</a:t>
            </a:r>
            <a:r>
              <a:rPr lang="en-CA" sz="1000" dirty="0"/>
              <a:t>': 0}}, '</a:t>
            </a:r>
            <a:r>
              <a:rPr lang="en-CA" sz="1000" dirty="0" err="1"/>
              <a:t>model_provider</a:t>
            </a:r>
            <a:r>
              <a:rPr lang="en-CA" sz="1000" dirty="0"/>
              <a:t>': '</a:t>
            </a:r>
            <a:r>
              <a:rPr lang="en-CA" sz="1000" dirty="0" err="1"/>
              <a:t>openai</a:t>
            </a:r>
            <a:r>
              <a:rPr lang="en-CA" sz="1000" dirty="0"/>
              <a:t>', '</a:t>
            </a:r>
            <a:r>
              <a:rPr lang="en-CA" sz="1000" dirty="0" err="1"/>
              <a:t>model_name</a:t>
            </a:r>
            <a:r>
              <a:rPr lang="en-CA" sz="1000" dirty="0"/>
              <a:t>': 'gpt-4o-2024-08-06', '</a:t>
            </a:r>
            <a:r>
              <a:rPr lang="en-CA" sz="1000" dirty="0" err="1"/>
              <a:t>system_fingerprint</a:t>
            </a:r>
            <a:r>
              <a:rPr lang="en-CA" sz="1000" dirty="0"/>
              <a:t>': 'fp_deacdd5f6f', 'id': 'chatcmpl-D20UR4kEVbKNE7mLBJfjZl8YXnyMG', '</a:t>
            </a:r>
            <a:r>
              <a:rPr lang="en-CA" sz="1000" dirty="0" err="1"/>
              <a:t>service_tier</a:t>
            </a:r>
            <a:r>
              <a:rPr lang="en-CA" sz="1000" dirty="0"/>
              <a:t>': 'default', '</a:t>
            </a:r>
            <a:r>
              <a:rPr lang="en-CA" sz="1000" dirty="0" err="1"/>
              <a:t>finish_reason</a:t>
            </a:r>
            <a:r>
              <a:rPr lang="en-CA" sz="1000" dirty="0"/>
              <a:t>': 'stop', '</a:t>
            </a:r>
            <a:r>
              <a:rPr lang="en-CA" sz="1000" dirty="0" err="1"/>
              <a:t>logprobs</a:t>
            </a:r>
            <a:r>
              <a:rPr lang="en-CA" sz="1000" dirty="0"/>
              <a:t>': None}, id='</a:t>
            </a:r>
            <a:r>
              <a:rPr lang="en-CA" sz="1000" dirty="0" err="1"/>
              <a:t>lc_run</a:t>
            </a:r>
            <a:r>
              <a:rPr lang="en-CA" sz="1000" dirty="0"/>
              <a:t>--019bf6b9-80b4-7321-9920-f6e89887365e-0', </a:t>
            </a:r>
            <a:r>
              <a:rPr lang="en-CA" sz="1000" dirty="0" err="1"/>
              <a:t>tool_calls</a:t>
            </a:r>
            <a:r>
              <a:rPr lang="en-CA" sz="1000" dirty="0"/>
              <a:t>=[], </a:t>
            </a:r>
            <a:r>
              <a:rPr lang="en-CA" sz="1000" dirty="0" err="1"/>
              <a:t>invalid_tool_calls</a:t>
            </a:r>
            <a:r>
              <a:rPr lang="en-CA" sz="1000" dirty="0"/>
              <a:t>=[], </a:t>
            </a:r>
            <a:r>
              <a:rPr lang="en-CA" sz="1000" dirty="0" err="1"/>
              <a:t>usage_metadata</a:t>
            </a:r>
            <a:r>
              <a:rPr lang="en-CA" sz="1000" dirty="0"/>
              <a:t>={'</a:t>
            </a:r>
            <a:r>
              <a:rPr lang="en-CA" sz="1000" dirty="0" err="1"/>
              <a:t>input_tokens</a:t>
            </a:r>
            <a:r>
              <a:rPr lang="en-CA" sz="1000" dirty="0"/>
              <a:t>': 86, '</a:t>
            </a:r>
            <a:r>
              <a:rPr lang="en-CA" sz="1000" dirty="0" err="1"/>
              <a:t>output_tokens</a:t>
            </a:r>
            <a:r>
              <a:rPr lang="en-CA" sz="1000" dirty="0"/>
              <a:t>': 14, '</a:t>
            </a:r>
            <a:r>
              <a:rPr lang="en-CA" sz="1000" dirty="0" err="1"/>
              <a:t>total_tokens</a:t>
            </a:r>
            <a:r>
              <a:rPr lang="en-CA" sz="1000" dirty="0"/>
              <a:t>': 100, '</a:t>
            </a:r>
            <a:r>
              <a:rPr lang="en-CA" sz="1000" dirty="0" err="1"/>
              <a:t>input_token_details</a:t>
            </a:r>
            <a:r>
              <a:rPr lang="en-CA" sz="1000" dirty="0"/>
              <a:t>': {'audio': 0, '</a:t>
            </a:r>
            <a:r>
              <a:rPr lang="en-CA" sz="1000" dirty="0" err="1"/>
              <a:t>cache_read</a:t>
            </a:r>
            <a:r>
              <a:rPr lang="en-CA" sz="1000" dirty="0"/>
              <a:t>': 0}, '</a:t>
            </a:r>
            <a:r>
              <a:rPr lang="en-CA" sz="1000" dirty="0" err="1"/>
              <a:t>output_token_details</a:t>
            </a:r>
            <a:r>
              <a:rPr lang="en-CA" sz="1000" dirty="0"/>
              <a:t>': {'audio': 0, 'reasoning': 0}})]}</a:t>
            </a:r>
          </a:p>
        </p:txBody>
      </p:sp>
      <p:pic>
        <p:nvPicPr>
          <p:cNvPr id="6" name="Picture 5" descr="Michael Zhang (Director, Master of Business Analytics Program)">
            <a:extLst>
              <a:ext uri="{FF2B5EF4-FFF2-40B4-BE49-F238E27FC236}">
                <a16:creationId xmlns:a16="http://schemas.microsoft.com/office/drawing/2014/main" id="{5AAA4756-B973-5FC7-9230-D561379EB59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2567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0CE21F-0FF5-548A-EDB3-1FCCCADFFBA4}"/>
              </a:ext>
            </a:extLst>
          </p:cNvPr>
          <p:cNvSpPr txBox="1"/>
          <p:nvPr/>
        </p:nvSpPr>
        <p:spPr>
          <a:xfrm>
            <a:off x="126999" y="3356520"/>
            <a:ext cx="10027653" cy="1446550"/>
          </a:xfrm>
          <a:prstGeom prst="rect">
            <a:avLst/>
          </a:prstGeom>
          <a:noFill/>
        </p:spPr>
        <p:txBody>
          <a:bodyPr wrap="square" rtlCol="0">
            <a:spAutoFit/>
          </a:bodyPr>
          <a:lstStyle/>
          <a:p>
            <a:r>
              <a:rPr lang="en-CA" sz="4400" b="1" dirty="0">
                <a:solidFill>
                  <a:srgbClr val="612141"/>
                </a:solidFill>
              </a:rPr>
              <a:t>1. Core Components of </a:t>
            </a:r>
            <a:r>
              <a:rPr lang="en-CA" sz="4400" b="1" dirty="0" err="1">
                <a:solidFill>
                  <a:srgbClr val="612141"/>
                </a:solidFill>
              </a:rPr>
              <a:t>LangChain</a:t>
            </a:r>
            <a:r>
              <a:rPr lang="en-CA" sz="4400" b="1" dirty="0">
                <a:solidFill>
                  <a:srgbClr val="612141"/>
                </a:solidFill>
              </a:rPr>
              <a:t> (without Middleware)</a:t>
            </a:r>
          </a:p>
        </p:txBody>
      </p:sp>
      <p:pic>
        <p:nvPicPr>
          <p:cNvPr id="3" name="Picture 2" descr="Michael Zhang (Director, Master of Business Analytics Program)">
            <a:extLst>
              <a:ext uri="{FF2B5EF4-FFF2-40B4-BE49-F238E27FC236}">
                <a16:creationId xmlns:a16="http://schemas.microsoft.com/office/drawing/2014/main" id="{9DB52542-29AD-E0E4-33A3-9F7F54994FF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0802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3E57ED-C079-29C1-B3B3-B4B13A112780}"/>
              </a:ext>
            </a:extLst>
          </p:cNvPr>
          <p:cNvSpPr txBox="1"/>
          <p:nvPr/>
        </p:nvSpPr>
        <p:spPr>
          <a:xfrm>
            <a:off x="0" y="0"/>
            <a:ext cx="9355756" cy="1077218"/>
          </a:xfrm>
          <a:prstGeom prst="rect">
            <a:avLst/>
          </a:prstGeom>
          <a:noFill/>
        </p:spPr>
        <p:txBody>
          <a:bodyPr wrap="square" rtlCol="0">
            <a:spAutoFit/>
          </a:bodyPr>
          <a:lstStyle/>
          <a:p>
            <a:r>
              <a:rPr lang="en-CA" sz="3200" b="1" dirty="0">
                <a:solidFill>
                  <a:srgbClr val="612141"/>
                </a:solidFill>
              </a:rPr>
              <a:t>1. Core Components of </a:t>
            </a:r>
            <a:r>
              <a:rPr lang="en-CA" sz="3200" b="1" dirty="0" err="1">
                <a:solidFill>
                  <a:srgbClr val="612141"/>
                </a:solidFill>
              </a:rPr>
              <a:t>LangChain</a:t>
            </a:r>
            <a:r>
              <a:rPr lang="en-CA" sz="3200" b="1" dirty="0">
                <a:solidFill>
                  <a:srgbClr val="612141"/>
                </a:solidFill>
              </a:rPr>
              <a:t> (without Middleware)</a:t>
            </a:r>
          </a:p>
        </p:txBody>
      </p:sp>
      <p:pic>
        <p:nvPicPr>
          <p:cNvPr id="7" name="Picture 6">
            <a:extLst>
              <a:ext uri="{FF2B5EF4-FFF2-40B4-BE49-F238E27FC236}">
                <a16:creationId xmlns:a16="http://schemas.microsoft.com/office/drawing/2014/main" id="{CAB34A81-E8D7-4A12-1CFE-3B5704BDDBCC}"/>
              </a:ext>
            </a:extLst>
          </p:cNvPr>
          <p:cNvPicPr>
            <a:picLocks noChangeAspect="1"/>
          </p:cNvPicPr>
          <p:nvPr/>
        </p:nvPicPr>
        <p:blipFill>
          <a:blip r:embed="rId2"/>
          <a:stretch>
            <a:fillRect/>
          </a:stretch>
        </p:blipFill>
        <p:spPr>
          <a:xfrm>
            <a:off x="8331420" y="768733"/>
            <a:ext cx="2760829" cy="4844475"/>
          </a:xfrm>
          <a:prstGeom prst="rect">
            <a:avLst/>
          </a:prstGeom>
        </p:spPr>
      </p:pic>
      <p:sp>
        <p:nvSpPr>
          <p:cNvPr id="8" name="TextBox 7">
            <a:extLst>
              <a:ext uri="{FF2B5EF4-FFF2-40B4-BE49-F238E27FC236}">
                <a16:creationId xmlns:a16="http://schemas.microsoft.com/office/drawing/2014/main" id="{287FB768-F706-7B1A-FF8B-8924C3F11C8E}"/>
              </a:ext>
            </a:extLst>
          </p:cNvPr>
          <p:cNvSpPr txBox="1"/>
          <p:nvPr/>
        </p:nvSpPr>
        <p:spPr>
          <a:xfrm>
            <a:off x="0" y="1077218"/>
            <a:ext cx="6722076" cy="3139321"/>
          </a:xfrm>
          <a:prstGeom prst="rect">
            <a:avLst/>
          </a:prstGeom>
          <a:noFill/>
        </p:spPr>
        <p:txBody>
          <a:bodyPr wrap="square" rtlCol="0">
            <a:spAutoFit/>
          </a:bodyPr>
          <a:lstStyle/>
          <a:p>
            <a:r>
              <a:rPr lang="en-CA" dirty="0">
                <a:solidFill>
                  <a:schemeClr val="tx1">
                    <a:lumMod val="50000"/>
                  </a:schemeClr>
                </a:solidFill>
              </a:rPr>
              <a:t>Since you have done </a:t>
            </a:r>
            <a:r>
              <a:rPr lang="en-CA" dirty="0" err="1">
                <a:solidFill>
                  <a:schemeClr val="tx1">
                    <a:lumMod val="50000"/>
                  </a:schemeClr>
                </a:solidFill>
              </a:rPr>
              <a:t>quickstart</a:t>
            </a:r>
            <a:r>
              <a:rPr lang="en-CA" dirty="0">
                <a:solidFill>
                  <a:schemeClr val="tx1">
                    <a:lumMod val="50000"/>
                  </a:schemeClr>
                </a:solidFill>
              </a:rPr>
              <a:t> (if you haven’t that’s okay), we can start to play with </a:t>
            </a:r>
            <a:r>
              <a:rPr lang="en-CA" dirty="0" err="1">
                <a:solidFill>
                  <a:schemeClr val="tx1">
                    <a:lumMod val="50000"/>
                  </a:schemeClr>
                </a:solidFill>
              </a:rPr>
              <a:t>LangChain</a:t>
            </a:r>
            <a:r>
              <a:rPr lang="en-CA" dirty="0">
                <a:solidFill>
                  <a:schemeClr val="tx1">
                    <a:lumMod val="50000"/>
                  </a:schemeClr>
                </a:solidFill>
              </a:rPr>
              <a:t> right now!</a:t>
            </a:r>
          </a:p>
          <a:p>
            <a:endParaRPr lang="en-CA" dirty="0">
              <a:solidFill>
                <a:schemeClr val="tx1">
                  <a:lumMod val="50000"/>
                </a:schemeClr>
              </a:solidFill>
            </a:endParaRPr>
          </a:p>
          <a:p>
            <a:r>
              <a:rPr lang="en-CA" dirty="0">
                <a:solidFill>
                  <a:schemeClr val="tx1">
                    <a:lumMod val="50000"/>
                  </a:schemeClr>
                </a:solidFill>
              </a:rPr>
              <a:t>Contents relating to Middleware would be skipped for now because they are a little bit hard for you right now.</a:t>
            </a:r>
          </a:p>
          <a:p>
            <a:endParaRPr lang="en-CA" dirty="0">
              <a:solidFill>
                <a:schemeClr val="tx1">
                  <a:lumMod val="50000"/>
                </a:schemeClr>
              </a:solidFill>
            </a:endParaRPr>
          </a:p>
          <a:p>
            <a:r>
              <a:rPr lang="en-CA" dirty="0">
                <a:solidFill>
                  <a:schemeClr val="tx1">
                    <a:lumMod val="50000"/>
                  </a:schemeClr>
                </a:solidFill>
              </a:rPr>
              <a:t>We would go over some (not all) core components, as listed in </a:t>
            </a:r>
            <a:r>
              <a:rPr lang="en-CA" dirty="0" err="1">
                <a:solidFill>
                  <a:schemeClr val="tx1">
                    <a:lumMod val="50000"/>
                  </a:schemeClr>
                </a:solidFill>
              </a:rPr>
              <a:t>LangChain</a:t>
            </a:r>
            <a:r>
              <a:rPr lang="en-CA" dirty="0">
                <a:solidFill>
                  <a:schemeClr val="tx1">
                    <a:lumMod val="50000"/>
                  </a:schemeClr>
                </a:solidFill>
              </a:rPr>
              <a:t> website. If you are comfortable to learn more on your own, feel free to go ahead and don’t need to follow my pace!</a:t>
            </a:r>
          </a:p>
          <a:p>
            <a:endParaRPr lang="en-CA" dirty="0">
              <a:solidFill>
                <a:schemeClr val="tx1">
                  <a:lumMod val="50000"/>
                </a:schemeClr>
              </a:solidFill>
            </a:endParaRPr>
          </a:p>
          <a:p>
            <a:r>
              <a:rPr lang="en-CA" dirty="0">
                <a:solidFill>
                  <a:schemeClr val="tx1">
                    <a:lumMod val="50000"/>
                  </a:schemeClr>
                </a:solidFill>
              </a:rPr>
              <a:t>Hope you have fun!</a:t>
            </a:r>
          </a:p>
        </p:txBody>
      </p:sp>
      <p:pic>
        <p:nvPicPr>
          <p:cNvPr id="3" name="Picture 2" descr="Michael Zhang (Director, Master of Business Analytics Program)">
            <a:extLst>
              <a:ext uri="{FF2B5EF4-FFF2-40B4-BE49-F238E27FC236}">
                <a16:creationId xmlns:a16="http://schemas.microsoft.com/office/drawing/2014/main" id="{ADBAEAA1-76A1-95EC-4DDF-485A027EB2D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7925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829D9E-4F5F-269A-DCA3-027B6665A7C5}"/>
              </a:ext>
            </a:extLst>
          </p:cNvPr>
          <p:cNvSpPr txBox="1"/>
          <p:nvPr/>
        </p:nvSpPr>
        <p:spPr>
          <a:xfrm>
            <a:off x="0" y="0"/>
            <a:ext cx="9355756" cy="584775"/>
          </a:xfrm>
          <a:prstGeom prst="rect">
            <a:avLst/>
          </a:prstGeom>
          <a:noFill/>
        </p:spPr>
        <p:txBody>
          <a:bodyPr wrap="square" rtlCol="0">
            <a:spAutoFit/>
          </a:bodyPr>
          <a:lstStyle/>
          <a:p>
            <a:r>
              <a:rPr lang="en-CA" sz="3200" b="1" dirty="0">
                <a:solidFill>
                  <a:srgbClr val="612141"/>
                </a:solidFill>
              </a:rPr>
              <a:t>*If you want to play-with-LangChain-as-I-talk:</a:t>
            </a:r>
          </a:p>
        </p:txBody>
      </p:sp>
      <p:pic>
        <p:nvPicPr>
          <p:cNvPr id="5" name="Picture 4">
            <a:extLst>
              <a:ext uri="{FF2B5EF4-FFF2-40B4-BE49-F238E27FC236}">
                <a16:creationId xmlns:a16="http://schemas.microsoft.com/office/drawing/2014/main" id="{8DD14C28-FEB6-C515-2AD9-BB714A13F779}"/>
              </a:ext>
            </a:extLst>
          </p:cNvPr>
          <p:cNvPicPr>
            <a:picLocks noChangeAspect="1"/>
          </p:cNvPicPr>
          <p:nvPr/>
        </p:nvPicPr>
        <p:blipFill>
          <a:blip r:embed="rId2"/>
          <a:stretch>
            <a:fillRect/>
          </a:stretch>
        </p:blipFill>
        <p:spPr>
          <a:xfrm>
            <a:off x="5222788" y="4585158"/>
            <a:ext cx="6969211" cy="2272842"/>
          </a:xfrm>
          <a:prstGeom prst="rect">
            <a:avLst/>
          </a:prstGeom>
        </p:spPr>
      </p:pic>
      <p:sp>
        <p:nvSpPr>
          <p:cNvPr id="6" name="TextBox 5">
            <a:extLst>
              <a:ext uri="{FF2B5EF4-FFF2-40B4-BE49-F238E27FC236}">
                <a16:creationId xmlns:a16="http://schemas.microsoft.com/office/drawing/2014/main" id="{72AEF120-2FCE-E53A-4FC6-C12C5F3BA13F}"/>
              </a:ext>
            </a:extLst>
          </p:cNvPr>
          <p:cNvSpPr txBox="1"/>
          <p:nvPr/>
        </p:nvSpPr>
        <p:spPr>
          <a:xfrm>
            <a:off x="0" y="704335"/>
            <a:ext cx="7551794" cy="4524315"/>
          </a:xfrm>
          <a:prstGeom prst="rect">
            <a:avLst/>
          </a:prstGeom>
          <a:noFill/>
        </p:spPr>
        <p:txBody>
          <a:bodyPr wrap="square" rtlCol="0">
            <a:spAutoFit/>
          </a:bodyPr>
          <a:lstStyle/>
          <a:p>
            <a:r>
              <a:rPr lang="en-CA" dirty="0">
                <a:solidFill>
                  <a:schemeClr val="tx1">
                    <a:lumMod val="50000"/>
                  </a:schemeClr>
                </a:solidFill>
              </a:rPr>
              <a:t>Assuming you all installed </a:t>
            </a:r>
            <a:r>
              <a:rPr lang="en-CA" dirty="0" err="1">
                <a:solidFill>
                  <a:schemeClr val="tx1">
                    <a:lumMod val="50000"/>
                  </a:schemeClr>
                </a:solidFill>
              </a:rPr>
              <a:t>uv</a:t>
            </a:r>
            <a:r>
              <a:rPr lang="en-CA" dirty="0">
                <a:solidFill>
                  <a:schemeClr val="tx1">
                    <a:lumMod val="50000"/>
                  </a:schemeClr>
                </a:solidFill>
              </a:rPr>
              <a:t>, then make a folder in a location you like (not C drive in windows btw). </a:t>
            </a:r>
            <a:r>
              <a:rPr lang="en-CA" dirty="0" err="1">
                <a:solidFill>
                  <a:schemeClr val="tx1">
                    <a:lumMod val="50000"/>
                  </a:schemeClr>
                </a:solidFill>
              </a:rPr>
              <a:t>LangChain</a:t>
            </a:r>
            <a:r>
              <a:rPr lang="en-CA" dirty="0">
                <a:solidFill>
                  <a:schemeClr val="tx1">
                    <a:lumMod val="50000"/>
                  </a:schemeClr>
                </a:solidFill>
              </a:rPr>
              <a:t> suggests to use Python 3.10 or higher at the time I was writing this slide.</a:t>
            </a:r>
          </a:p>
          <a:p>
            <a:endParaRPr lang="en-CA" dirty="0">
              <a:solidFill>
                <a:schemeClr val="tx1">
                  <a:lumMod val="50000"/>
                </a:schemeClr>
              </a:solidFill>
            </a:endParaRPr>
          </a:p>
          <a:p>
            <a:r>
              <a:rPr lang="en-CA" dirty="0">
                <a:solidFill>
                  <a:schemeClr val="tx1">
                    <a:lumMod val="50000"/>
                  </a:schemeClr>
                </a:solidFill>
              </a:rPr>
              <a:t>A specific python version would become “end-of-life” after a period of time so please be advised to upgrade to suitable python version regularly.</a:t>
            </a:r>
          </a:p>
          <a:p>
            <a:endParaRPr lang="en-CA" dirty="0">
              <a:solidFill>
                <a:schemeClr val="tx1">
                  <a:lumMod val="50000"/>
                </a:schemeClr>
              </a:solidFill>
            </a:endParaRPr>
          </a:p>
          <a:p>
            <a:r>
              <a:rPr lang="en-CA" dirty="0">
                <a:solidFill>
                  <a:schemeClr val="tx1">
                    <a:lumMod val="50000"/>
                  </a:schemeClr>
                </a:solidFill>
              </a:rPr>
              <a:t>Then pin a version you like, </a:t>
            </a:r>
            <a:r>
              <a:rPr lang="en-CA" dirty="0" err="1">
                <a:solidFill>
                  <a:schemeClr val="tx1">
                    <a:lumMod val="50000"/>
                  </a:schemeClr>
                </a:solidFill>
              </a:rPr>
              <a:t>init</a:t>
            </a:r>
            <a:r>
              <a:rPr lang="en-CA" dirty="0">
                <a:solidFill>
                  <a:schemeClr val="tx1">
                    <a:lumMod val="50000"/>
                  </a:schemeClr>
                </a:solidFill>
              </a:rPr>
              <a:t> it and see what you have</a:t>
            </a:r>
          </a:p>
          <a:p>
            <a:r>
              <a:rPr lang="en-CA" dirty="0">
                <a:solidFill>
                  <a:schemeClr val="tx1">
                    <a:lumMod val="50000"/>
                  </a:schemeClr>
                </a:solidFill>
              </a:rPr>
              <a:t>(I am using </a:t>
            </a:r>
            <a:r>
              <a:rPr lang="en-CA" dirty="0" err="1">
                <a:solidFill>
                  <a:schemeClr val="tx1">
                    <a:lumMod val="50000"/>
                  </a:schemeClr>
                </a:solidFill>
              </a:rPr>
              <a:t>linux</a:t>
            </a:r>
            <a:r>
              <a:rPr lang="en-CA" dirty="0">
                <a:solidFill>
                  <a:schemeClr val="tx1">
                    <a:lumMod val="50000"/>
                  </a:schemeClr>
                </a:solidFill>
              </a:rPr>
              <a:t> to do the following and so please adapt your command lines to the OS you are using.)</a:t>
            </a:r>
          </a:p>
          <a:p>
            <a:endParaRPr lang="en-CA" dirty="0">
              <a:solidFill>
                <a:schemeClr val="tx1">
                  <a:lumMod val="50000"/>
                </a:schemeClr>
              </a:solidFill>
            </a:endParaRPr>
          </a:p>
          <a:p>
            <a:r>
              <a:rPr lang="en-CA" dirty="0">
                <a:solidFill>
                  <a:schemeClr val="tx1">
                    <a:lumMod val="50000"/>
                  </a:schemeClr>
                </a:solidFill>
              </a:rPr>
              <a:t>And then </a:t>
            </a:r>
            <a:r>
              <a:rPr lang="en-CA" dirty="0" err="1">
                <a:solidFill>
                  <a:schemeClr val="tx1">
                    <a:lumMod val="50000"/>
                  </a:schemeClr>
                </a:solidFill>
              </a:rPr>
              <a:t>uv</a:t>
            </a:r>
            <a:r>
              <a:rPr lang="en-CA" dirty="0">
                <a:solidFill>
                  <a:schemeClr val="tx1">
                    <a:lumMod val="50000"/>
                  </a:schemeClr>
                </a:solidFill>
              </a:rPr>
              <a:t> add </a:t>
            </a:r>
            <a:r>
              <a:rPr lang="en-CA" dirty="0" err="1">
                <a:solidFill>
                  <a:schemeClr val="tx1">
                    <a:lumMod val="50000"/>
                  </a:schemeClr>
                </a:solidFill>
              </a:rPr>
              <a:t>langchain</a:t>
            </a:r>
            <a:r>
              <a:rPr lang="en-CA" dirty="0">
                <a:solidFill>
                  <a:schemeClr val="tx1">
                    <a:lumMod val="50000"/>
                  </a:schemeClr>
                </a:solidFill>
              </a:rPr>
              <a:t> (and whatever you might need).</a:t>
            </a:r>
          </a:p>
          <a:p>
            <a:r>
              <a:rPr lang="en-CA" dirty="0">
                <a:solidFill>
                  <a:schemeClr val="tx1">
                    <a:lumMod val="50000"/>
                  </a:schemeClr>
                </a:solidFill>
              </a:rPr>
              <a:t>If you are happy with it, </a:t>
            </a:r>
            <a:r>
              <a:rPr lang="en-CA" dirty="0" err="1">
                <a:solidFill>
                  <a:schemeClr val="tx1">
                    <a:lumMod val="50000"/>
                  </a:schemeClr>
                </a:solidFill>
              </a:rPr>
              <a:t>uv</a:t>
            </a:r>
            <a:r>
              <a:rPr lang="en-CA" dirty="0">
                <a:solidFill>
                  <a:schemeClr val="tx1">
                    <a:lumMod val="50000"/>
                  </a:schemeClr>
                </a:solidFill>
              </a:rPr>
              <a:t> run main.py (or whatever you like)</a:t>
            </a:r>
          </a:p>
          <a:p>
            <a:endParaRPr lang="en-CA" dirty="0">
              <a:solidFill>
                <a:schemeClr val="tx1">
                  <a:lumMod val="50000"/>
                </a:schemeClr>
              </a:solidFill>
            </a:endParaRPr>
          </a:p>
          <a:p>
            <a:r>
              <a:rPr lang="en-CA" dirty="0">
                <a:solidFill>
                  <a:schemeClr val="tx1">
                    <a:lumMod val="50000"/>
                  </a:schemeClr>
                </a:solidFill>
              </a:rPr>
              <a:t>Read </a:t>
            </a:r>
            <a:r>
              <a:rPr lang="en-CA" dirty="0" err="1">
                <a:solidFill>
                  <a:schemeClr val="tx1">
                    <a:lumMod val="50000"/>
                  </a:schemeClr>
                </a:solidFill>
              </a:rPr>
              <a:t>uv</a:t>
            </a:r>
            <a:r>
              <a:rPr lang="en-CA" dirty="0">
                <a:solidFill>
                  <a:schemeClr val="tx1">
                    <a:lumMod val="50000"/>
                  </a:schemeClr>
                </a:solidFill>
              </a:rPr>
              <a:t> docs to learn more.</a:t>
            </a:r>
          </a:p>
        </p:txBody>
      </p:sp>
      <p:pic>
        <p:nvPicPr>
          <p:cNvPr id="8" name="Picture 7">
            <a:extLst>
              <a:ext uri="{FF2B5EF4-FFF2-40B4-BE49-F238E27FC236}">
                <a16:creationId xmlns:a16="http://schemas.microsoft.com/office/drawing/2014/main" id="{4994CB3E-7706-521D-397C-BF61897DFFAA}"/>
              </a:ext>
            </a:extLst>
          </p:cNvPr>
          <p:cNvPicPr>
            <a:picLocks noChangeAspect="1"/>
          </p:cNvPicPr>
          <p:nvPr/>
        </p:nvPicPr>
        <p:blipFill>
          <a:blip r:embed="rId3"/>
          <a:stretch>
            <a:fillRect/>
          </a:stretch>
        </p:blipFill>
        <p:spPr>
          <a:xfrm>
            <a:off x="7521364" y="584775"/>
            <a:ext cx="4670635" cy="2844225"/>
          </a:xfrm>
          <a:prstGeom prst="rect">
            <a:avLst/>
          </a:prstGeom>
        </p:spPr>
      </p:pic>
      <p:pic>
        <p:nvPicPr>
          <p:cNvPr id="3" name="Picture 2" descr="Michael Zhang (Director, Master of Business Analytics Program)">
            <a:extLst>
              <a:ext uri="{FF2B5EF4-FFF2-40B4-BE49-F238E27FC236}">
                <a16:creationId xmlns:a16="http://schemas.microsoft.com/office/drawing/2014/main" id="{AAF44408-6069-7E3B-A627-1AD8540854DF}"/>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9541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95E41-9253-C382-4FFA-4433170CCACA}"/>
              </a:ext>
            </a:extLst>
          </p:cNvPr>
          <p:cNvSpPr txBox="1"/>
          <p:nvPr/>
        </p:nvSpPr>
        <p:spPr>
          <a:xfrm>
            <a:off x="0" y="0"/>
            <a:ext cx="12192000" cy="1077218"/>
          </a:xfrm>
          <a:prstGeom prst="rect">
            <a:avLst/>
          </a:prstGeom>
          <a:noFill/>
        </p:spPr>
        <p:txBody>
          <a:bodyPr wrap="square" rtlCol="0">
            <a:spAutoFit/>
          </a:bodyPr>
          <a:lstStyle/>
          <a:p>
            <a:r>
              <a:rPr lang="en-CA" sz="3200" b="1" dirty="0">
                <a:solidFill>
                  <a:srgbClr val="612141"/>
                </a:solidFill>
              </a:rPr>
              <a:t>1.1 Core Components of </a:t>
            </a:r>
            <a:r>
              <a:rPr lang="en-CA" sz="3200" b="1" dirty="0" err="1">
                <a:solidFill>
                  <a:srgbClr val="612141"/>
                </a:solidFill>
              </a:rPr>
              <a:t>LangChain</a:t>
            </a:r>
            <a:r>
              <a:rPr lang="en-CA" sz="3200" b="1" dirty="0">
                <a:solidFill>
                  <a:srgbClr val="612141"/>
                </a:solidFill>
              </a:rPr>
              <a:t> (without Middleware): Models</a:t>
            </a:r>
          </a:p>
        </p:txBody>
      </p:sp>
      <p:sp>
        <p:nvSpPr>
          <p:cNvPr id="3" name="TextBox 2">
            <a:extLst>
              <a:ext uri="{FF2B5EF4-FFF2-40B4-BE49-F238E27FC236}">
                <a16:creationId xmlns:a16="http://schemas.microsoft.com/office/drawing/2014/main" id="{7F1CA6A2-B601-2E4D-0F00-7DEF2D4D5371}"/>
              </a:ext>
            </a:extLst>
          </p:cNvPr>
          <p:cNvSpPr txBox="1"/>
          <p:nvPr/>
        </p:nvSpPr>
        <p:spPr>
          <a:xfrm>
            <a:off x="1" y="1235676"/>
            <a:ext cx="10367318" cy="3970318"/>
          </a:xfrm>
          <a:prstGeom prst="rect">
            <a:avLst/>
          </a:prstGeom>
          <a:noFill/>
        </p:spPr>
        <p:txBody>
          <a:bodyPr wrap="square" rtlCol="0">
            <a:spAutoFit/>
          </a:bodyPr>
          <a:lstStyle/>
          <a:p>
            <a:r>
              <a:rPr lang="en-CA" dirty="0"/>
              <a:t>I think I would switch between slides and </a:t>
            </a:r>
            <a:r>
              <a:rPr lang="en-CA" dirty="0" err="1"/>
              <a:t>LangChain</a:t>
            </a:r>
            <a:r>
              <a:rPr lang="en-CA" dirty="0"/>
              <a:t> website of docs frequently since they already wrote docs for us.</a:t>
            </a:r>
          </a:p>
          <a:p>
            <a:endParaRPr lang="en-CA" dirty="0"/>
          </a:p>
          <a:p>
            <a:r>
              <a:rPr lang="en-CA" dirty="0"/>
              <a:t>But I would select some topics that you need to know for today.</a:t>
            </a:r>
          </a:p>
          <a:p>
            <a:endParaRPr lang="en-CA" dirty="0"/>
          </a:p>
          <a:p>
            <a:r>
              <a:rPr lang="en-CA" dirty="0"/>
              <a:t>We would talk about Models first.</a:t>
            </a:r>
          </a:p>
          <a:p>
            <a:endParaRPr lang="en-CA" dirty="0"/>
          </a:p>
          <a:p>
            <a:pPr marL="342900" indent="-342900">
              <a:buAutoNum type="arabicPeriod"/>
            </a:pPr>
            <a:r>
              <a:rPr lang="en-CA" dirty="0"/>
              <a:t>Model Initialization</a:t>
            </a:r>
          </a:p>
          <a:p>
            <a:pPr marL="342900" indent="-342900">
              <a:buAutoNum type="arabicPeriod"/>
            </a:pPr>
            <a:r>
              <a:rPr lang="en-CA" dirty="0"/>
              <a:t>Invocation</a:t>
            </a:r>
          </a:p>
          <a:p>
            <a:pPr marL="342900" indent="-342900">
              <a:buAutoNum type="arabicPeriod"/>
            </a:pPr>
            <a:r>
              <a:rPr lang="en-CA" dirty="0"/>
              <a:t>Tools calling</a:t>
            </a:r>
          </a:p>
          <a:p>
            <a:pPr marL="342900" indent="-342900">
              <a:buAutoNum type="arabicPeriod"/>
            </a:pPr>
            <a:r>
              <a:rPr lang="en-CA" dirty="0"/>
              <a:t>Structured output</a:t>
            </a:r>
          </a:p>
          <a:p>
            <a:pPr marL="342900" indent="-342900">
              <a:buAutoNum type="arabicPeriod"/>
            </a:pPr>
            <a:r>
              <a:rPr lang="en-CA" dirty="0"/>
              <a:t>Runtime-Configurable models</a:t>
            </a:r>
          </a:p>
          <a:p>
            <a:endParaRPr lang="en-CA" dirty="0"/>
          </a:p>
          <a:p>
            <a:r>
              <a:rPr lang="en-CA" dirty="0"/>
              <a:t>As you can see that model itself, without being wrapped as </a:t>
            </a:r>
            <a:r>
              <a:rPr lang="en-CA" dirty="0" err="1"/>
              <a:t>ReAct</a:t>
            </a:r>
            <a:r>
              <a:rPr lang="en-CA" dirty="0"/>
              <a:t> agent, could do a lot of things.</a:t>
            </a:r>
          </a:p>
        </p:txBody>
      </p:sp>
      <p:pic>
        <p:nvPicPr>
          <p:cNvPr id="4" name="Picture 3" descr="Michael Zhang (Director, Master of Business Analytics Program)">
            <a:extLst>
              <a:ext uri="{FF2B5EF4-FFF2-40B4-BE49-F238E27FC236}">
                <a16:creationId xmlns:a16="http://schemas.microsoft.com/office/drawing/2014/main" id="{C44547D9-9FA3-AE11-2006-4F78FB6E7D2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4867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C3AA2B-9E35-46BD-0B3C-F5157934840F}"/>
              </a:ext>
            </a:extLst>
          </p:cNvPr>
          <p:cNvSpPr txBox="1"/>
          <p:nvPr/>
        </p:nvSpPr>
        <p:spPr>
          <a:xfrm>
            <a:off x="0" y="0"/>
            <a:ext cx="12192000" cy="1077218"/>
          </a:xfrm>
          <a:prstGeom prst="rect">
            <a:avLst/>
          </a:prstGeom>
          <a:noFill/>
        </p:spPr>
        <p:txBody>
          <a:bodyPr wrap="square" rtlCol="0">
            <a:spAutoFit/>
          </a:bodyPr>
          <a:lstStyle/>
          <a:p>
            <a:r>
              <a:rPr lang="en-CA" sz="3200" b="1" dirty="0">
                <a:solidFill>
                  <a:srgbClr val="612141"/>
                </a:solidFill>
              </a:rPr>
              <a:t>1.1.1 Core Components of </a:t>
            </a:r>
            <a:r>
              <a:rPr lang="en-CA" sz="3200" b="1" dirty="0" err="1">
                <a:solidFill>
                  <a:srgbClr val="612141"/>
                </a:solidFill>
              </a:rPr>
              <a:t>LangChain</a:t>
            </a:r>
            <a:r>
              <a:rPr lang="en-CA" sz="3200" b="1" dirty="0">
                <a:solidFill>
                  <a:srgbClr val="612141"/>
                </a:solidFill>
              </a:rPr>
              <a:t> (without Middleware): Models: Init, Invocation and Runtime-Configurable Models</a:t>
            </a:r>
          </a:p>
        </p:txBody>
      </p:sp>
      <p:sp>
        <p:nvSpPr>
          <p:cNvPr id="3" name="TextBox 2">
            <a:extLst>
              <a:ext uri="{FF2B5EF4-FFF2-40B4-BE49-F238E27FC236}">
                <a16:creationId xmlns:a16="http://schemas.microsoft.com/office/drawing/2014/main" id="{E7C0B2F4-1A20-AB05-375C-348D54349A7F}"/>
              </a:ext>
            </a:extLst>
          </p:cNvPr>
          <p:cNvSpPr txBox="1"/>
          <p:nvPr/>
        </p:nvSpPr>
        <p:spPr>
          <a:xfrm>
            <a:off x="0" y="1077218"/>
            <a:ext cx="1408670" cy="369332"/>
          </a:xfrm>
          <a:prstGeom prst="rect">
            <a:avLst/>
          </a:prstGeom>
          <a:noFill/>
        </p:spPr>
        <p:txBody>
          <a:bodyPr wrap="square" rtlCol="0">
            <a:spAutoFit/>
          </a:bodyPr>
          <a:lstStyle/>
          <a:p>
            <a:r>
              <a:rPr lang="en-CA" dirty="0"/>
              <a:t>Recall:</a:t>
            </a:r>
          </a:p>
        </p:txBody>
      </p:sp>
      <p:pic>
        <p:nvPicPr>
          <p:cNvPr id="5" name="Picture 4">
            <a:extLst>
              <a:ext uri="{FF2B5EF4-FFF2-40B4-BE49-F238E27FC236}">
                <a16:creationId xmlns:a16="http://schemas.microsoft.com/office/drawing/2014/main" id="{B30FE969-A8CF-3F94-96CE-171BF19FF8B7}"/>
              </a:ext>
            </a:extLst>
          </p:cNvPr>
          <p:cNvPicPr>
            <a:picLocks noChangeAspect="1"/>
          </p:cNvPicPr>
          <p:nvPr/>
        </p:nvPicPr>
        <p:blipFill>
          <a:blip r:embed="rId2"/>
          <a:stretch>
            <a:fillRect/>
          </a:stretch>
        </p:blipFill>
        <p:spPr>
          <a:xfrm>
            <a:off x="-1" y="1446550"/>
            <a:ext cx="5332565" cy="5411450"/>
          </a:xfrm>
          <a:prstGeom prst="rect">
            <a:avLst/>
          </a:prstGeom>
        </p:spPr>
      </p:pic>
      <p:sp>
        <p:nvSpPr>
          <p:cNvPr id="6" name="TextBox 5">
            <a:extLst>
              <a:ext uri="{FF2B5EF4-FFF2-40B4-BE49-F238E27FC236}">
                <a16:creationId xmlns:a16="http://schemas.microsoft.com/office/drawing/2014/main" id="{4F1E8C69-5A37-41E6-1481-E577D486AC49}"/>
              </a:ext>
            </a:extLst>
          </p:cNvPr>
          <p:cNvSpPr txBox="1"/>
          <p:nvPr/>
        </p:nvSpPr>
        <p:spPr>
          <a:xfrm>
            <a:off x="5955955" y="1446550"/>
            <a:ext cx="5647040" cy="4247317"/>
          </a:xfrm>
          <a:prstGeom prst="rect">
            <a:avLst/>
          </a:prstGeom>
          <a:noFill/>
        </p:spPr>
        <p:txBody>
          <a:bodyPr wrap="square" rtlCol="0">
            <a:spAutoFit/>
          </a:bodyPr>
          <a:lstStyle/>
          <a:p>
            <a:r>
              <a:rPr lang="en-CA" dirty="0"/>
              <a:t>After you initialize a LLM successfully, you can send something as input to this LLM, which is called “invocation”.</a:t>
            </a:r>
          </a:p>
          <a:p>
            <a:endParaRPr lang="en-CA" dirty="0"/>
          </a:p>
          <a:p>
            <a:r>
              <a:rPr lang="en-CA" dirty="0"/>
              <a:t>You can invoke the LLM with multiple independent requests in parallel as well, which is called “batch”.</a:t>
            </a:r>
          </a:p>
          <a:p>
            <a:endParaRPr lang="en-CA" dirty="0"/>
          </a:p>
          <a:p>
            <a:r>
              <a:rPr lang="en-CA" dirty="0"/>
              <a:t>You could make invocation/batch interactive to improve user experience, which is called “stream”.</a:t>
            </a:r>
          </a:p>
          <a:p>
            <a:endParaRPr lang="en-CA" dirty="0"/>
          </a:p>
          <a:p>
            <a:r>
              <a:rPr lang="en-CA" dirty="0"/>
              <a:t>If you want to decide what kind of model to invoke, what temperature to use and so on at invocation, rather than initialization, you can use parameter </a:t>
            </a:r>
            <a:r>
              <a:rPr lang="en-CA" dirty="0" err="1"/>
              <a:t>configurable_fields</a:t>
            </a:r>
            <a:r>
              <a:rPr lang="en-CA" dirty="0"/>
              <a:t> and specify what could be determined dynamically.</a:t>
            </a:r>
          </a:p>
        </p:txBody>
      </p:sp>
      <p:pic>
        <p:nvPicPr>
          <p:cNvPr id="4" name="Picture 3" descr="Michael Zhang (Director, Master of Business Analytics Program)">
            <a:extLst>
              <a:ext uri="{FF2B5EF4-FFF2-40B4-BE49-F238E27FC236}">
                <a16:creationId xmlns:a16="http://schemas.microsoft.com/office/drawing/2014/main" id="{09D0E92C-68A1-6FBE-15D5-9040F04DF1C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22324"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7742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7DC923-CD0D-9EF9-DD3C-FDCE7F432405}"/>
              </a:ext>
            </a:extLst>
          </p:cNvPr>
          <p:cNvSpPr txBox="1"/>
          <p:nvPr/>
        </p:nvSpPr>
        <p:spPr>
          <a:xfrm>
            <a:off x="0" y="0"/>
            <a:ext cx="12192000" cy="1077218"/>
          </a:xfrm>
          <a:prstGeom prst="rect">
            <a:avLst/>
          </a:prstGeom>
          <a:noFill/>
        </p:spPr>
        <p:txBody>
          <a:bodyPr wrap="square" rtlCol="0">
            <a:spAutoFit/>
          </a:bodyPr>
          <a:lstStyle/>
          <a:p>
            <a:r>
              <a:rPr lang="en-CA" sz="3200" b="1" dirty="0">
                <a:solidFill>
                  <a:srgbClr val="612141"/>
                </a:solidFill>
              </a:rPr>
              <a:t>1.1.1 Core Components of </a:t>
            </a:r>
            <a:r>
              <a:rPr lang="en-CA" sz="3200" b="1" dirty="0" err="1">
                <a:solidFill>
                  <a:srgbClr val="612141"/>
                </a:solidFill>
              </a:rPr>
              <a:t>LangChain</a:t>
            </a:r>
            <a:r>
              <a:rPr lang="en-CA" sz="3200" b="1" dirty="0">
                <a:solidFill>
                  <a:srgbClr val="612141"/>
                </a:solidFill>
              </a:rPr>
              <a:t> (without Middleware): Models: Init, Invocation and Runtime-Configurable Models</a:t>
            </a:r>
          </a:p>
        </p:txBody>
      </p:sp>
      <p:sp>
        <p:nvSpPr>
          <p:cNvPr id="3" name="TextBox 2">
            <a:extLst>
              <a:ext uri="{FF2B5EF4-FFF2-40B4-BE49-F238E27FC236}">
                <a16:creationId xmlns:a16="http://schemas.microsoft.com/office/drawing/2014/main" id="{BF59FF91-5D42-5C2D-A3AE-4D508ADF6EBE}"/>
              </a:ext>
            </a:extLst>
          </p:cNvPr>
          <p:cNvSpPr txBox="1"/>
          <p:nvPr/>
        </p:nvSpPr>
        <p:spPr>
          <a:xfrm>
            <a:off x="-2" y="1077218"/>
            <a:ext cx="12192001" cy="2308324"/>
          </a:xfrm>
          <a:prstGeom prst="rect">
            <a:avLst/>
          </a:prstGeom>
          <a:noFill/>
        </p:spPr>
        <p:txBody>
          <a:bodyPr wrap="square" rtlCol="0">
            <a:spAutoFit/>
          </a:bodyPr>
          <a:lstStyle/>
          <a:p>
            <a:r>
              <a:rPr lang="en-CA" dirty="0"/>
              <a:t>There are 4 types of Messages in </a:t>
            </a:r>
            <a:r>
              <a:rPr lang="en-CA" dirty="0" err="1"/>
              <a:t>LangChain</a:t>
            </a:r>
            <a:r>
              <a:rPr lang="en-CA" dirty="0"/>
              <a:t> but most of the time you would use 3 of them. </a:t>
            </a:r>
            <a:r>
              <a:rPr lang="en-CA" dirty="0" err="1"/>
              <a:t>SystemMessage</a:t>
            </a:r>
            <a:r>
              <a:rPr lang="en-CA" dirty="0"/>
              <a:t> is system prompt and </a:t>
            </a:r>
            <a:r>
              <a:rPr lang="en-CA" dirty="0" err="1"/>
              <a:t>HumanMessage</a:t>
            </a:r>
            <a:r>
              <a:rPr lang="en-CA" dirty="0"/>
              <a:t> is user prompt, which is what you typed in to LLM when playing with ChatGPT. </a:t>
            </a:r>
            <a:r>
              <a:rPr lang="en-CA" dirty="0" err="1"/>
              <a:t>AIMessage</a:t>
            </a:r>
            <a:r>
              <a:rPr lang="en-CA" dirty="0"/>
              <a:t> means LLM’s output.</a:t>
            </a:r>
          </a:p>
          <a:p>
            <a:endParaRPr lang="en-CA" dirty="0"/>
          </a:p>
          <a:p>
            <a:r>
              <a:rPr lang="en-CA" dirty="0"/>
              <a:t>You could do it in several ways, </a:t>
            </a:r>
            <a:r>
              <a:rPr lang="en-CA" dirty="0" err="1"/>
              <a:t>dict</a:t>
            </a:r>
            <a:r>
              <a:rPr lang="en-CA" dirty="0"/>
              <a:t> or using their pre-defined classes. They serve the same purpose.</a:t>
            </a:r>
          </a:p>
          <a:p>
            <a:r>
              <a:rPr lang="en-CA" dirty="0"/>
              <a:t>If you don’t specify anything and just throw a sentence to invoke function, it would be considered as user prompt.</a:t>
            </a:r>
          </a:p>
          <a:p>
            <a:r>
              <a:rPr lang="en-CA" dirty="0"/>
              <a:t>You might use </a:t>
            </a:r>
            <a:r>
              <a:rPr lang="en-CA" dirty="0" err="1"/>
              <a:t>AIMessage</a:t>
            </a:r>
            <a:r>
              <a:rPr lang="en-CA" dirty="0"/>
              <a:t> in invoke function sometimes for one-shot prompting or few-shot prompting (What’s attached below is GPT-3 paper that tells you few-shot prompting impact. FYI).</a:t>
            </a:r>
          </a:p>
        </p:txBody>
      </p:sp>
      <p:pic>
        <p:nvPicPr>
          <p:cNvPr id="5" name="Picture 4">
            <a:extLst>
              <a:ext uri="{FF2B5EF4-FFF2-40B4-BE49-F238E27FC236}">
                <a16:creationId xmlns:a16="http://schemas.microsoft.com/office/drawing/2014/main" id="{AF56A3DD-B568-AFFB-F946-C6BBD36F9B21}"/>
              </a:ext>
            </a:extLst>
          </p:cNvPr>
          <p:cNvPicPr>
            <a:picLocks noChangeAspect="1"/>
          </p:cNvPicPr>
          <p:nvPr/>
        </p:nvPicPr>
        <p:blipFill>
          <a:blip r:embed="rId2"/>
          <a:stretch>
            <a:fillRect/>
          </a:stretch>
        </p:blipFill>
        <p:spPr>
          <a:xfrm>
            <a:off x="0" y="3385542"/>
            <a:ext cx="12192000" cy="2348367"/>
          </a:xfrm>
          <a:prstGeom prst="rect">
            <a:avLst/>
          </a:prstGeom>
        </p:spPr>
      </p:pic>
      <p:pic>
        <p:nvPicPr>
          <p:cNvPr id="4" name="Picture 3" descr="Michael Zhang (Director, Master of Business Analytics Program)">
            <a:extLst>
              <a:ext uri="{FF2B5EF4-FFF2-40B4-BE49-F238E27FC236}">
                <a16:creationId xmlns:a16="http://schemas.microsoft.com/office/drawing/2014/main" id="{D1753F34-13C9-7AA6-FB27-712F4F47F23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790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B7518F-631B-3128-70C6-BA70689CB42B}"/>
              </a:ext>
            </a:extLst>
          </p:cNvPr>
          <p:cNvSpPr txBox="1"/>
          <p:nvPr/>
        </p:nvSpPr>
        <p:spPr>
          <a:xfrm>
            <a:off x="0" y="0"/>
            <a:ext cx="12192000" cy="1077218"/>
          </a:xfrm>
          <a:prstGeom prst="rect">
            <a:avLst/>
          </a:prstGeom>
          <a:noFill/>
        </p:spPr>
        <p:txBody>
          <a:bodyPr wrap="square" rtlCol="0">
            <a:spAutoFit/>
          </a:bodyPr>
          <a:lstStyle/>
          <a:p>
            <a:r>
              <a:rPr lang="en-CA" sz="3200" b="1" dirty="0">
                <a:solidFill>
                  <a:srgbClr val="612141"/>
                </a:solidFill>
              </a:rPr>
              <a:t>1.1.2 Core Components of </a:t>
            </a:r>
            <a:r>
              <a:rPr lang="en-CA" sz="3200" b="1" dirty="0" err="1">
                <a:solidFill>
                  <a:srgbClr val="612141"/>
                </a:solidFill>
              </a:rPr>
              <a:t>LangChain</a:t>
            </a:r>
            <a:r>
              <a:rPr lang="en-CA" sz="3200" b="1" dirty="0">
                <a:solidFill>
                  <a:srgbClr val="612141"/>
                </a:solidFill>
              </a:rPr>
              <a:t> (without Middleware): Models: Tools Calling</a:t>
            </a:r>
          </a:p>
        </p:txBody>
      </p:sp>
      <p:sp>
        <p:nvSpPr>
          <p:cNvPr id="3" name="TextBox 2">
            <a:extLst>
              <a:ext uri="{FF2B5EF4-FFF2-40B4-BE49-F238E27FC236}">
                <a16:creationId xmlns:a16="http://schemas.microsoft.com/office/drawing/2014/main" id="{FCECADF3-7DE8-C8DE-AEA9-33FF3478EFED}"/>
              </a:ext>
            </a:extLst>
          </p:cNvPr>
          <p:cNvSpPr txBox="1"/>
          <p:nvPr/>
        </p:nvSpPr>
        <p:spPr>
          <a:xfrm>
            <a:off x="1" y="1077217"/>
            <a:ext cx="5140410" cy="1477328"/>
          </a:xfrm>
          <a:prstGeom prst="rect">
            <a:avLst/>
          </a:prstGeom>
          <a:noFill/>
        </p:spPr>
        <p:txBody>
          <a:bodyPr wrap="square" rtlCol="0">
            <a:spAutoFit/>
          </a:bodyPr>
          <a:lstStyle/>
          <a:p>
            <a:r>
              <a:rPr lang="en-CA" dirty="0"/>
              <a:t>A quick questions for you:</a:t>
            </a:r>
          </a:p>
          <a:p>
            <a:endParaRPr lang="en-CA" dirty="0"/>
          </a:p>
          <a:p>
            <a:r>
              <a:rPr lang="en-CA" dirty="0"/>
              <a:t>How is the capability of tools calling obtained?</a:t>
            </a:r>
          </a:p>
          <a:p>
            <a:r>
              <a:rPr lang="en-CA" dirty="0"/>
              <a:t>If you remember, you won’t be confused by the following.</a:t>
            </a:r>
          </a:p>
        </p:txBody>
      </p:sp>
      <p:pic>
        <p:nvPicPr>
          <p:cNvPr id="5" name="Picture 4">
            <a:extLst>
              <a:ext uri="{FF2B5EF4-FFF2-40B4-BE49-F238E27FC236}">
                <a16:creationId xmlns:a16="http://schemas.microsoft.com/office/drawing/2014/main" id="{6BD6EF65-630F-D9FF-A55A-5DCBB0A27383}"/>
              </a:ext>
            </a:extLst>
          </p:cNvPr>
          <p:cNvPicPr>
            <a:picLocks noChangeAspect="1"/>
          </p:cNvPicPr>
          <p:nvPr/>
        </p:nvPicPr>
        <p:blipFill>
          <a:blip r:embed="rId2"/>
          <a:stretch>
            <a:fillRect/>
          </a:stretch>
        </p:blipFill>
        <p:spPr>
          <a:xfrm>
            <a:off x="0" y="3136607"/>
            <a:ext cx="4576209" cy="3721393"/>
          </a:xfrm>
          <a:prstGeom prst="rect">
            <a:avLst/>
          </a:prstGeom>
        </p:spPr>
      </p:pic>
      <p:sp>
        <p:nvSpPr>
          <p:cNvPr id="6" name="TextBox 5">
            <a:extLst>
              <a:ext uri="{FF2B5EF4-FFF2-40B4-BE49-F238E27FC236}">
                <a16:creationId xmlns:a16="http://schemas.microsoft.com/office/drawing/2014/main" id="{A5EEE0DF-0F33-4816-C959-FA087EC689F8}"/>
              </a:ext>
            </a:extLst>
          </p:cNvPr>
          <p:cNvSpPr txBox="1"/>
          <p:nvPr/>
        </p:nvSpPr>
        <p:spPr>
          <a:xfrm>
            <a:off x="5140411" y="1077216"/>
            <a:ext cx="6643815" cy="1754326"/>
          </a:xfrm>
          <a:prstGeom prst="rect">
            <a:avLst/>
          </a:prstGeom>
          <a:noFill/>
        </p:spPr>
        <p:txBody>
          <a:bodyPr wrap="square" rtlCol="0">
            <a:spAutoFit/>
          </a:bodyPr>
          <a:lstStyle/>
          <a:p>
            <a:r>
              <a:rPr lang="en-CA" dirty="0"/>
              <a:t>Define your own tools and have fun (easy tools I mean) !!!</a:t>
            </a:r>
          </a:p>
          <a:p>
            <a:endParaRPr lang="en-CA" dirty="0"/>
          </a:p>
          <a:p>
            <a:r>
              <a:rPr lang="en-CA" dirty="0"/>
              <a:t>Some vendors built their own tools (server-side tool. You are at client-side.) and you can use them if you like!</a:t>
            </a:r>
          </a:p>
          <a:p>
            <a:endParaRPr lang="en-CA" dirty="0"/>
          </a:p>
          <a:p>
            <a:r>
              <a:rPr lang="en-CA" dirty="0"/>
              <a:t>(Tool is just a function plus a decorator lol)</a:t>
            </a:r>
          </a:p>
        </p:txBody>
      </p:sp>
      <p:pic>
        <p:nvPicPr>
          <p:cNvPr id="8" name="Picture 7">
            <a:extLst>
              <a:ext uri="{FF2B5EF4-FFF2-40B4-BE49-F238E27FC236}">
                <a16:creationId xmlns:a16="http://schemas.microsoft.com/office/drawing/2014/main" id="{60CCAB4D-7F02-73B1-F95B-B583ABC1512D}"/>
              </a:ext>
            </a:extLst>
          </p:cNvPr>
          <p:cNvPicPr>
            <a:picLocks noChangeAspect="1"/>
          </p:cNvPicPr>
          <p:nvPr/>
        </p:nvPicPr>
        <p:blipFill>
          <a:blip r:embed="rId3"/>
          <a:stretch>
            <a:fillRect/>
          </a:stretch>
        </p:blipFill>
        <p:spPr>
          <a:xfrm>
            <a:off x="5140411" y="2831542"/>
            <a:ext cx="6382641" cy="2791215"/>
          </a:xfrm>
          <a:prstGeom prst="rect">
            <a:avLst/>
          </a:prstGeom>
        </p:spPr>
      </p:pic>
      <p:pic>
        <p:nvPicPr>
          <p:cNvPr id="4" name="Picture 3" descr="Michael Zhang (Director, Master of Business Analytics Program)">
            <a:extLst>
              <a:ext uri="{FF2B5EF4-FFF2-40B4-BE49-F238E27FC236}">
                <a16:creationId xmlns:a16="http://schemas.microsoft.com/office/drawing/2014/main" id="{BE31982F-773A-E638-F8C0-0321ED224CB8}"/>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902151" y="589975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2650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9230E7-9215-C5F3-B663-73713F7C7ED5}"/>
              </a:ext>
            </a:extLst>
          </p:cNvPr>
          <p:cNvSpPr txBox="1"/>
          <p:nvPr/>
        </p:nvSpPr>
        <p:spPr>
          <a:xfrm>
            <a:off x="0" y="0"/>
            <a:ext cx="12192000" cy="1077218"/>
          </a:xfrm>
          <a:prstGeom prst="rect">
            <a:avLst/>
          </a:prstGeom>
          <a:noFill/>
        </p:spPr>
        <p:txBody>
          <a:bodyPr wrap="square" rtlCol="0">
            <a:spAutoFit/>
          </a:bodyPr>
          <a:lstStyle/>
          <a:p>
            <a:r>
              <a:rPr lang="en-CA" sz="3200" b="1" dirty="0">
                <a:solidFill>
                  <a:srgbClr val="612141"/>
                </a:solidFill>
              </a:rPr>
              <a:t>1.1.3 Core Components of </a:t>
            </a:r>
            <a:r>
              <a:rPr lang="en-CA" sz="3200" b="1" dirty="0" err="1">
                <a:solidFill>
                  <a:srgbClr val="612141"/>
                </a:solidFill>
              </a:rPr>
              <a:t>LangChain</a:t>
            </a:r>
            <a:r>
              <a:rPr lang="en-CA" sz="3200" b="1" dirty="0">
                <a:solidFill>
                  <a:srgbClr val="612141"/>
                </a:solidFill>
              </a:rPr>
              <a:t> (without Middleware): Models: Structured Output</a:t>
            </a:r>
          </a:p>
        </p:txBody>
      </p:sp>
      <p:pic>
        <p:nvPicPr>
          <p:cNvPr id="4" name="Picture 3">
            <a:extLst>
              <a:ext uri="{FF2B5EF4-FFF2-40B4-BE49-F238E27FC236}">
                <a16:creationId xmlns:a16="http://schemas.microsoft.com/office/drawing/2014/main" id="{7ABA787E-7BB6-7A97-21AC-EFD48D749D3D}"/>
              </a:ext>
            </a:extLst>
          </p:cNvPr>
          <p:cNvPicPr>
            <a:picLocks noChangeAspect="1"/>
          </p:cNvPicPr>
          <p:nvPr/>
        </p:nvPicPr>
        <p:blipFill>
          <a:blip r:embed="rId2"/>
          <a:stretch>
            <a:fillRect/>
          </a:stretch>
        </p:blipFill>
        <p:spPr>
          <a:xfrm>
            <a:off x="0" y="1077219"/>
            <a:ext cx="12192000" cy="4730458"/>
          </a:xfrm>
          <a:prstGeom prst="rect">
            <a:avLst/>
          </a:prstGeom>
        </p:spPr>
      </p:pic>
      <p:sp>
        <p:nvSpPr>
          <p:cNvPr id="5" name="TextBox 4">
            <a:extLst>
              <a:ext uri="{FF2B5EF4-FFF2-40B4-BE49-F238E27FC236}">
                <a16:creationId xmlns:a16="http://schemas.microsoft.com/office/drawing/2014/main" id="{EFE56427-2BCA-CC0E-191F-5E8DFE8BF86D}"/>
              </a:ext>
            </a:extLst>
          </p:cNvPr>
          <p:cNvSpPr txBox="1"/>
          <p:nvPr/>
        </p:nvSpPr>
        <p:spPr>
          <a:xfrm>
            <a:off x="5064211" y="5902325"/>
            <a:ext cx="2063578" cy="400110"/>
          </a:xfrm>
          <a:prstGeom prst="rect">
            <a:avLst/>
          </a:prstGeom>
          <a:noFill/>
        </p:spPr>
        <p:txBody>
          <a:bodyPr wrap="square" rtlCol="0">
            <a:spAutoFit/>
          </a:bodyPr>
          <a:lstStyle/>
          <a:p>
            <a:r>
              <a:rPr lang="en-CA" sz="1000" dirty="0">
                <a:solidFill>
                  <a:schemeClr val="tx1">
                    <a:lumMod val="50000"/>
                  </a:schemeClr>
                </a:solidFill>
              </a:rPr>
              <a:t>Figure 1: From website of dottxt.ai, creator of outlines.</a:t>
            </a:r>
          </a:p>
        </p:txBody>
      </p:sp>
      <p:pic>
        <p:nvPicPr>
          <p:cNvPr id="3" name="Picture 2" descr="Michael Zhang (Director, Master of Business Analytics Program)">
            <a:extLst>
              <a:ext uri="{FF2B5EF4-FFF2-40B4-BE49-F238E27FC236}">
                <a16:creationId xmlns:a16="http://schemas.microsoft.com/office/drawing/2014/main" id="{7EC18984-5643-3122-EF23-10B1F4D00CE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808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F30CC-DE50-207A-E667-37DBE76BB843}"/>
              </a:ext>
            </a:extLst>
          </p:cNvPr>
          <p:cNvSpPr txBox="1"/>
          <p:nvPr/>
        </p:nvSpPr>
        <p:spPr>
          <a:xfrm>
            <a:off x="0" y="0"/>
            <a:ext cx="12192000" cy="1077218"/>
          </a:xfrm>
          <a:prstGeom prst="rect">
            <a:avLst/>
          </a:prstGeom>
          <a:noFill/>
        </p:spPr>
        <p:txBody>
          <a:bodyPr wrap="square" rtlCol="0">
            <a:spAutoFit/>
          </a:bodyPr>
          <a:lstStyle/>
          <a:p>
            <a:r>
              <a:rPr lang="en-CA" sz="3200" b="1" dirty="0">
                <a:solidFill>
                  <a:srgbClr val="612141"/>
                </a:solidFill>
              </a:rPr>
              <a:t>1.2.1 Core Components of </a:t>
            </a:r>
            <a:r>
              <a:rPr lang="en-CA" sz="3200" b="1" dirty="0" err="1">
                <a:solidFill>
                  <a:srgbClr val="612141"/>
                </a:solidFill>
              </a:rPr>
              <a:t>LangChain</a:t>
            </a:r>
            <a:r>
              <a:rPr lang="en-CA" sz="3200" b="1" dirty="0">
                <a:solidFill>
                  <a:srgbClr val="612141"/>
                </a:solidFill>
              </a:rPr>
              <a:t> (without Middleware): Agents: Tools Calling, Structured Output</a:t>
            </a:r>
          </a:p>
        </p:txBody>
      </p:sp>
      <p:sp>
        <p:nvSpPr>
          <p:cNvPr id="3" name="TextBox 2">
            <a:extLst>
              <a:ext uri="{FF2B5EF4-FFF2-40B4-BE49-F238E27FC236}">
                <a16:creationId xmlns:a16="http://schemas.microsoft.com/office/drawing/2014/main" id="{48139526-20C3-A98D-CD1F-9A674822F594}"/>
              </a:ext>
            </a:extLst>
          </p:cNvPr>
          <p:cNvSpPr txBox="1"/>
          <p:nvPr/>
        </p:nvSpPr>
        <p:spPr>
          <a:xfrm>
            <a:off x="0" y="1359243"/>
            <a:ext cx="10219038" cy="2585323"/>
          </a:xfrm>
          <a:prstGeom prst="rect">
            <a:avLst/>
          </a:prstGeom>
          <a:noFill/>
        </p:spPr>
        <p:txBody>
          <a:bodyPr wrap="square" rtlCol="0">
            <a:spAutoFit/>
          </a:bodyPr>
          <a:lstStyle/>
          <a:p>
            <a:r>
              <a:rPr lang="en-CA" dirty="0"/>
              <a:t>What you would do with agents for Tools Calling and Structured Output is similar to what you did in “Models”, but something is automated for you, and something is a little bit different.</a:t>
            </a:r>
          </a:p>
          <a:p>
            <a:endParaRPr lang="en-CA" dirty="0"/>
          </a:p>
          <a:p>
            <a:r>
              <a:rPr lang="en-CA" dirty="0"/>
              <a:t>Two strategy for structured output: </a:t>
            </a:r>
            <a:r>
              <a:rPr lang="en-CA" dirty="0" err="1"/>
              <a:t>ToolStrategy</a:t>
            </a:r>
            <a:r>
              <a:rPr lang="en-CA" dirty="0"/>
              <a:t> and </a:t>
            </a:r>
            <a:r>
              <a:rPr lang="en-CA" dirty="0" err="1"/>
              <a:t>ProviderStrategy</a:t>
            </a:r>
            <a:r>
              <a:rPr lang="en-CA" dirty="0"/>
              <a:t>.</a:t>
            </a:r>
          </a:p>
          <a:p>
            <a:endParaRPr lang="en-CA" dirty="0"/>
          </a:p>
          <a:p>
            <a:r>
              <a:rPr lang="en-CA" dirty="0"/>
              <a:t>I would leave a question for you:</a:t>
            </a:r>
          </a:p>
          <a:p>
            <a:endParaRPr lang="en-CA" dirty="0"/>
          </a:p>
          <a:p>
            <a:r>
              <a:rPr lang="en-CA" dirty="0"/>
              <a:t>What are differences between model and agent? I won’t give you answer but would like to know what you think.</a:t>
            </a:r>
          </a:p>
        </p:txBody>
      </p:sp>
      <p:pic>
        <p:nvPicPr>
          <p:cNvPr id="4" name="Picture 3" descr="Michael Zhang (Director, Master of Business Analytics Program)">
            <a:extLst>
              <a:ext uri="{FF2B5EF4-FFF2-40B4-BE49-F238E27FC236}">
                <a16:creationId xmlns:a16="http://schemas.microsoft.com/office/drawing/2014/main" id="{838C83A8-1AC4-CE72-EE6C-8A6BD454087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86550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5F7859-ADF3-F2DF-048B-99FA4FAAA21B}"/>
              </a:ext>
            </a:extLst>
          </p:cNvPr>
          <p:cNvSpPr txBox="1"/>
          <p:nvPr/>
        </p:nvSpPr>
        <p:spPr>
          <a:xfrm>
            <a:off x="0" y="0"/>
            <a:ext cx="12192000" cy="1077218"/>
          </a:xfrm>
          <a:prstGeom prst="rect">
            <a:avLst/>
          </a:prstGeom>
          <a:noFill/>
        </p:spPr>
        <p:txBody>
          <a:bodyPr wrap="square" rtlCol="0">
            <a:spAutoFit/>
          </a:bodyPr>
          <a:lstStyle/>
          <a:p>
            <a:r>
              <a:rPr lang="en-CA" sz="3200" b="1" dirty="0">
                <a:solidFill>
                  <a:srgbClr val="612141"/>
                </a:solidFill>
              </a:rPr>
              <a:t>1.2.2 Core Components of </a:t>
            </a:r>
            <a:r>
              <a:rPr lang="en-CA" sz="3200" b="1" dirty="0" err="1">
                <a:solidFill>
                  <a:srgbClr val="612141"/>
                </a:solidFill>
              </a:rPr>
              <a:t>LangChain</a:t>
            </a:r>
            <a:r>
              <a:rPr lang="en-CA" sz="3200" b="1" dirty="0">
                <a:solidFill>
                  <a:srgbClr val="612141"/>
                </a:solidFill>
              </a:rPr>
              <a:t> (without Middleware): Agents: Short-Term Memory</a:t>
            </a:r>
          </a:p>
        </p:txBody>
      </p:sp>
      <p:pic>
        <p:nvPicPr>
          <p:cNvPr id="4" name="Picture 3">
            <a:extLst>
              <a:ext uri="{FF2B5EF4-FFF2-40B4-BE49-F238E27FC236}">
                <a16:creationId xmlns:a16="http://schemas.microsoft.com/office/drawing/2014/main" id="{62663F72-5AFE-3CCC-A711-49FF8416BF14}"/>
              </a:ext>
            </a:extLst>
          </p:cNvPr>
          <p:cNvPicPr>
            <a:picLocks noChangeAspect="1"/>
          </p:cNvPicPr>
          <p:nvPr/>
        </p:nvPicPr>
        <p:blipFill>
          <a:blip r:embed="rId2"/>
          <a:stretch>
            <a:fillRect/>
          </a:stretch>
        </p:blipFill>
        <p:spPr>
          <a:xfrm>
            <a:off x="0" y="3285626"/>
            <a:ext cx="6468378" cy="3572374"/>
          </a:xfrm>
          <a:prstGeom prst="rect">
            <a:avLst/>
          </a:prstGeom>
        </p:spPr>
      </p:pic>
      <p:sp>
        <p:nvSpPr>
          <p:cNvPr id="5" name="TextBox 4">
            <a:extLst>
              <a:ext uri="{FF2B5EF4-FFF2-40B4-BE49-F238E27FC236}">
                <a16:creationId xmlns:a16="http://schemas.microsoft.com/office/drawing/2014/main" id="{6EAA41DE-E90F-0487-690E-959C2784DAF0}"/>
              </a:ext>
            </a:extLst>
          </p:cNvPr>
          <p:cNvSpPr txBox="1"/>
          <p:nvPr/>
        </p:nvSpPr>
        <p:spPr>
          <a:xfrm>
            <a:off x="-1" y="1077218"/>
            <a:ext cx="11479427" cy="2031325"/>
          </a:xfrm>
          <a:prstGeom prst="rect">
            <a:avLst/>
          </a:prstGeom>
          <a:noFill/>
        </p:spPr>
        <p:txBody>
          <a:bodyPr wrap="square" rtlCol="0">
            <a:spAutoFit/>
          </a:bodyPr>
          <a:lstStyle/>
          <a:p>
            <a:r>
              <a:rPr lang="en-CA" dirty="0"/>
              <a:t>Agent could remember some previous interactions through thread id (Thread here doesn’t mean the thread in Operating System, just treat it as an identifier!!!)</a:t>
            </a:r>
          </a:p>
          <a:p>
            <a:endParaRPr lang="en-CA" dirty="0"/>
          </a:p>
          <a:p>
            <a:r>
              <a:rPr lang="en-CA" dirty="0"/>
              <a:t>For learning purpose, we would use </a:t>
            </a:r>
            <a:r>
              <a:rPr lang="en-CA" dirty="0" err="1"/>
              <a:t>InMemorySaver</a:t>
            </a:r>
            <a:r>
              <a:rPr lang="en-CA" dirty="0"/>
              <a:t>.</a:t>
            </a:r>
          </a:p>
          <a:p>
            <a:endParaRPr lang="en-CA" dirty="0"/>
          </a:p>
          <a:p>
            <a:r>
              <a:rPr lang="en-CA" dirty="0"/>
              <a:t>Don’t forget to specify </a:t>
            </a:r>
            <a:r>
              <a:rPr lang="en-CA" dirty="0" err="1"/>
              <a:t>thread_id</a:t>
            </a:r>
            <a:r>
              <a:rPr lang="en-CA" dirty="0"/>
              <a:t> every time you invoke if you need short term memory to be enabled.</a:t>
            </a:r>
          </a:p>
          <a:p>
            <a:r>
              <a:rPr lang="en-CA" dirty="0"/>
              <a:t>Making it remember things in a way you like could be done through custom state.</a:t>
            </a:r>
          </a:p>
        </p:txBody>
      </p:sp>
      <p:pic>
        <p:nvPicPr>
          <p:cNvPr id="3" name="Picture 2" descr="Michael Zhang (Director, Master of Business Analytics Program)">
            <a:extLst>
              <a:ext uri="{FF2B5EF4-FFF2-40B4-BE49-F238E27FC236}">
                <a16:creationId xmlns:a16="http://schemas.microsoft.com/office/drawing/2014/main" id="{862DE49A-D9AF-746A-235F-028571F89B3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722075"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057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323CE1-A25D-99CC-C781-573B258EA18C}"/>
              </a:ext>
            </a:extLst>
          </p:cNvPr>
          <p:cNvSpPr txBox="1"/>
          <p:nvPr/>
        </p:nvSpPr>
        <p:spPr>
          <a:xfrm>
            <a:off x="0" y="0"/>
            <a:ext cx="12192000" cy="1077218"/>
          </a:xfrm>
          <a:prstGeom prst="rect">
            <a:avLst/>
          </a:prstGeom>
          <a:noFill/>
        </p:spPr>
        <p:txBody>
          <a:bodyPr wrap="square" rtlCol="0">
            <a:spAutoFit/>
          </a:bodyPr>
          <a:lstStyle/>
          <a:p>
            <a:r>
              <a:rPr lang="en-CA" sz="3200" b="1" dirty="0">
                <a:solidFill>
                  <a:srgbClr val="612141"/>
                </a:solidFill>
              </a:rPr>
              <a:t>1.3.1 Core Components of </a:t>
            </a:r>
            <a:r>
              <a:rPr lang="en-CA" sz="3200" b="1" dirty="0" err="1">
                <a:solidFill>
                  <a:srgbClr val="612141"/>
                </a:solidFill>
              </a:rPr>
              <a:t>LangChain</a:t>
            </a:r>
            <a:r>
              <a:rPr lang="en-CA" sz="3200" b="1" dirty="0">
                <a:solidFill>
                  <a:srgbClr val="612141"/>
                </a:solidFill>
              </a:rPr>
              <a:t> (without Middleware): Tools</a:t>
            </a:r>
          </a:p>
        </p:txBody>
      </p:sp>
      <p:sp>
        <p:nvSpPr>
          <p:cNvPr id="3" name="TextBox 2">
            <a:extLst>
              <a:ext uri="{FF2B5EF4-FFF2-40B4-BE49-F238E27FC236}">
                <a16:creationId xmlns:a16="http://schemas.microsoft.com/office/drawing/2014/main" id="{A6A58808-91FA-E0E2-D62C-38F6DBA2C451}"/>
              </a:ext>
            </a:extLst>
          </p:cNvPr>
          <p:cNvSpPr txBox="1"/>
          <p:nvPr/>
        </p:nvSpPr>
        <p:spPr>
          <a:xfrm>
            <a:off x="0" y="1077218"/>
            <a:ext cx="6697362" cy="4801314"/>
          </a:xfrm>
          <a:prstGeom prst="rect">
            <a:avLst/>
          </a:prstGeom>
          <a:noFill/>
        </p:spPr>
        <p:txBody>
          <a:bodyPr wrap="square" rtlCol="0">
            <a:spAutoFit/>
          </a:bodyPr>
          <a:lstStyle/>
          <a:p>
            <a:r>
              <a:rPr lang="en-CA" dirty="0"/>
              <a:t>You might have used or defined some tools previously (in QuickStart or you played on your own).</a:t>
            </a:r>
          </a:p>
          <a:p>
            <a:endParaRPr lang="en-CA" dirty="0"/>
          </a:p>
          <a:p>
            <a:r>
              <a:rPr lang="en-CA" dirty="0"/>
              <a:t>Let’s make better tools!</a:t>
            </a:r>
          </a:p>
          <a:p>
            <a:endParaRPr lang="en-CA" dirty="0"/>
          </a:p>
          <a:p>
            <a:r>
              <a:rPr lang="en-CA" dirty="0"/>
              <a:t>Tool, in a glance, is a function that might or might not be called by LLM during conversation.</a:t>
            </a:r>
          </a:p>
          <a:p>
            <a:endParaRPr lang="en-CA" dirty="0"/>
          </a:p>
          <a:p>
            <a:r>
              <a:rPr lang="en-CA" dirty="0"/>
              <a:t>Context in </a:t>
            </a:r>
            <a:r>
              <a:rPr lang="en-CA" dirty="0" err="1"/>
              <a:t>ToolRuntime</a:t>
            </a:r>
            <a:r>
              <a:rPr lang="en-CA" dirty="0"/>
              <a:t> works like user structured input I would say.</a:t>
            </a:r>
          </a:p>
          <a:p>
            <a:endParaRPr lang="en-CA" dirty="0"/>
          </a:p>
          <a:p>
            <a:r>
              <a:rPr lang="en-CA" dirty="0"/>
              <a:t>You could make a schema for a tool to limit its range of acceptable inputs.</a:t>
            </a:r>
          </a:p>
          <a:p>
            <a:endParaRPr lang="en-CA" dirty="0"/>
          </a:p>
          <a:p>
            <a:r>
              <a:rPr lang="en-CA" dirty="0"/>
              <a:t>Schema for tool works like structured input, again 🤔.</a:t>
            </a:r>
          </a:p>
          <a:p>
            <a:endParaRPr lang="en-CA" dirty="0"/>
          </a:p>
          <a:p>
            <a:r>
              <a:rPr lang="en-CA" dirty="0"/>
              <a:t>What are the differences between context and state?</a:t>
            </a:r>
          </a:p>
        </p:txBody>
      </p:sp>
      <p:pic>
        <p:nvPicPr>
          <p:cNvPr id="5" name="Picture 4">
            <a:extLst>
              <a:ext uri="{FF2B5EF4-FFF2-40B4-BE49-F238E27FC236}">
                <a16:creationId xmlns:a16="http://schemas.microsoft.com/office/drawing/2014/main" id="{F0E95977-6258-5097-76E8-583470D9FD08}"/>
              </a:ext>
            </a:extLst>
          </p:cNvPr>
          <p:cNvPicPr>
            <a:picLocks noChangeAspect="1"/>
          </p:cNvPicPr>
          <p:nvPr/>
        </p:nvPicPr>
        <p:blipFill>
          <a:blip r:embed="rId2"/>
          <a:stretch>
            <a:fillRect/>
          </a:stretch>
        </p:blipFill>
        <p:spPr>
          <a:xfrm>
            <a:off x="6855592" y="982579"/>
            <a:ext cx="5336408" cy="5553272"/>
          </a:xfrm>
          <a:prstGeom prst="rect">
            <a:avLst/>
          </a:prstGeom>
        </p:spPr>
      </p:pic>
      <p:pic>
        <p:nvPicPr>
          <p:cNvPr id="4" name="Picture 3" descr="Michael Zhang (Director, Master of Business Analytics Program)">
            <a:extLst>
              <a:ext uri="{FF2B5EF4-FFF2-40B4-BE49-F238E27FC236}">
                <a16:creationId xmlns:a16="http://schemas.microsoft.com/office/drawing/2014/main" id="{4ED647CC-6117-F76D-3D9D-8CD9FF0C655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07448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89C36-1BF1-D209-D085-34AC3D21D006}"/>
              </a:ext>
            </a:extLst>
          </p:cNvPr>
          <p:cNvSpPr txBox="1"/>
          <p:nvPr/>
        </p:nvSpPr>
        <p:spPr>
          <a:xfrm>
            <a:off x="126999" y="3356520"/>
            <a:ext cx="10027653" cy="769441"/>
          </a:xfrm>
          <a:prstGeom prst="rect">
            <a:avLst/>
          </a:prstGeom>
          <a:noFill/>
        </p:spPr>
        <p:txBody>
          <a:bodyPr wrap="square" rtlCol="0">
            <a:spAutoFit/>
          </a:bodyPr>
          <a:lstStyle/>
          <a:p>
            <a:r>
              <a:rPr lang="en-CA" sz="4400" b="1" dirty="0">
                <a:solidFill>
                  <a:srgbClr val="612141"/>
                </a:solidFill>
              </a:rPr>
              <a:t>2. Hands-On Project</a:t>
            </a:r>
          </a:p>
        </p:txBody>
      </p:sp>
      <p:pic>
        <p:nvPicPr>
          <p:cNvPr id="3" name="Picture 2" descr="Michael Zhang (Director, Master of Business Analytics Program)">
            <a:extLst>
              <a:ext uri="{FF2B5EF4-FFF2-40B4-BE49-F238E27FC236}">
                <a16:creationId xmlns:a16="http://schemas.microsoft.com/office/drawing/2014/main" id="{1ED6CEB6-F57D-2E62-5129-C5EEFF6DD49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355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10AC19-31C7-CB92-7005-90D032C5B557}"/>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2. Hands-On Project: Travel Plan after Retirement</a:t>
            </a:r>
          </a:p>
        </p:txBody>
      </p:sp>
      <p:sp>
        <p:nvSpPr>
          <p:cNvPr id="3" name="TextBox 2">
            <a:extLst>
              <a:ext uri="{FF2B5EF4-FFF2-40B4-BE49-F238E27FC236}">
                <a16:creationId xmlns:a16="http://schemas.microsoft.com/office/drawing/2014/main" id="{17405865-3D68-EFDE-0774-43EB49447296}"/>
              </a:ext>
            </a:extLst>
          </p:cNvPr>
          <p:cNvSpPr txBox="1"/>
          <p:nvPr/>
        </p:nvSpPr>
        <p:spPr>
          <a:xfrm>
            <a:off x="0" y="584775"/>
            <a:ext cx="12192000" cy="4801314"/>
          </a:xfrm>
          <a:prstGeom prst="rect">
            <a:avLst/>
          </a:prstGeom>
          <a:noFill/>
        </p:spPr>
        <p:txBody>
          <a:bodyPr wrap="square" rtlCol="0">
            <a:spAutoFit/>
          </a:bodyPr>
          <a:lstStyle/>
          <a:p>
            <a:r>
              <a:rPr lang="en-CA" dirty="0"/>
              <a:t>We would do a fun project with Google Maps API key!!</a:t>
            </a:r>
          </a:p>
          <a:p>
            <a:endParaRPr lang="en-CA" dirty="0"/>
          </a:p>
          <a:p>
            <a:r>
              <a:rPr lang="en-CA" dirty="0"/>
              <a:t>Project Description: Michael Zhang retired and he would like to travel around the world. He needs a Python program to do trips planning for him, which is what agent is good at accidentally. He also loves passing by multiple cities a time. For example, he might go to Toronto first and stay there for couple days, then go to New York, finally Miami.</a:t>
            </a:r>
          </a:p>
          <a:p>
            <a:r>
              <a:rPr lang="en-CA" dirty="0"/>
              <a:t>He wants a program that could accept multiple city names and period of time of stay for each city and could output a detailed multi-city travel plan. Since LLM can’t predict weather but Google Maps API could, you are expected to build single agent application using </a:t>
            </a:r>
            <a:r>
              <a:rPr lang="en-CA" dirty="0" err="1"/>
              <a:t>LangChain</a:t>
            </a:r>
            <a:r>
              <a:rPr lang="en-CA" dirty="0"/>
              <a:t> framework that could use tools to query weather and others.</a:t>
            </a:r>
          </a:p>
          <a:p>
            <a:endParaRPr lang="en-CA" dirty="0"/>
          </a:p>
          <a:p>
            <a:r>
              <a:rPr lang="en-CA" dirty="0"/>
              <a:t>Michael might have question for generated travel plan so short-term memory must be enabled otherwise Michael would be mad!</a:t>
            </a:r>
          </a:p>
          <a:p>
            <a:endParaRPr lang="en-CA" dirty="0"/>
          </a:p>
          <a:p>
            <a:r>
              <a:rPr lang="en-CA" dirty="0"/>
              <a:t>Michael would like to know what cloths to wear in each city and whether he should use umbrella so you must use google weather API to forecast weather!</a:t>
            </a:r>
          </a:p>
          <a:p>
            <a:r>
              <a:rPr lang="en-CA" dirty="0"/>
              <a:t>He cares about air quality and would like to know how many masks he needs in total (if a city’s air quality is bad, Michael would put on a mask. But what’s bad is up to you when developing python program as long as you don’t make it ridiculous).</a:t>
            </a:r>
          </a:p>
        </p:txBody>
      </p:sp>
      <p:pic>
        <p:nvPicPr>
          <p:cNvPr id="9" name="Picture 8">
            <a:extLst>
              <a:ext uri="{FF2B5EF4-FFF2-40B4-BE49-F238E27FC236}">
                <a16:creationId xmlns:a16="http://schemas.microsoft.com/office/drawing/2014/main" id="{DFEF79AC-0625-7455-E0E1-69D36D86FC99}"/>
              </a:ext>
            </a:extLst>
          </p:cNvPr>
          <p:cNvPicPr>
            <a:picLocks noChangeAspect="1"/>
          </p:cNvPicPr>
          <p:nvPr/>
        </p:nvPicPr>
        <p:blipFill>
          <a:blip r:embed="rId2"/>
          <a:stretch>
            <a:fillRect/>
          </a:stretch>
        </p:blipFill>
        <p:spPr>
          <a:xfrm>
            <a:off x="0" y="5248051"/>
            <a:ext cx="3841926" cy="1609950"/>
          </a:xfrm>
          <a:prstGeom prst="rect">
            <a:avLst/>
          </a:prstGeom>
        </p:spPr>
      </p:pic>
      <p:pic>
        <p:nvPicPr>
          <p:cNvPr id="11" name="Picture 10">
            <a:extLst>
              <a:ext uri="{FF2B5EF4-FFF2-40B4-BE49-F238E27FC236}">
                <a16:creationId xmlns:a16="http://schemas.microsoft.com/office/drawing/2014/main" id="{97034E25-C2EF-C105-CF1D-77FBA7347AEB}"/>
              </a:ext>
            </a:extLst>
          </p:cNvPr>
          <p:cNvPicPr>
            <a:picLocks noChangeAspect="1"/>
          </p:cNvPicPr>
          <p:nvPr/>
        </p:nvPicPr>
        <p:blipFill>
          <a:blip r:embed="rId3"/>
          <a:stretch>
            <a:fillRect/>
          </a:stretch>
        </p:blipFill>
        <p:spPr>
          <a:xfrm>
            <a:off x="3841926" y="5248050"/>
            <a:ext cx="3953427" cy="1609950"/>
          </a:xfrm>
          <a:prstGeom prst="rect">
            <a:avLst/>
          </a:prstGeom>
        </p:spPr>
      </p:pic>
      <p:pic>
        <p:nvPicPr>
          <p:cNvPr id="4" name="Picture 3" descr="Michael Zhang (Director, Master of Business Analytics Program)">
            <a:extLst>
              <a:ext uri="{FF2B5EF4-FFF2-40B4-BE49-F238E27FC236}">
                <a16:creationId xmlns:a16="http://schemas.microsoft.com/office/drawing/2014/main" id="{1DEF5C51-57CF-E7B5-097B-101B33B5A484}"/>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082326" y="5644207"/>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55541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575A62-79FF-12DC-B431-3AD09AE21C8F}"/>
              </a:ext>
            </a:extLst>
          </p:cNvPr>
          <p:cNvPicPr>
            <a:picLocks noChangeAspect="1"/>
          </p:cNvPicPr>
          <p:nvPr/>
        </p:nvPicPr>
        <p:blipFill>
          <a:blip r:embed="rId2"/>
          <a:stretch>
            <a:fillRect/>
          </a:stretch>
        </p:blipFill>
        <p:spPr>
          <a:xfrm>
            <a:off x="566351" y="4354837"/>
            <a:ext cx="11059297" cy="1025070"/>
          </a:xfrm>
          <a:prstGeom prst="rect">
            <a:avLst/>
          </a:prstGeom>
        </p:spPr>
      </p:pic>
      <p:pic>
        <p:nvPicPr>
          <p:cNvPr id="7" name="Picture 6">
            <a:extLst>
              <a:ext uri="{FF2B5EF4-FFF2-40B4-BE49-F238E27FC236}">
                <a16:creationId xmlns:a16="http://schemas.microsoft.com/office/drawing/2014/main" id="{1571F1A1-354C-8CCA-D318-0A1DA6FBAE60}"/>
              </a:ext>
            </a:extLst>
          </p:cNvPr>
          <p:cNvPicPr>
            <a:picLocks noChangeAspect="1"/>
          </p:cNvPicPr>
          <p:nvPr/>
        </p:nvPicPr>
        <p:blipFill>
          <a:blip r:embed="rId3"/>
          <a:stretch>
            <a:fillRect/>
          </a:stretch>
        </p:blipFill>
        <p:spPr>
          <a:xfrm>
            <a:off x="735228" y="5749239"/>
            <a:ext cx="10824518" cy="1108761"/>
          </a:xfrm>
          <a:prstGeom prst="rect">
            <a:avLst/>
          </a:prstGeom>
        </p:spPr>
      </p:pic>
      <p:sp>
        <p:nvSpPr>
          <p:cNvPr id="3" name="TextBox 2">
            <a:extLst>
              <a:ext uri="{FF2B5EF4-FFF2-40B4-BE49-F238E27FC236}">
                <a16:creationId xmlns:a16="http://schemas.microsoft.com/office/drawing/2014/main" id="{651CDB4C-58B7-8EE4-7B2F-C11A8371161E}"/>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2. Hands-On Project: Travel Plan after Retirement</a:t>
            </a:r>
          </a:p>
        </p:txBody>
      </p:sp>
      <p:sp>
        <p:nvSpPr>
          <p:cNvPr id="4" name="TextBox 3">
            <a:extLst>
              <a:ext uri="{FF2B5EF4-FFF2-40B4-BE49-F238E27FC236}">
                <a16:creationId xmlns:a16="http://schemas.microsoft.com/office/drawing/2014/main" id="{FCF59556-734B-6855-1C34-ECA95626B612}"/>
              </a:ext>
            </a:extLst>
          </p:cNvPr>
          <p:cNvSpPr txBox="1"/>
          <p:nvPr/>
        </p:nvSpPr>
        <p:spPr>
          <a:xfrm>
            <a:off x="0" y="584775"/>
            <a:ext cx="7521677" cy="3046988"/>
          </a:xfrm>
          <a:prstGeom prst="rect">
            <a:avLst/>
          </a:prstGeom>
          <a:noFill/>
        </p:spPr>
        <p:txBody>
          <a:bodyPr wrap="square" rtlCol="0">
            <a:spAutoFit/>
          </a:bodyPr>
          <a:lstStyle/>
          <a:p>
            <a:r>
              <a:rPr lang="en-CA" sz="1400" dirty="0"/>
              <a:t>Don’t worry too much about the billing, Google won’t charge you for doing such a small project!!!! So don’t be afraid of confirming you card information in Google's billing.</a:t>
            </a:r>
          </a:p>
          <a:p>
            <a:r>
              <a:rPr lang="en-CA" sz="1400" dirty="0"/>
              <a:t>If you like you could make a Chat UI, that’s better!</a:t>
            </a:r>
          </a:p>
          <a:p>
            <a:r>
              <a:rPr lang="en-CA" sz="1400" dirty="0"/>
              <a:t>I personally don’t need you to make slides to present your program to Michael, just</a:t>
            </a:r>
          </a:p>
          <a:p>
            <a:r>
              <a:rPr lang="en-CA" sz="2400" b="1" dirty="0"/>
              <a:t>SHOW YOUR DEMO AND CODE!</a:t>
            </a:r>
          </a:p>
          <a:p>
            <a:r>
              <a:rPr lang="en-CA" sz="1400" dirty="0"/>
              <a:t>Quick notes:</a:t>
            </a:r>
          </a:p>
          <a:p>
            <a:r>
              <a:rPr lang="en-CA" sz="1400" dirty="0"/>
              <a:t>Michael won’t go to North Korea. Just within North America is okay. Since only 4 days of forecast of</a:t>
            </a:r>
            <a:r>
              <a:rPr lang="zh-CN" altLang="en-US" sz="1400" dirty="0"/>
              <a:t> </a:t>
            </a:r>
            <a:r>
              <a:rPr lang="en-CA" altLang="zh-CN" sz="1400" dirty="0"/>
              <a:t>air</a:t>
            </a:r>
            <a:r>
              <a:rPr lang="zh-CN" altLang="en-US" sz="1400" dirty="0"/>
              <a:t> </a:t>
            </a:r>
            <a:r>
              <a:rPr lang="en-CA" altLang="zh-CN" sz="1400" dirty="0"/>
              <a:t>quality</a:t>
            </a:r>
            <a:r>
              <a:rPr lang="zh-CN" altLang="en-US" sz="1400" dirty="0"/>
              <a:t> </a:t>
            </a:r>
            <a:r>
              <a:rPr lang="en-CA" altLang="zh-CN" sz="1400" dirty="0"/>
              <a:t>are</a:t>
            </a:r>
            <a:r>
              <a:rPr lang="en-CA" sz="1400" dirty="0"/>
              <a:t> available, you can assume Michael flies ultra fast and</a:t>
            </a:r>
            <a:r>
              <a:rPr lang="zh-CN" altLang="en-US" sz="1400" dirty="0"/>
              <a:t> </a:t>
            </a:r>
            <a:r>
              <a:rPr lang="en-CA" altLang="zh-CN" sz="1400" dirty="0"/>
              <a:t>no</a:t>
            </a:r>
            <a:r>
              <a:rPr lang="zh-CN" altLang="en-US" sz="1400" dirty="0"/>
              <a:t> </a:t>
            </a:r>
            <a:r>
              <a:rPr lang="en-CA" altLang="zh-CN" sz="1400" dirty="0"/>
              <a:t>time</a:t>
            </a:r>
            <a:r>
              <a:rPr lang="zh-CN" altLang="en-US" sz="1400" dirty="0"/>
              <a:t> </a:t>
            </a:r>
            <a:r>
              <a:rPr lang="en-CA" altLang="zh-CN" sz="1400" dirty="0"/>
              <a:t>spent</a:t>
            </a:r>
            <a:r>
              <a:rPr lang="zh-CN" altLang="en-US" sz="1400" dirty="0"/>
              <a:t> </a:t>
            </a:r>
            <a:r>
              <a:rPr lang="en-CA" altLang="zh-CN" sz="1400" dirty="0"/>
              <a:t>in</a:t>
            </a:r>
            <a:r>
              <a:rPr lang="zh-CN" altLang="en-US" sz="1400" dirty="0"/>
              <a:t> </a:t>
            </a:r>
            <a:r>
              <a:rPr lang="en-CA" altLang="zh-CN" sz="1400" dirty="0"/>
              <a:t>traffic and Michael starts his travel from the first city he plans to visit</a:t>
            </a:r>
            <a:r>
              <a:rPr lang="en-CA" sz="1400" dirty="0"/>
              <a:t>. Pay attention to “</a:t>
            </a:r>
            <a:r>
              <a:rPr lang="en-CA" sz="1400" dirty="0" err="1"/>
              <a:t>currentTime</a:t>
            </a:r>
            <a:r>
              <a:rPr lang="en-CA" sz="1400" dirty="0"/>
              <a:t>” in the JSON object. You might need to use a model that could reason. If you need, configure thinking-budget in initialization of model. Please choose a LLM that could call tools. Last but not least, I might not be able to help you instantly so please debug on your own.</a:t>
            </a:r>
          </a:p>
        </p:txBody>
      </p:sp>
      <p:sp>
        <p:nvSpPr>
          <p:cNvPr id="6" name="TextBox 5">
            <a:extLst>
              <a:ext uri="{FF2B5EF4-FFF2-40B4-BE49-F238E27FC236}">
                <a16:creationId xmlns:a16="http://schemas.microsoft.com/office/drawing/2014/main" id="{36B7A8F2-8A78-1BD2-EBDC-ADC394852A54}"/>
              </a:ext>
            </a:extLst>
          </p:cNvPr>
          <p:cNvSpPr txBox="1"/>
          <p:nvPr/>
        </p:nvSpPr>
        <p:spPr>
          <a:xfrm>
            <a:off x="0" y="5379907"/>
            <a:ext cx="11442357" cy="369332"/>
          </a:xfrm>
          <a:prstGeom prst="rect">
            <a:avLst/>
          </a:prstGeom>
          <a:noFill/>
        </p:spPr>
        <p:txBody>
          <a:bodyPr wrap="square" rtlCol="0">
            <a:spAutoFit/>
          </a:bodyPr>
          <a:lstStyle/>
          <a:p>
            <a:r>
              <a:rPr lang="en-CA" dirty="0"/>
              <a:t>This is what I got from converting 1600 Amphitheatre Parkway, Mountain View, CA to its </a:t>
            </a:r>
            <a:r>
              <a:rPr lang="en-CA" dirty="0" err="1"/>
              <a:t>lat</a:t>
            </a:r>
            <a:r>
              <a:rPr lang="en-CA" dirty="0"/>
              <a:t> and </a:t>
            </a:r>
            <a:r>
              <a:rPr lang="en-CA" dirty="0" err="1"/>
              <a:t>lon</a:t>
            </a:r>
            <a:r>
              <a:rPr lang="en-CA" dirty="0"/>
              <a:t>.</a:t>
            </a:r>
          </a:p>
        </p:txBody>
      </p:sp>
      <p:sp>
        <p:nvSpPr>
          <p:cNvPr id="8" name="TextBox 7">
            <a:extLst>
              <a:ext uri="{FF2B5EF4-FFF2-40B4-BE49-F238E27FC236}">
                <a16:creationId xmlns:a16="http://schemas.microsoft.com/office/drawing/2014/main" id="{7DADBAFD-0821-2F98-607F-E7268B0A955F}"/>
              </a:ext>
            </a:extLst>
          </p:cNvPr>
          <p:cNvSpPr txBox="1"/>
          <p:nvPr/>
        </p:nvSpPr>
        <p:spPr>
          <a:xfrm>
            <a:off x="0" y="4001095"/>
            <a:ext cx="12294974" cy="369332"/>
          </a:xfrm>
          <a:prstGeom prst="rect">
            <a:avLst/>
          </a:prstGeom>
          <a:noFill/>
        </p:spPr>
        <p:txBody>
          <a:bodyPr wrap="square" rtlCol="0">
            <a:spAutoFit/>
          </a:bodyPr>
          <a:lstStyle/>
          <a:p>
            <a:r>
              <a:rPr lang="en-CA" dirty="0"/>
              <a:t>This is what I got from querying current weather of Mountain View, CA (at the time I was writing this slide)</a:t>
            </a:r>
          </a:p>
        </p:txBody>
      </p:sp>
      <p:pic>
        <p:nvPicPr>
          <p:cNvPr id="9" name="Picture 8">
            <a:extLst>
              <a:ext uri="{FF2B5EF4-FFF2-40B4-BE49-F238E27FC236}">
                <a16:creationId xmlns:a16="http://schemas.microsoft.com/office/drawing/2014/main" id="{D0924D99-E5F6-5A60-4CA9-B7F2185C3A28}"/>
              </a:ext>
            </a:extLst>
          </p:cNvPr>
          <p:cNvPicPr>
            <a:picLocks noChangeAspect="1"/>
          </p:cNvPicPr>
          <p:nvPr/>
        </p:nvPicPr>
        <p:blipFill>
          <a:blip r:embed="rId4"/>
          <a:stretch>
            <a:fillRect/>
          </a:stretch>
        </p:blipFill>
        <p:spPr>
          <a:xfrm>
            <a:off x="7521677" y="1947997"/>
            <a:ext cx="4414685" cy="1376780"/>
          </a:xfrm>
          <a:prstGeom prst="rect">
            <a:avLst/>
          </a:prstGeom>
        </p:spPr>
      </p:pic>
      <p:pic>
        <p:nvPicPr>
          <p:cNvPr id="2" name="Picture 1" descr="Michael Zhang (Director, Master of Business Analytics Program)">
            <a:extLst>
              <a:ext uri="{FF2B5EF4-FFF2-40B4-BE49-F238E27FC236}">
                <a16:creationId xmlns:a16="http://schemas.microsoft.com/office/drawing/2014/main" id="{E3B97434-6246-241C-47B1-7446FC6432C7}"/>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8369300" y="638580"/>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7993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537388-7A27-D79E-BB48-49D189CBCEE3}"/>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2. Hands-On Project: Easy &amp; Hard</a:t>
            </a:r>
          </a:p>
        </p:txBody>
      </p:sp>
      <p:sp>
        <p:nvSpPr>
          <p:cNvPr id="5" name="TextBox 4">
            <a:extLst>
              <a:ext uri="{FF2B5EF4-FFF2-40B4-BE49-F238E27FC236}">
                <a16:creationId xmlns:a16="http://schemas.microsoft.com/office/drawing/2014/main" id="{CB89A391-D857-52A3-3FE0-0F7F5DA0CBF1}"/>
              </a:ext>
            </a:extLst>
          </p:cNvPr>
          <p:cNvSpPr txBox="1"/>
          <p:nvPr/>
        </p:nvSpPr>
        <p:spPr>
          <a:xfrm>
            <a:off x="-2" y="600634"/>
            <a:ext cx="12192001" cy="3816429"/>
          </a:xfrm>
          <a:prstGeom prst="rect">
            <a:avLst/>
          </a:prstGeom>
          <a:noFill/>
        </p:spPr>
        <p:txBody>
          <a:bodyPr wrap="square" rtlCol="0">
            <a:spAutoFit/>
          </a:bodyPr>
          <a:lstStyle/>
          <a:p>
            <a:r>
              <a:rPr lang="en-CA" dirty="0"/>
              <a:t>This project could be hard or easy:</a:t>
            </a:r>
          </a:p>
          <a:p>
            <a:endParaRPr lang="en-CA" dirty="0"/>
          </a:p>
          <a:p>
            <a:r>
              <a:rPr lang="en-CA" sz="4400" b="1" dirty="0">
                <a:solidFill>
                  <a:srgbClr val="FF0000"/>
                </a:solidFill>
              </a:rPr>
              <a:t>Easy</a:t>
            </a:r>
            <a:r>
              <a:rPr lang="en-CA" dirty="0"/>
              <a:t>:</a:t>
            </a:r>
          </a:p>
          <a:p>
            <a:r>
              <a:rPr lang="en-CA" dirty="0"/>
              <a:t>Your single agent program would take the following as input, literally, and agent would be informed by messages of tools you defined that call Google Maps APIs to retrieve forecast of Weather and Air Quality, then output a travel report.</a:t>
            </a:r>
          </a:p>
          <a:p>
            <a:endParaRPr lang="en-CA" dirty="0"/>
          </a:p>
          <a:p>
            <a:r>
              <a:rPr lang="en-CA" dirty="0"/>
              <a:t>City1: Toronto 2025-01-31</a:t>
            </a:r>
          </a:p>
          <a:p>
            <a:r>
              <a:rPr lang="en-CA" dirty="0"/>
              <a:t>CN Tower;290 Bremner Blvd, Toronto, ON M5V 3L9;8am-9am</a:t>
            </a:r>
          </a:p>
          <a:p>
            <a:r>
              <a:rPr lang="en-CA" dirty="0"/>
              <a:t>Royal Ontario Museum;100 Queens Park, Toronto, ON M5S 2C6;10am-11am</a:t>
            </a:r>
          </a:p>
          <a:p>
            <a:r>
              <a:rPr lang="en-CA" dirty="0"/>
              <a:t>City2: Chicago 2025-02-01</a:t>
            </a:r>
          </a:p>
          <a:p>
            <a:r>
              <a:rPr lang="en-CA" dirty="0"/>
              <a:t>The Art Institute of Chicago;111 S Michigan Ave, Chicago, IL 60603, United States;9am-11am</a:t>
            </a:r>
          </a:p>
          <a:p>
            <a:r>
              <a:rPr lang="en-CA" dirty="0"/>
              <a:t>Griffin Museum of Science and Industry;5700 S DuSable Lake Shore Dr, Chicago, IL 60637, United States;12pm-13pm</a:t>
            </a:r>
          </a:p>
        </p:txBody>
      </p:sp>
      <p:pic>
        <p:nvPicPr>
          <p:cNvPr id="6" name="Picture 5" descr="Michael Zhang (Director, Master of Business Analytics Program)">
            <a:extLst>
              <a:ext uri="{FF2B5EF4-FFF2-40B4-BE49-F238E27FC236}">
                <a16:creationId xmlns:a16="http://schemas.microsoft.com/office/drawing/2014/main" id="{08455071-B168-D778-8945-647345D55D1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205839" y="561423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4905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C992EFE-3577-9E6F-E492-E2D46DB237DD}"/>
              </a:ext>
            </a:extLst>
          </p:cNvPr>
          <p:cNvSpPr txBox="1"/>
          <p:nvPr/>
        </p:nvSpPr>
        <p:spPr>
          <a:xfrm>
            <a:off x="-1" y="569782"/>
            <a:ext cx="6617109" cy="5755422"/>
          </a:xfrm>
          <a:prstGeom prst="rect">
            <a:avLst/>
          </a:prstGeom>
          <a:noFill/>
        </p:spPr>
        <p:txBody>
          <a:bodyPr wrap="square">
            <a:spAutoFit/>
          </a:bodyPr>
          <a:lstStyle/>
          <a:p>
            <a:r>
              <a:rPr lang="en-CA" sz="4400" b="1" dirty="0">
                <a:solidFill>
                  <a:srgbClr val="FF0000"/>
                </a:solidFill>
              </a:rPr>
              <a:t>Hard</a:t>
            </a:r>
            <a:r>
              <a:rPr lang="en-CA" dirty="0"/>
              <a:t>:</a:t>
            </a:r>
          </a:p>
          <a:p>
            <a:r>
              <a:rPr lang="en-CA" dirty="0"/>
              <a:t>Your single agent program would take the following as input, literally:</a:t>
            </a:r>
          </a:p>
          <a:p>
            <a:endParaRPr lang="en-CA" dirty="0"/>
          </a:p>
          <a:p>
            <a:r>
              <a:rPr lang="en-CA" dirty="0"/>
              <a:t>City1: Toronto 2025-01-31</a:t>
            </a:r>
          </a:p>
          <a:p>
            <a:r>
              <a:rPr lang="en-CA" dirty="0"/>
              <a:t>CN Tower;8am-9am</a:t>
            </a:r>
          </a:p>
          <a:p>
            <a:r>
              <a:rPr lang="en-CA" dirty="0"/>
              <a:t>Royal Ontario Museum;10am-11am</a:t>
            </a:r>
          </a:p>
          <a:p>
            <a:r>
              <a:rPr lang="en-CA" dirty="0"/>
              <a:t>City2: Chicago 2025-02-01</a:t>
            </a:r>
          </a:p>
          <a:p>
            <a:r>
              <a:rPr lang="en-CA" dirty="0"/>
              <a:t>The Art Institute of Chicago;9am-11am</a:t>
            </a:r>
          </a:p>
          <a:p>
            <a:r>
              <a:rPr lang="en-CA" dirty="0"/>
              <a:t>Griffin Museum of Science and Industry;12pm-13pm</a:t>
            </a:r>
          </a:p>
          <a:p>
            <a:endParaRPr lang="en-CA" dirty="0"/>
          </a:p>
          <a:p>
            <a:r>
              <a:rPr lang="en-CA" dirty="0"/>
              <a:t>(A tool that can generate names of some tourist attractions given a city name is needed. You might need to use structured output to get a list of names of tourist attractions. To retrieve the geographical address, like 923 Robie St, Halifax, NS B3H 1G3, of a place, you need to use Text Search API: </a:t>
            </a:r>
            <a:r>
              <a:rPr lang="en-CA" dirty="0">
                <a:hlinkClick r:id="rId2"/>
              </a:rPr>
              <a:t>https://developers.google.com/maps/documentation/places/web-service/text-search</a:t>
            </a:r>
            <a:endParaRPr lang="en-CA" dirty="0"/>
          </a:p>
          <a:p>
            <a:r>
              <a:rPr lang="en-CA" dirty="0"/>
              <a:t>I provided the code snippet and docs to help you succeed.)</a:t>
            </a:r>
          </a:p>
        </p:txBody>
      </p:sp>
      <p:sp>
        <p:nvSpPr>
          <p:cNvPr id="5" name="TextBox 4">
            <a:extLst>
              <a:ext uri="{FF2B5EF4-FFF2-40B4-BE49-F238E27FC236}">
                <a16:creationId xmlns:a16="http://schemas.microsoft.com/office/drawing/2014/main" id="{CFC9F310-511C-B92E-D120-05F3DE60E9E5}"/>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2. Hands-On Project: Easy &amp; Hard</a:t>
            </a:r>
          </a:p>
        </p:txBody>
      </p:sp>
      <p:pic>
        <p:nvPicPr>
          <p:cNvPr id="7" name="Picture 6">
            <a:extLst>
              <a:ext uri="{FF2B5EF4-FFF2-40B4-BE49-F238E27FC236}">
                <a16:creationId xmlns:a16="http://schemas.microsoft.com/office/drawing/2014/main" id="{81B139A6-449B-42B9-4BD7-240F19EC9B6E}"/>
              </a:ext>
            </a:extLst>
          </p:cNvPr>
          <p:cNvPicPr>
            <a:picLocks noChangeAspect="1"/>
          </p:cNvPicPr>
          <p:nvPr/>
        </p:nvPicPr>
        <p:blipFill>
          <a:blip r:embed="rId3"/>
          <a:stretch>
            <a:fillRect/>
          </a:stretch>
        </p:blipFill>
        <p:spPr>
          <a:xfrm>
            <a:off x="6919451" y="3244645"/>
            <a:ext cx="4945626" cy="2497410"/>
          </a:xfrm>
          <a:prstGeom prst="rect">
            <a:avLst/>
          </a:prstGeom>
        </p:spPr>
      </p:pic>
      <p:cxnSp>
        <p:nvCxnSpPr>
          <p:cNvPr id="9" name="Straight Arrow Connector 8">
            <a:extLst>
              <a:ext uri="{FF2B5EF4-FFF2-40B4-BE49-F238E27FC236}">
                <a16:creationId xmlns:a16="http://schemas.microsoft.com/office/drawing/2014/main" id="{3BD297EA-E7A9-0CE0-1E41-31D78D9B496E}"/>
              </a:ext>
            </a:extLst>
          </p:cNvPr>
          <p:cNvCxnSpPr>
            <a:cxnSpLocks/>
          </p:cNvCxnSpPr>
          <p:nvPr/>
        </p:nvCxnSpPr>
        <p:spPr>
          <a:xfrm flipV="1">
            <a:off x="2635045" y="2054942"/>
            <a:ext cx="4284406" cy="3952568"/>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1" name="Picture 10">
            <a:extLst>
              <a:ext uri="{FF2B5EF4-FFF2-40B4-BE49-F238E27FC236}">
                <a16:creationId xmlns:a16="http://schemas.microsoft.com/office/drawing/2014/main" id="{91FB0939-5278-CB0E-4210-B74799437A9C}"/>
              </a:ext>
            </a:extLst>
          </p:cNvPr>
          <p:cNvPicPr>
            <a:picLocks noChangeAspect="1"/>
          </p:cNvPicPr>
          <p:nvPr/>
        </p:nvPicPr>
        <p:blipFill>
          <a:blip r:embed="rId4"/>
          <a:stretch>
            <a:fillRect/>
          </a:stretch>
        </p:blipFill>
        <p:spPr>
          <a:xfrm>
            <a:off x="6919452" y="0"/>
            <a:ext cx="5272548" cy="3244645"/>
          </a:xfrm>
          <a:prstGeom prst="rect">
            <a:avLst/>
          </a:prstGeom>
        </p:spPr>
      </p:pic>
      <p:pic>
        <p:nvPicPr>
          <p:cNvPr id="14" name="Picture 13" descr="Michael Zhang (Director, Master of Business Analytics Program)">
            <a:extLst>
              <a:ext uri="{FF2B5EF4-FFF2-40B4-BE49-F238E27FC236}">
                <a16:creationId xmlns:a16="http://schemas.microsoft.com/office/drawing/2014/main" id="{FAC93C3C-6262-2A99-DAC3-04D7A53CB426}"/>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8205839" y="574205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1447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9DDD23-0329-5048-52E7-A5D089F0DDB2}"/>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2. Hands-On Project: Easy &amp; Hard</a:t>
            </a:r>
          </a:p>
        </p:txBody>
      </p:sp>
      <p:sp>
        <p:nvSpPr>
          <p:cNvPr id="3" name="TextBox 2">
            <a:extLst>
              <a:ext uri="{FF2B5EF4-FFF2-40B4-BE49-F238E27FC236}">
                <a16:creationId xmlns:a16="http://schemas.microsoft.com/office/drawing/2014/main" id="{F1BFD298-F33C-F974-361F-7C8983916C61}"/>
              </a:ext>
            </a:extLst>
          </p:cNvPr>
          <p:cNvSpPr txBox="1"/>
          <p:nvPr/>
        </p:nvSpPr>
        <p:spPr>
          <a:xfrm>
            <a:off x="0" y="584775"/>
            <a:ext cx="12192000" cy="2862322"/>
          </a:xfrm>
          <a:prstGeom prst="rect">
            <a:avLst/>
          </a:prstGeom>
          <a:noFill/>
        </p:spPr>
        <p:txBody>
          <a:bodyPr wrap="square" rtlCol="0">
            <a:spAutoFit/>
          </a:bodyPr>
          <a:lstStyle/>
          <a:p>
            <a:r>
              <a:rPr lang="en-CA" dirty="0"/>
              <a:t>We want you to do the hard one. Btw there are 4 projects you need to do in total for this special journey.</a:t>
            </a:r>
          </a:p>
          <a:p>
            <a:endParaRPr lang="en-CA" dirty="0"/>
          </a:p>
          <a:p>
            <a:r>
              <a:rPr lang="en-CA" dirty="0"/>
              <a:t>If you could finish this project in hard mode, your grading scheme would become 18 marks for this project and 4 marks for each of upcoming projects.</a:t>
            </a:r>
          </a:p>
          <a:p>
            <a:endParaRPr lang="en-CA" dirty="0"/>
          </a:p>
          <a:p>
            <a:r>
              <a:rPr lang="en-CA" dirty="0"/>
              <a:t>Otherwise, each counts 7.5 mark.</a:t>
            </a:r>
          </a:p>
          <a:p>
            <a:endParaRPr lang="en-CA" dirty="0"/>
          </a:p>
          <a:p>
            <a:r>
              <a:rPr lang="en-CA" dirty="0"/>
              <a:t>If you would like to do more, you could even make a startup based on this idea.</a:t>
            </a:r>
          </a:p>
          <a:p>
            <a:endParaRPr lang="en-CA" dirty="0"/>
          </a:p>
          <a:p>
            <a:r>
              <a:rPr lang="en-CA" dirty="0"/>
              <a:t>Thanks for your hard work.</a:t>
            </a:r>
          </a:p>
        </p:txBody>
      </p:sp>
      <p:pic>
        <p:nvPicPr>
          <p:cNvPr id="4" name="Picture 3" descr="Michael Zhang (Director, Master of Business Analytics Program)">
            <a:extLst>
              <a:ext uri="{FF2B5EF4-FFF2-40B4-BE49-F238E27FC236}">
                <a16:creationId xmlns:a16="http://schemas.microsoft.com/office/drawing/2014/main" id="{7E070B6F-7D56-FE84-597A-DFC5D393235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215671" y="5673229"/>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4202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6693C7-1DDA-251B-FF18-D12E7BB2459F}"/>
              </a:ext>
            </a:extLst>
          </p:cNvPr>
          <p:cNvPicPr>
            <a:picLocks noChangeAspect="1"/>
          </p:cNvPicPr>
          <p:nvPr/>
        </p:nvPicPr>
        <p:blipFill>
          <a:blip r:embed="rId2"/>
          <a:stretch>
            <a:fillRect/>
          </a:stretch>
        </p:blipFill>
        <p:spPr>
          <a:xfrm>
            <a:off x="0" y="2281084"/>
            <a:ext cx="11507806" cy="3549558"/>
          </a:xfrm>
          <a:prstGeom prst="rect">
            <a:avLst/>
          </a:prstGeom>
        </p:spPr>
      </p:pic>
      <p:sp>
        <p:nvSpPr>
          <p:cNvPr id="4" name="TextBox 3">
            <a:extLst>
              <a:ext uri="{FF2B5EF4-FFF2-40B4-BE49-F238E27FC236}">
                <a16:creationId xmlns:a16="http://schemas.microsoft.com/office/drawing/2014/main" id="{A0F9AA56-9611-9011-B3B6-AFC3F47C362C}"/>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*Possibly helpful starter 🤔</a:t>
            </a:r>
          </a:p>
        </p:txBody>
      </p:sp>
      <p:sp>
        <p:nvSpPr>
          <p:cNvPr id="2" name="TextBox 1">
            <a:extLst>
              <a:ext uri="{FF2B5EF4-FFF2-40B4-BE49-F238E27FC236}">
                <a16:creationId xmlns:a16="http://schemas.microsoft.com/office/drawing/2014/main" id="{F762988B-1376-B2CE-70E5-2F521A8D0D2B}"/>
              </a:ext>
            </a:extLst>
          </p:cNvPr>
          <p:cNvSpPr txBox="1"/>
          <p:nvPr/>
        </p:nvSpPr>
        <p:spPr>
          <a:xfrm>
            <a:off x="0" y="590992"/>
            <a:ext cx="12192000" cy="1200329"/>
          </a:xfrm>
          <a:prstGeom prst="rect">
            <a:avLst/>
          </a:prstGeom>
          <a:noFill/>
        </p:spPr>
        <p:txBody>
          <a:bodyPr wrap="square" rtlCol="0">
            <a:spAutoFit/>
          </a:bodyPr>
          <a:lstStyle/>
          <a:p>
            <a:r>
              <a:rPr lang="en-CA" dirty="0"/>
              <a:t>(Using .env file is always a good practice and I suggest you do it all the time…..)</a:t>
            </a:r>
          </a:p>
          <a:p>
            <a:r>
              <a:rPr lang="en-CA" dirty="0"/>
              <a:t>(Simply copy and paste won’t work at all scenarios. Adapt the following code whenever needed. The following code only serves as suggestion, and we are not responsible for any consequence that results in being billed by Google. The APIs we suggested to use, Air Quality, Weather, Text Search won’t charge any money.)</a:t>
            </a:r>
          </a:p>
        </p:txBody>
      </p:sp>
      <p:pic>
        <p:nvPicPr>
          <p:cNvPr id="5" name="Picture 4" descr="Michael Zhang (Director, Master of Business Analytics Program)">
            <a:extLst>
              <a:ext uri="{FF2B5EF4-FFF2-40B4-BE49-F238E27FC236}">
                <a16:creationId xmlns:a16="http://schemas.microsoft.com/office/drawing/2014/main" id="{F22BF5DE-DEAA-6C39-3427-E7E9F0DA1FD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11604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8C887-52A8-8D1B-FC1D-A269A29E3A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C91AAD-F3DA-315C-89CA-20C2B308AD1E}"/>
              </a:ext>
            </a:extLst>
          </p:cNvPr>
          <p:cNvSpPr txBox="1"/>
          <p:nvPr/>
        </p:nvSpPr>
        <p:spPr>
          <a:xfrm>
            <a:off x="1054100" y="1460500"/>
            <a:ext cx="10083800" cy="769441"/>
          </a:xfrm>
          <a:prstGeom prst="rect">
            <a:avLst/>
          </a:prstGeom>
          <a:noFill/>
        </p:spPr>
        <p:txBody>
          <a:bodyPr wrap="square" rtlCol="0">
            <a:spAutoFit/>
          </a:bodyPr>
          <a:lstStyle/>
          <a:p>
            <a:pPr algn="ctr"/>
            <a:r>
              <a:rPr lang="en-CA" sz="4400" b="1" dirty="0">
                <a:solidFill>
                  <a:srgbClr val="612141"/>
                </a:solidFill>
              </a:rPr>
              <a:t>Thank you for your paged attention!</a:t>
            </a:r>
          </a:p>
        </p:txBody>
      </p:sp>
      <p:pic>
        <p:nvPicPr>
          <p:cNvPr id="5" name="Picture 4">
            <a:extLst>
              <a:ext uri="{FF2B5EF4-FFF2-40B4-BE49-F238E27FC236}">
                <a16:creationId xmlns:a16="http://schemas.microsoft.com/office/drawing/2014/main" id="{C0D87A3E-C9F4-9124-2DC9-C504113FAD10}"/>
              </a:ext>
            </a:extLst>
          </p:cNvPr>
          <p:cNvPicPr>
            <a:picLocks noChangeAspect="1"/>
          </p:cNvPicPr>
          <p:nvPr/>
        </p:nvPicPr>
        <p:blipFill>
          <a:blip r:embed="rId2"/>
          <a:stretch>
            <a:fillRect/>
          </a:stretch>
        </p:blipFill>
        <p:spPr>
          <a:xfrm>
            <a:off x="1718587" y="2501130"/>
            <a:ext cx="8754826" cy="1855739"/>
          </a:xfrm>
          <a:prstGeom prst="rect">
            <a:avLst/>
          </a:prstGeom>
        </p:spPr>
      </p:pic>
      <p:pic>
        <p:nvPicPr>
          <p:cNvPr id="3" name="Picture 2" descr="Michael Zhang (Director, Master of Business Analytics Program)">
            <a:extLst>
              <a:ext uri="{FF2B5EF4-FFF2-40B4-BE49-F238E27FC236}">
                <a16:creationId xmlns:a16="http://schemas.microsoft.com/office/drawing/2014/main" id="{DCAFC444-3F6E-3D73-D706-73C0D815560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2490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con&#10;&#10;Description automatically generated">
            <a:extLst>
              <a:ext uri="{FF2B5EF4-FFF2-40B4-BE49-F238E27FC236}">
                <a16:creationId xmlns:a16="http://schemas.microsoft.com/office/drawing/2014/main" id="{C3A96417-83DB-5245-B67B-F06AC312B240}"/>
              </a:ext>
            </a:extLst>
          </p:cNvPr>
          <p:cNvPicPr>
            <a:picLocks noChangeAspect="1"/>
          </p:cNvPicPr>
          <p:nvPr/>
        </p:nvPicPr>
        <p:blipFill>
          <a:blip r:embed="rId2"/>
          <a:stretch>
            <a:fillRect/>
          </a:stretch>
        </p:blipFill>
        <p:spPr>
          <a:xfrm>
            <a:off x="5623152" y="2866836"/>
            <a:ext cx="945696" cy="1124327"/>
          </a:xfrm>
          <a:prstGeom prst="rect">
            <a:avLst/>
          </a:prstGeom>
        </p:spPr>
      </p:pic>
    </p:spTree>
    <p:extLst>
      <p:ext uri="{BB962C8B-B14F-4D97-AF65-F5344CB8AC3E}">
        <p14:creationId xmlns:p14="http://schemas.microsoft.com/office/powerpoint/2010/main" val="2967837301"/>
      </p:ext>
    </p:extLst>
  </p:cSld>
  <p:clrMapOvr>
    <a:masterClrMapping/>
  </p:clrMapOvr>
</p:sld>
</file>

<file path=ppt/theme/theme1.xml><?xml version="1.0" encoding="utf-8"?>
<a:theme xmlns:a="http://schemas.openxmlformats.org/drawingml/2006/main" name="Custom Design">
  <a:themeElements>
    <a:clrScheme name="SMU Brand">
      <a:dk1>
        <a:srgbClr val="5D5E5D"/>
      </a:dk1>
      <a:lt1>
        <a:srgbClr val="FFFFFF"/>
      </a:lt1>
      <a:dk2>
        <a:srgbClr val="5F0A3E"/>
      </a:dk2>
      <a:lt2>
        <a:srgbClr val="CBCBCB"/>
      </a:lt2>
      <a:accent1>
        <a:srgbClr val="BA1B33"/>
      </a:accent1>
      <a:accent2>
        <a:srgbClr val="8CC645"/>
      </a:accent2>
      <a:accent3>
        <a:srgbClr val="FFE73C"/>
      </a:accent3>
      <a:accent4>
        <a:srgbClr val="FE7024"/>
      </a:accent4>
      <a:accent5>
        <a:srgbClr val="02BADF"/>
      </a:accent5>
      <a:accent6>
        <a:srgbClr val="FFFFFF"/>
      </a:accent6>
      <a:hlink>
        <a:srgbClr val="0563C1"/>
      </a:hlink>
      <a:folHlink>
        <a:srgbClr val="BA1B33"/>
      </a:folHlink>
    </a:clrScheme>
    <a:fontScheme name="Custom 1">
      <a:majorFont>
        <a:latin typeface="Raleway Extrabold"/>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DBFC40F3-7CD4-4529-8B92-DB825C0EA444}" vid="{5FC9822B-9D40-4053-B188-1529CAE1BD01}"/>
    </a:ext>
  </a:extLst>
</a:theme>
</file>

<file path=ppt/theme/theme2.xml><?xml version="1.0" encoding="utf-8"?>
<a:theme xmlns:a="http://schemas.openxmlformats.org/drawingml/2006/main" name="Office Theme">
  <a:themeElements>
    <a:clrScheme name="SMU Brand">
      <a:dk1>
        <a:srgbClr val="5D5E5D"/>
      </a:dk1>
      <a:lt1>
        <a:srgbClr val="FFFFFF"/>
      </a:lt1>
      <a:dk2>
        <a:srgbClr val="5F0A3E"/>
      </a:dk2>
      <a:lt2>
        <a:srgbClr val="CBCBCB"/>
      </a:lt2>
      <a:accent1>
        <a:srgbClr val="BA1B33"/>
      </a:accent1>
      <a:accent2>
        <a:srgbClr val="8CC645"/>
      </a:accent2>
      <a:accent3>
        <a:srgbClr val="FFE73C"/>
      </a:accent3>
      <a:accent4>
        <a:srgbClr val="FE7024"/>
      </a:accent4>
      <a:accent5>
        <a:srgbClr val="02BADF"/>
      </a:accent5>
      <a:accent6>
        <a:srgbClr val="FFFFFF"/>
      </a:accent6>
      <a:hlink>
        <a:srgbClr val="0563C1"/>
      </a:hlink>
      <a:folHlink>
        <a:srgbClr val="BA1B33"/>
      </a:folHlink>
    </a:clrScheme>
    <a:fontScheme name="SMU">
      <a:majorFont>
        <a:latin typeface="Arial Black"/>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DBFC40F3-7CD4-4529-8B92-DB825C0EA444}" vid="{3F13DB48-E3EA-4868-91CC-15C4CB52CDA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ec2d0b7-503f-4434-bd5e-691963e6366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107646D0035FA4C8F1F95DBA74C7670" ma:contentTypeVersion="17" ma:contentTypeDescription="Create a new document." ma:contentTypeScope="" ma:versionID="cf5fc4cdedd07f1462f4c8ec2afe1d1c">
  <xsd:schema xmlns:xsd="http://www.w3.org/2001/XMLSchema" xmlns:xs="http://www.w3.org/2001/XMLSchema" xmlns:p="http://schemas.microsoft.com/office/2006/metadata/properties" xmlns:ns3="9ec2d0b7-503f-4434-bd5e-691963e6366e" xmlns:ns4="a169fe49-86d9-4b9f-a163-9271c3e82536" targetNamespace="http://schemas.microsoft.com/office/2006/metadata/properties" ma:root="true" ma:fieldsID="20a8c7e6184b57429edc59a72a4cddf8" ns3:_="" ns4:_="">
    <xsd:import namespace="9ec2d0b7-503f-4434-bd5e-691963e6366e"/>
    <xsd:import namespace="a169fe49-86d9-4b9f-a163-9271c3e82536"/>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_activity" minOccurs="0"/>
                <xsd:element ref="ns3:MediaServiceObjectDetectorVersions" minOccurs="0"/>
                <xsd:element ref="ns3:MediaServiceGenerationTime" minOccurs="0"/>
                <xsd:element ref="ns3:MediaServiceEventHashCode" minOccurs="0"/>
                <xsd:element ref="ns3:MediaLengthInSeconds" minOccurs="0"/>
                <xsd:element ref="ns3:MediaServiceSearchProperties" minOccurs="0"/>
                <xsd:element ref="ns3:MediaServiceDateTaken" minOccurs="0"/>
                <xsd:element ref="ns3:MediaServiceSystemTags" minOccurs="0"/>
                <xsd:element ref="ns3:MediaServiceLocatio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c2d0b7-503f-4434-bd5e-691963e636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element name="MediaServiceOCR" ma:index="24"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169fe49-86d9-4b9f-a163-9271c3e8253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18E202-7E2C-4F25-B352-1695B79A5E4F}">
  <ds:schemaRefs>
    <ds:schemaRef ds:uri="9ec2d0b7-503f-4434-bd5e-691963e6366e"/>
    <ds:schemaRef ds:uri="a169fe49-86d9-4b9f-a163-9271c3e8253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1CCE7F9-BB03-4D29-A244-C8FCCA2B3E19}">
  <ds:schemaRefs>
    <ds:schemaRef ds:uri="http://schemas.microsoft.com/sharepoint/v3/contenttype/forms"/>
  </ds:schemaRefs>
</ds:datastoreItem>
</file>

<file path=customXml/itemProps3.xml><?xml version="1.0" encoding="utf-8"?>
<ds:datastoreItem xmlns:ds="http://schemas.openxmlformats.org/officeDocument/2006/customXml" ds:itemID="{4A7425D8-505A-4C3E-A58C-BB480D4AEAF5}">
  <ds:schemaRefs>
    <ds:schemaRef ds:uri="9ec2d0b7-503f-4434-bd5e-691963e6366e"/>
    <ds:schemaRef ds:uri="a169fe49-86d9-4b9f-a163-9271c3e8253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SMUPresentationTemplate_FontsEmbedded</Template>
  <TotalTime>1864</TotalTime>
  <Words>3536</Words>
  <Application>Microsoft Office PowerPoint</Application>
  <PresentationFormat>Widescreen</PresentationFormat>
  <Paragraphs>226</Paragraphs>
  <Slides>33</Slides>
  <Notes>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33</vt:i4>
      </vt:variant>
    </vt:vector>
  </HeadingPairs>
  <TitlesOfParts>
    <vt:vector size="38" baseType="lpstr">
      <vt:lpstr>Arial Black</vt:lpstr>
      <vt:lpstr>Calibri</vt:lpstr>
      <vt:lpstr>Arial</vt:lpstr>
      <vt:lpstr>Custom Design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Zhouri</dc:creator>
  <cp:lastModifiedBy>Yilin Huang</cp:lastModifiedBy>
  <cp:revision>35</cp:revision>
  <cp:lastPrinted>2022-03-31T15:24:48Z</cp:lastPrinted>
  <dcterms:created xsi:type="dcterms:W3CDTF">2025-06-19T12:10:18Z</dcterms:created>
  <dcterms:modified xsi:type="dcterms:W3CDTF">2026-01-31T13:38:35Z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0x010100C107646D0035FA4C8F1F95DBA74C7670</vt:lpwstr>
  </property>
</Properties>
</file>