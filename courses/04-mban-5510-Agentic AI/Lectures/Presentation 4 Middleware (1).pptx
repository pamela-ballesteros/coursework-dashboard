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3" r:id="rId4"/>
    <p:sldMasterId id="2147483795" r:id="rId5"/>
  </p:sldMasterIdLst>
  <p:notesMasterIdLst>
    <p:notesMasterId r:id="rId18"/>
  </p:notesMasterIdLst>
  <p:handoutMasterIdLst>
    <p:handoutMasterId r:id="rId19"/>
  </p:handoutMasterIdLst>
  <p:sldIdLst>
    <p:sldId id="290" r:id="rId6"/>
    <p:sldId id="493" r:id="rId7"/>
    <p:sldId id="494" r:id="rId8"/>
    <p:sldId id="495" r:id="rId9"/>
    <p:sldId id="496" r:id="rId10"/>
    <p:sldId id="497" r:id="rId11"/>
    <p:sldId id="498" r:id="rId12"/>
    <p:sldId id="499" r:id="rId13"/>
    <p:sldId id="500" r:id="rId14"/>
    <p:sldId id="501" r:id="rId15"/>
    <p:sldId id="508" r:id="rId16"/>
    <p:sldId id="475" r:id="rId17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4966C77-95E5-1E49-B131-2F9202CDF0C1}">
          <p14:sldIdLst>
            <p14:sldId id="290"/>
          </p14:sldIdLst>
        </p14:section>
        <p14:section name="Presentation" id="{9C487E9F-D4EB-EB42-B385-3CDF030F4242}">
          <p14:sldIdLst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8"/>
            <p14:sldId id="4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83934F-2BC0-1588-E986-F9EF5995AB8B}" name="Margaret Murphy" initials="MM" userId="S::Margaret.Murphy@smu.ca::1c5a68ef-e9f5-4d75-aa17-d402a31635af" providerId="AD"/>
  <p188:author id="{D79F8BE3-B503-55B1-C2C3-4870E081325C}" name="Nadine LaRoche" initials="NL" userId="S::nadine.laroche@smu.ca::c7099506-2b9b-4cb9-a512-27782df0d0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2141"/>
    <a:srgbClr val="BB1B33"/>
    <a:srgbClr val="5F0A3E"/>
    <a:srgbClr val="EEDC00"/>
    <a:srgbClr val="00A2C7"/>
    <a:srgbClr val="72A300"/>
    <a:srgbClr val="FF6A14"/>
    <a:srgbClr val="9D2235"/>
    <a:srgbClr val="911330"/>
    <a:srgbClr val="2B2E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F4323-3BF0-95F4-7460-74AA963041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145D2-7B56-E808-6C80-2F1E66D218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21F4E-852C-4843-848B-65B72FDCC89C}" type="datetimeFigureOut">
              <a:rPr lang="en-CA" smtClean="0"/>
              <a:t>2026-01-16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5F336-B085-CC83-95AF-CE57BE772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9F14A-8744-1B49-D51E-4617ED3F4A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1E18B-2064-4377-9E3F-6D274F9CD1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7306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B6FF8-7EE2-8344-B6A5-C9AE38CA73C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60C5B-9251-0E4E-A71E-273408E7D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5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>
              <a:ea typeface="Calibri"/>
              <a:cs typeface="Calibri"/>
            </a:endParaRP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60C5B-9251-0E4E-A71E-273408E7D9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20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60C5B-9251-0E4E-A71E-273408E7D9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1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F102-3E23-31E2-89B1-6D10E76D6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200">
                <a:solidFill>
                  <a:srgbClr val="5F0A3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CE49A-F308-F906-57BF-301518EDB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2DB8F-3E2D-066F-06A0-BAC3A5124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B2C0-1FD5-7B40-B252-D9944AD0745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529B2-49CA-4E66-3564-88DFBB70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0FC01-E720-407D-5043-01DA8058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0A681-0EFA-2C42-B0CE-6F23BA4C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5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80603A-465B-D048-A17D-E0BC88D932E2}"/>
              </a:ext>
            </a:extLst>
          </p:cNvPr>
          <p:cNvSpPr/>
          <p:nvPr userDrawn="1"/>
        </p:nvSpPr>
        <p:spPr>
          <a:xfrm>
            <a:off x="0" y="0"/>
            <a:ext cx="12192000" cy="5738648"/>
          </a:xfrm>
          <a:prstGeom prst="rect">
            <a:avLst/>
          </a:prstGeom>
          <a:solidFill>
            <a:srgbClr val="61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12141"/>
              </a:solidFill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465B2A5-17AC-534F-998D-982C6FA1F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508" y="6036270"/>
            <a:ext cx="1753043" cy="518506"/>
          </a:xfrm>
          <a:prstGeom prst="rect">
            <a:avLst/>
          </a:prstGeom>
        </p:spPr>
      </p:pic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F779E60D-13A1-644B-A835-FD02D32D6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6182"/>
          <a:stretch/>
        </p:blipFill>
        <p:spPr>
          <a:xfrm>
            <a:off x="0" y="3897246"/>
            <a:ext cx="9553262" cy="28792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38C8071-8435-B248-8CC4-8CC2D6D75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2" y="1794923"/>
            <a:ext cx="9140215" cy="83463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B37785-45C8-AE4A-9166-6D7F52963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942" y="2867819"/>
            <a:ext cx="6088901" cy="46166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664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DC5CD5-7EC1-FE4D-BB82-8485AC698A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1214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FF1A6-E974-CA44-972F-ABD12FC7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81" y="3011685"/>
            <a:ext cx="7546837" cy="83463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2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57030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ub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BFF5A7-AD8A-4F41-AA2A-46D7A544F5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0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3A2FE9-F0FD-3E41-B8AF-2580AE51F1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12302" r="18707" b="20095"/>
          <a:stretch/>
        </p:blipFill>
        <p:spPr>
          <a:xfrm>
            <a:off x="3921800" y="0"/>
            <a:ext cx="8270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EA496E-B445-F84B-9139-A2B6AB2AD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36914"/>
            <a:ext cx="8444948" cy="8063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90654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Page No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6D71-36B5-AC48-9B7E-3F5F53D9D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30" y="729734"/>
            <a:ext cx="10801740" cy="61205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1">
                <a:solidFill>
                  <a:srgbClr val="61214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01B0FE1-4AFD-C544-8ECF-5525E9A58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130" y="1461795"/>
            <a:ext cx="10801740" cy="4570426"/>
          </a:xfrm>
          <a:prstGeom prst="rect">
            <a:avLst/>
          </a:prstGeom>
        </p:spPr>
        <p:txBody>
          <a:bodyPr numCol="2" spcCol="32400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FBB12-2468-DE45-B89E-06D4F1B6B164}"/>
              </a:ext>
            </a:extLst>
          </p:cNvPr>
          <p:cNvSpPr txBox="1"/>
          <p:nvPr userDrawn="1"/>
        </p:nvSpPr>
        <p:spPr>
          <a:xfrm>
            <a:off x="695131" y="6180210"/>
            <a:ext cx="54008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346AF-B9E5-3D40-B164-07D577A9E9D3}" type="slidenum"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1200" b="0" i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D7990E-29A7-E243-9878-BCBFF5F93795}"/>
              </a:ext>
            </a:extLst>
          </p:cNvPr>
          <p:cNvCxnSpPr>
            <a:cxnSpLocks/>
          </p:cNvCxnSpPr>
          <p:nvPr userDrawn="1"/>
        </p:nvCxnSpPr>
        <p:spPr>
          <a:xfrm>
            <a:off x="695130" y="6032231"/>
            <a:ext cx="1079267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84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8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67872F-9363-4A44-B992-C3B401C29392}"/>
              </a:ext>
            </a:extLst>
          </p:cNvPr>
          <p:cNvCxnSpPr>
            <a:cxnSpLocks/>
          </p:cNvCxnSpPr>
          <p:nvPr userDrawn="1"/>
        </p:nvCxnSpPr>
        <p:spPr>
          <a:xfrm>
            <a:off x="695130" y="6032231"/>
            <a:ext cx="1001925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EDB748-6D42-484D-8ADE-3E4D73C16606}"/>
              </a:ext>
            </a:extLst>
          </p:cNvPr>
          <p:cNvSpPr txBox="1"/>
          <p:nvPr userDrawn="1"/>
        </p:nvSpPr>
        <p:spPr>
          <a:xfrm>
            <a:off x="695131" y="6180210"/>
            <a:ext cx="5400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346AF-B9E5-3D40-B164-07D577A9E9D3}" type="slidenum"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200"/>
              <a:t>  </a:t>
            </a:r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8B6913D-03AE-FB44-A58E-48445865D1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9678" y="5733608"/>
            <a:ext cx="608054" cy="72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1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B2C0-1FD5-7B40-B252-D9944AD0745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0A681-0EFA-2C42-B0CE-6F23BA4C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7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0945A27-B44B-1645-BEFC-D48F1644F20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5F0A3E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6110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C78D5-1CB8-9C44-8B83-1D77E61A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1C7A6-6123-AE49-8FEE-51E84EFB1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9391-878F-B548-96DD-19F2AB577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D1B2C0-1FD5-7B40-B252-D9944AD07450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264C-5947-8042-8D2E-76E3B84D0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4ECB-2E5A-594E-92A1-FDA88DD35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C0A681-0EFA-2C42-B0CE-6F23BA4C0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6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5F0A3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D1B2C0-1FD5-7B40-B252-D9944AD07450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C0A681-0EFA-2C42-B0CE-6F23BA4C0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9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15" r:id="rId3"/>
    <p:sldLayoutId id="2147483691" r:id="rId4"/>
    <p:sldLayoutId id="2147483698" r:id="rId5"/>
    <p:sldLayoutId id="2147483802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5F0A3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5F48FE-178E-4C64-DC83-4F466F4B4FA3}"/>
              </a:ext>
            </a:extLst>
          </p:cNvPr>
          <p:cNvSpPr txBox="1"/>
          <p:nvPr/>
        </p:nvSpPr>
        <p:spPr>
          <a:xfrm>
            <a:off x="266700" y="292100"/>
            <a:ext cx="894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</a:rPr>
              <a:t>A</a:t>
            </a:r>
            <a:r>
              <a:rPr lang="en-US" altLang="zh-CN" sz="5400" dirty="0">
                <a:solidFill>
                  <a:schemeClr val="bg1"/>
                </a:solidFill>
              </a:rPr>
              <a:t>gentic AI with LangChain and LangGraph</a:t>
            </a:r>
            <a:endParaRPr lang="en-CA" sz="5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307A8C-E466-3747-C078-FD90497002FB}"/>
              </a:ext>
            </a:extLst>
          </p:cNvPr>
          <p:cNvSpPr txBox="1"/>
          <p:nvPr/>
        </p:nvSpPr>
        <p:spPr>
          <a:xfrm>
            <a:off x="266700" y="4086443"/>
            <a:ext cx="74559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chemeClr val="bg1"/>
                </a:solidFill>
              </a:rPr>
              <a:t>Presentation 4: M</a:t>
            </a:r>
            <a:r>
              <a:rPr lang="en-US" altLang="zh-CN" sz="2800" dirty="0" err="1">
                <a:solidFill>
                  <a:schemeClr val="bg1"/>
                </a:solidFill>
              </a:rPr>
              <a:t>iddleware</a:t>
            </a:r>
            <a:endParaRPr lang="en-CA" sz="2800" dirty="0">
              <a:solidFill>
                <a:schemeClr val="bg1"/>
              </a:solidFill>
            </a:endParaRPr>
          </a:p>
          <a:p>
            <a:r>
              <a:rPr lang="en-CA" sz="2800" dirty="0">
                <a:solidFill>
                  <a:schemeClr val="bg1"/>
                </a:solidFill>
              </a:rPr>
              <a:t>Primary Instructor: Michael Z</a:t>
            </a:r>
          </a:p>
          <a:p>
            <a:r>
              <a:rPr lang="en-CA" sz="2800" dirty="0">
                <a:solidFill>
                  <a:schemeClr val="bg1"/>
                </a:solidFill>
              </a:rPr>
              <a:t>RA: YH</a:t>
            </a:r>
          </a:p>
          <a:p>
            <a:r>
              <a:rPr lang="en-CA" sz="2800" dirty="0">
                <a:solidFill>
                  <a:schemeClr val="bg1"/>
                </a:solidFill>
              </a:rPr>
              <a:t>D</a:t>
            </a:r>
            <a:r>
              <a:rPr lang="en-US" altLang="zh-CN" sz="2800" dirty="0">
                <a:solidFill>
                  <a:schemeClr val="bg1"/>
                </a:solidFill>
              </a:rPr>
              <a:t>ate: 2026.Jan-Feb</a:t>
            </a:r>
            <a:endParaRPr lang="en-CA" sz="2800" dirty="0">
              <a:solidFill>
                <a:schemeClr val="bg1"/>
              </a:solidFill>
            </a:endParaRPr>
          </a:p>
        </p:txBody>
      </p:sp>
      <p:pic>
        <p:nvPicPr>
          <p:cNvPr id="10" name="Picture 2" descr="image">
            <a:extLst>
              <a:ext uri="{FF2B5EF4-FFF2-40B4-BE49-F238E27FC236}">
                <a16:creationId xmlns:a16="http://schemas.microsoft.com/office/drawing/2014/main" id="{42D545FA-5AEF-C972-A456-F5E7408EE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3061001"/>
            <a:ext cx="4889500" cy="266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Michael Zhang (Director, Master of Business Analytics Program)">
            <a:extLst>
              <a:ext uri="{FF2B5EF4-FFF2-40B4-BE49-F238E27FC236}">
                <a16:creationId xmlns:a16="http://schemas.microsoft.com/office/drawing/2014/main" id="{92481207-CC40-55FB-07C1-3EF603487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577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670889-5022-142F-1D9B-D52BA16276A7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0. Middleware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5B0A9014-B5CD-38B1-78B8-777B20196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12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968468-C3B2-5540-9770-86438845BA94}"/>
              </a:ext>
            </a:extLst>
          </p:cNvPr>
          <p:cNvSpPr txBox="1"/>
          <p:nvPr/>
        </p:nvSpPr>
        <p:spPr>
          <a:xfrm>
            <a:off x="0" y="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0.1 Middleware: Middleware is introduced by LangChain, not </a:t>
            </a:r>
            <a:r>
              <a:rPr lang="en-CA" sz="3200" b="1" dirty="0" err="1">
                <a:solidFill>
                  <a:srgbClr val="612141"/>
                </a:solidFill>
              </a:rPr>
              <a:t>ReAct</a:t>
            </a:r>
            <a:r>
              <a:rPr lang="en-CA" sz="3200" b="1" dirty="0">
                <a:solidFill>
                  <a:srgbClr val="612141"/>
                </a:solidFill>
              </a:rPr>
              <a:t>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0DFCD-ABED-B73D-A4A4-23BDF0EE6678}"/>
              </a:ext>
            </a:extLst>
          </p:cNvPr>
          <p:cNvSpPr txBox="1"/>
          <p:nvPr/>
        </p:nvSpPr>
        <p:spPr>
          <a:xfrm>
            <a:off x="0" y="1267485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If you still remember what we discussed previously about </a:t>
            </a:r>
            <a:r>
              <a:rPr lang="en-CA" dirty="0" err="1"/>
              <a:t>ReAct</a:t>
            </a:r>
            <a:r>
              <a:rPr lang="en-CA" dirty="0"/>
              <a:t>, you can notice that </a:t>
            </a:r>
            <a:r>
              <a:rPr lang="en-CA" dirty="0" err="1"/>
              <a:t>ReAct</a:t>
            </a:r>
            <a:r>
              <a:rPr lang="en-CA" dirty="0"/>
              <a:t> has nothing to do with Middleware.</a:t>
            </a:r>
          </a:p>
          <a:p>
            <a:endParaRPr lang="en-CA" dirty="0"/>
          </a:p>
          <a:p>
            <a:r>
              <a:rPr lang="en-CA" dirty="0"/>
              <a:t>Middleware seems to be only available in LangChain and Microsoft Agents framework, so you won’t learn this in other agents building platforms, at the time I was writing this slide (i.e. Dec 30</a:t>
            </a:r>
            <a:r>
              <a:rPr lang="en-CA" baseline="30000" dirty="0"/>
              <a:t>th</a:t>
            </a:r>
            <a:r>
              <a:rPr lang="en-CA" dirty="0"/>
              <a:t>, 2025).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AF15F8-5240-229C-810E-A0DBBEEC6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4813"/>
            <a:ext cx="6258798" cy="2972215"/>
          </a:xfrm>
          <a:prstGeom prst="rect">
            <a:avLst/>
          </a:prstGeom>
        </p:spPr>
      </p:pic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B543F880-151C-2985-EEF9-CA7F0BB93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27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A6FC2-3530-3B61-DE20-689FAFDB1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D6ECF7-35B9-F998-3AE7-971639682663}"/>
              </a:ext>
            </a:extLst>
          </p:cNvPr>
          <p:cNvSpPr txBox="1"/>
          <p:nvPr/>
        </p:nvSpPr>
        <p:spPr>
          <a:xfrm>
            <a:off x="0" y="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0.2 Middleware: Why we should learn Middleware and What does it mean?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D6C90-34A0-2D8E-BF56-190FB6DEF0E2}"/>
              </a:ext>
            </a:extLst>
          </p:cNvPr>
          <p:cNvSpPr txBox="1"/>
          <p:nvPr/>
        </p:nvSpPr>
        <p:spPr>
          <a:xfrm>
            <a:off x="1" y="1082819"/>
            <a:ext cx="5332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Middleware can help you control the agent behavior further than regular configurations.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74C1F-F74A-F513-B8DA-D751FA6FE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7" y="1600382"/>
            <a:ext cx="4123702" cy="4130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8CEFEC-D930-2067-B419-8A763C63F366}"/>
              </a:ext>
            </a:extLst>
          </p:cNvPr>
          <p:cNvSpPr txBox="1"/>
          <p:nvPr/>
        </p:nvSpPr>
        <p:spPr>
          <a:xfrm>
            <a:off x="5934352" y="1209979"/>
            <a:ext cx="627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Let me draw a graph for you to help you understand better.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CDB563-0640-0422-C675-F06DD7823516}"/>
              </a:ext>
            </a:extLst>
          </p:cNvPr>
          <p:cNvSpPr/>
          <p:nvPr/>
        </p:nvSpPr>
        <p:spPr>
          <a:xfrm>
            <a:off x="5917560" y="2383601"/>
            <a:ext cx="3290689" cy="307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8311DD-7518-55AE-FF84-007B36342802}"/>
              </a:ext>
            </a:extLst>
          </p:cNvPr>
          <p:cNvSpPr/>
          <p:nvPr/>
        </p:nvSpPr>
        <p:spPr>
          <a:xfrm>
            <a:off x="7695445" y="3221052"/>
            <a:ext cx="1376127" cy="13399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EB5FA7-A286-4147-63DA-CF87E2E7B437}"/>
              </a:ext>
            </a:extLst>
          </p:cNvPr>
          <p:cNvSpPr txBox="1"/>
          <p:nvPr/>
        </p:nvSpPr>
        <p:spPr>
          <a:xfrm>
            <a:off x="7129847" y="2383601"/>
            <a:ext cx="106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Agent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7CF51D-F3F9-0B5D-400F-51C4BEB740CC}"/>
              </a:ext>
            </a:extLst>
          </p:cNvPr>
          <p:cNvSpPr txBox="1"/>
          <p:nvPr/>
        </p:nvSpPr>
        <p:spPr>
          <a:xfrm>
            <a:off x="7976102" y="3232145"/>
            <a:ext cx="814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Model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351F8F3-62E7-1AD4-3878-B70D3396ED6E}"/>
              </a:ext>
            </a:extLst>
          </p:cNvPr>
          <p:cNvSpPr/>
          <p:nvPr/>
        </p:nvSpPr>
        <p:spPr>
          <a:xfrm>
            <a:off x="6096000" y="3892132"/>
            <a:ext cx="1104523" cy="103209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7A85F-1F8B-229D-A88B-5C82D0E0E613}"/>
              </a:ext>
            </a:extLst>
          </p:cNvPr>
          <p:cNvSpPr txBox="1"/>
          <p:nvPr/>
        </p:nvSpPr>
        <p:spPr>
          <a:xfrm>
            <a:off x="6265243" y="3921124"/>
            <a:ext cx="823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Tools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D4BFE26-C640-4AB7-1BCB-D3F9EF81636E}"/>
              </a:ext>
            </a:extLst>
          </p:cNvPr>
          <p:cNvCxnSpPr>
            <a:cxnSpLocks/>
          </p:cNvCxnSpPr>
          <p:nvPr/>
        </p:nvCxnSpPr>
        <p:spPr>
          <a:xfrm>
            <a:off x="6096000" y="1959527"/>
            <a:ext cx="719752" cy="28602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EF375DB-EB06-5BD7-6C35-488F58FAEAF8}"/>
              </a:ext>
            </a:extLst>
          </p:cNvPr>
          <p:cNvSpPr/>
          <p:nvPr/>
        </p:nvSpPr>
        <p:spPr>
          <a:xfrm>
            <a:off x="6868803" y="2098372"/>
            <a:ext cx="1590396" cy="2360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Before Agent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287E93-3EFE-A8F2-0DE7-D62BCA5B0D0D}"/>
              </a:ext>
            </a:extLst>
          </p:cNvPr>
          <p:cNvSpPr/>
          <p:nvPr/>
        </p:nvSpPr>
        <p:spPr>
          <a:xfrm>
            <a:off x="4653481" y="1821483"/>
            <a:ext cx="137612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Request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40E746-40E5-5428-F3BC-5B8173FE36E2}"/>
              </a:ext>
            </a:extLst>
          </p:cNvPr>
          <p:cNvSpPr/>
          <p:nvPr/>
        </p:nvSpPr>
        <p:spPr>
          <a:xfrm>
            <a:off x="6868803" y="5458648"/>
            <a:ext cx="1514706" cy="3165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After Agent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E6E1E3-1B7F-9342-0F2E-10BBDE7DF3F2}"/>
              </a:ext>
            </a:extLst>
          </p:cNvPr>
          <p:cNvSpPr/>
          <p:nvPr/>
        </p:nvSpPr>
        <p:spPr>
          <a:xfrm>
            <a:off x="7664001" y="2933048"/>
            <a:ext cx="1592094" cy="2745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Before 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E31F90-3064-DDC2-43A4-EF9B792A6F9F}"/>
              </a:ext>
            </a:extLst>
          </p:cNvPr>
          <p:cNvSpPr/>
          <p:nvPr/>
        </p:nvSpPr>
        <p:spPr>
          <a:xfrm>
            <a:off x="7704498" y="4581094"/>
            <a:ext cx="1592094" cy="2745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After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1C46DA-F7BC-4A4D-D9F6-ED319FF69ACD}"/>
              </a:ext>
            </a:extLst>
          </p:cNvPr>
          <p:cNvSpPr/>
          <p:nvPr/>
        </p:nvSpPr>
        <p:spPr>
          <a:xfrm>
            <a:off x="7751614" y="3687322"/>
            <a:ext cx="1263787" cy="2138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>
                <a:solidFill>
                  <a:schemeClr val="tx1">
                    <a:lumMod val="50000"/>
                  </a:schemeClr>
                </a:solidFill>
              </a:rPr>
              <a:t>Wrap Model Call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208949-F745-59A3-77EC-A2273BECAF67}"/>
              </a:ext>
            </a:extLst>
          </p:cNvPr>
          <p:cNvSpPr/>
          <p:nvPr/>
        </p:nvSpPr>
        <p:spPr>
          <a:xfrm>
            <a:off x="6118773" y="4376301"/>
            <a:ext cx="1263787" cy="2138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>
                <a:solidFill>
                  <a:schemeClr val="tx1">
                    <a:lumMod val="50000"/>
                  </a:schemeClr>
                </a:solidFill>
              </a:rPr>
              <a:t>Wrap Tool Call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22B99D-8C2D-3F99-65ED-C60C27DED902}"/>
              </a:ext>
            </a:extLst>
          </p:cNvPr>
          <p:cNvSpPr txBox="1"/>
          <p:nvPr/>
        </p:nvSpPr>
        <p:spPr>
          <a:xfrm>
            <a:off x="9732475" y="2471596"/>
            <a:ext cx="20189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</a:t>
            </a:r>
            <a:r>
              <a:rPr lang="en-CA" dirty="0" err="1"/>
              <a:t>Tbh</a:t>
            </a:r>
            <a:r>
              <a:rPr lang="en-CA" dirty="0"/>
              <a:t>, it’s really hard to position </a:t>
            </a:r>
            <a:r>
              <a:rPr lang="en-CA" dirty="0" err="1"/>
              <a:t>wrap_model_call</a:t>
            </a:r>
            <a:r>
              <a:rPr lang="en-CA" dirty="0"/>
              <a:t> and </a:t>
            </a:r>
            <a:r>
              <a:rPr lang="en-CA" dirty="0" err="1"/>
              <a:t>wrap_tool_call</a:t>
            </a:r>
            <a:r>
              <a:rPr lang="en-CA" dirty="0"/>
              <a:t> 😭)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EA2B1F29-8696-9854-81CD-1860D011B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97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663C47-C1E7-36ED-EC31-81A92295D401}"/>
              </a:ext>
            </a:extLst>
          </p:cNvPr>
          <p:cNvSpPr txBox="1"/>
          <p:nvPr/>
        </p:nvSpPr>
        <p:spPr>
          <a:xfrm>
            <a:off x="0" y="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0.3 Middleware: Your learning outcome is to understand built-in Middleware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4AE62-79C9-49E5-BC46-F24373F3D515}"/>
              </a:ext>
            </a:extLst>
          </p:cNvPr>
          <p:cNvSpPr txBox="1"/>
          <p:nvPr/>
        </p:nvSpPr>
        <p:spPr>
          <a:xfrm>
            <a:off x="0" y="1077218"/>
            <a:ext cx="583948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I think right now you are able to understand Middleware-related content we skipped at last presentation.</a:t>
            </a:r>
          </a:p>
          <a:p>
            <a:endParaRPr lang="en-CA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Also, I assume you are able to read the Built-in middleware section on your own right now.</a:t>
            </a:r>
          </a:p>
          <a:p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I would go over some (or all) built-in middleware with you (I would jump to LangChain docs website. What’s more, LangChain provides video tutorials and feel free to watch if you like!)</a:t>
            </a:r>
          </a:p>
          <a:p>
            <a:endParaRPr lang="en-CA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By the way, when preparing this slide, I noticed there are some issues in the documents of built-in Middleware, so I proposed a fix to LangChain, and they approved then merged my fix.</a:t>
            </a:r>
          </a:p>
          <a:p>
            <a:endParaRPr lang="en-CA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CA" sz="2400" b="1" u="sng" dirty="0">
                <a:solidFill>
                  <a:schemeClr val="tx1">
                    <a:lumMod val="50000"/>
                  </a:schemeClr>
                </a:solidFill>
              </a:rPr>
              <a:t>But my fix has a typo, can you point it out?</a:t>
            </a:r>
          </a:p>
          <a:p>
            <a:r>
              <a:rPr lang="en-CA" dirty="0">
                <a:solidFill>
                  <a:schemeClr val="tx1">
                    <a:lumMod val="50000"/>
                  </a:schemeClr>
                </a:solidFill>
              </a:rPr>
              <a:t>I think Michael would provide bonus to you for doing this.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2CE4C-99A1-164A-BC36-94535F6F3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722" y="856556"/>
            <a:ext cx="6178278" cy="3054541"/>
          </a:xfrm>
          <a:prstGeom prst="rect">
            <a:avLst/>
          </a:prstGeom>
        </p:spPr>
      </p:pic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89888B3A-DC81-8F9B-2ED3-969290B94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11493" y="5523606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95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95215-47B5-347A-D509-F186A8072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016" y="2191402"/>
            <a:ext cx="7911966" cy="37109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B10625-E5D5-4837-6728-D525456E01B8}"/>
              </a:ext>
            </a:extLst>
          </p:cNvPr>
          <p:cNvSpPr txBox="1"/>
          <p:nvPr/>
        </p:nvSpPr>
        <p:spPr>
          <a:xfrm>
            <a:off x="0" y="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0.4 Middleware: Some Middleware are optimized for some vendors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7B31D-1500-CD5C-A627-0A92E08FF285}"/>
              </a:ext>
            </a:extLst>
          </p:cNvPr>
          <p:cNvSpPr txBox="1"/>
          <p:nvPr/>
        </p:nvSpPr>
        <p:spPr>
          <a:xfrm>
            <a:off x="4089132" y="1386037"/>
            <a:ext cx="4013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Good to know…</a:t>
            </a:r>
          </a:p>
        </p:txBody>
      </p:sp>
      <p:pic>
        <p:nvPicPr>
          <p:cNvPr id="2" name="Picture 1" descr="Michael Zhang (Director, Master of Business Analytics Program)">
            <a:extLst>
              <a:ext uri="{FF2B5EF4-FFF2-40B4-BE49-F238E27FC236}">
                <a16:creationId xmlns:a16="http://schemas.microsoft.com/office/drawing/2014/main" id="{51579D85-1D26-5C68-29CF-E3617E6A5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121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771637-CFF0-55DF-FC09-B928C5906B99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1. Custom Middleware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641CFD3D-BDBB-080D-1025-828B71561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081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09756-0E2B-ED24-77D3-81B2B8A4CDD1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1.1 Custom Middleware: Read their examples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23F90-0322-9925-389A-484C65C52AC5}"/>
              </a:ext>
            </a:extLst>
          </p:cNvPr>
          <p:cNvSpPr txBox="1"/>
          <p:nvPr/>
        </p:nvSpPr>
        <p:spPr>
          <a:xfrm>
            <a:off x="1254492" y="919737"/>
            <a:ext cx="9683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Control agent’s behavior in a way you like. You could control almost everything to meet your, or your employer’s needs.</a:t>
            </a:r>
          </a:p>
          <a:p>
            <a:endParaRPr lang="en-CA" dirty="0"/>
          </a:p>
          <a:p>
            <a:r>
              <a:rPr lang="en-CA" dirty="0"/>
              <a:t>Read their examples to be comfortable with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F870F-0A36-AF44-62F3-2EA4DEDCE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756" y="2825857"/>
            <a:ext cx="3930486" cy="2502615"/>
          </a:xfrm>
          <a:prstGeom prst="rect">
            <a:avLst/>
          </a:prstGeom>
        </p:spPr>
      </p:pic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D465645E-78D3-D4FC-B8A9-50AB3E9B4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44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06BC1A-339F-7F69-59CE-21E5E22B4D07}"/>
              </a:ext>
            </a:extLst>
          </p:cNvPr>
          <p:cNvSpPr txBox="1"/>
          <p:nvPr/>
        </p:nvSpPr>
        <p:spPr>
          <a:xfrm>
            <a:off x="0" y="0"/>
            <a:ext cx="8392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1.2 Custom Middleware: Execution Order</a:t>
            </a:r>
          </a:p>
        </p:txBody>
      </p:sp>
      <p:pic>
        <p:nvPicPr>
          <p:cNvPr id="1026" name="Picture 2" descr="How To Choose The Right Onion For Every Recipe">
            <a:extLst>
              <a:ext uri="{FF2B5EF4-FFF2-40B4-BE49-F238E27FC236}">
                <a16:creationId xmlns:a16="http://schemas.microsoft.com/office/drawing/2014/main" id="{AACC2E95-41AA-D430-3D16-622C86599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29" y="1796111"/>
            <a:ext cx="3757189" cy="375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E54767-0E7D-620F-4C58-DBAA70D42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870" y="584775"/>
            <a:ext cx="4543901" cy="5722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914C71-2098-099F-4EA0-EBEF434FB96E}"/>
              </a:ext>
            </a:extLst>
          </p:cNvPr>
          <p:cNvSpPr txBox="1"/>
          <p:nvPr/>
        </p:nvSpPr>
        <p:spPr>
          <a:xfrm>
            <a:off x="0" y="601284"/>
            <a:ext cx="5532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Order of middleware being passed in matters.</a:t>
            </a:r>
          </a:p>
          <a:p>
            <a:endParaRPr lang="en-CA" dirty="0"/>
          </a:p>
          <a:p>
            <a:r>
              <a:rPr lang="en-CA" dirty="0"/>
              <a:t>These rules remind me of structure of Onion………</a:t>
            </a:r>
          </a:p>
          <a:p>
            <a:r>
              <a:rPr lang="en-CA" dirty="0"/>
              <a:t>Hope it helps you understand!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68ABDB3-7086-1E90-667A-6589970F2814}"/>
              </a:ext>
            </a:extLst>
          </p:cNvPr>
          <p:cNvSpPr/>
          <p:nvPr/>
        </p:nvSpPr>
        <p:spPr>
          <a:xfrm>
            <a:off x="6096000" y="2062680"/>
            <a:ext cx="1343870" cy="308987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D6B82AF-6CDD-D4CB-3D67-5AC97C7D8FDD}"/>
              </a:ext>
            </a:extLst>
          </p:cNvPr>
          <p:cNvSpPr/>
          <p:nvPr/>
        </p:nvSpPr>
        <p:spPr>
          <a:xfrm>
            <a:off x="6082889" y="3002147"/>
            <a:ext cx="1343870" cy="308987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8D13648-307F-1552-7BD2-03812788F0FA}"/>
              </a:ext>
            </a:extLst>
          </p:cNvPr>
          <p:cNvSpPr/>
          <p:nvPr/>
        </p:nvSpPr>
        <p:spPr>
          <a:xfrm>
            <a:off x="6082889" y="5057869"/>
            <a:ext cx="1343870" cy="308987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CE2DFB5-9785-CDAC-9617-69C5438932F1}"/>
              </a:ext>
            </a:extLst>
          </p:cNvPr>
          <p:cNvSpPr/>
          <p:nvPr/>
        </p:nvSpPr>
        <p:spPr>
          <a:xfrm>
            <a:off x="6096000" y="5998320"/>
            <a:ext cx="1343870" cy="308988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BDF24C4-33CF-3A0D-004C-DD6263EB8D76}"/>
              </a:ext>
            </a:extLst>
          </p:cNvPr>
          <p:cNvSpPr/>
          <p:nvPr/>
        </p:nvSpPr>
        <p:spPr>
          <a:xfrm>
            <a:off x="6096000" y="2256514"/>
            <a:ext cx="1343870" cy="308987"/>
          </a:xfrm>
          <a:prstGeom prst="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F73203E-EB47-C9E6-25B5-F80E20A20FB4}"/>
              </a:ext>
            </a:extLst>
          </p:cNvPr>
          <p:cNvSpPr/>
          <p:nvPr/>
        </p:nvSpPr>
        <p:spPr>
          <a:xfrm>
            <a:off x="6082889" y="3245084"/>
            <a:ext cx="1343870" cy="308987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2AC3118-9A57-F239-7EF7-C0DA098FA3F7}"/>
              </a:ext>
            </a:extLst>
          </p:cNvPr>
          <p:cNvSpPr/>
          <p:nvPr/>
        </p:nvSpPr>
        <p:spPr>
          <a:xfrm>
            <a:off x="6082889" y="4816041"/>
            <a:ext cx="1343870" cy="308987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9EF722F-F1D1-4FFA-8920-195D144D6659}"/>
              </a:ext>
            </a:extLst>
          </p:cNvPr>
          <p:cNvSpPr/>
          <p:nvPr/>
        </p:nvSpPr>
        <p:spPr>
          <a:xfrm>
            <a:off x="6082889" y="5759852"/>
            <a:ext cx="1343870" cy="308987"/>
          </a:xfrm>
          <a:prstGeom prst="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B141F81-2D2C-3AE4-585A-D7122BE8374E}"/>
              </a:ext>
            </a:extLst>
          </p:cNvPr>
          <p:cNvSpPr/>
          <p:nvPr/>
        </p:nvSpPr>
        <p:spPr>
          <a:xfrm>
            <a:off x="6096000" y="2455641"/>
            <a:ext cx="1343870" cy="308987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3D9F03D-1612-2036-477C-812FF7FB324F}"/>
              </a:ext>
            </a:extLst>
          </p:cNvPr>
          <p:cNvSpPr/>
          <p:nvPr/>
        </p:nvSpPr>
        <p:spPr>
          <a:xfrm>
            <a:off x="6096000" y="3422547"/>
            <a:ext cx="1343870" cy="308987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70BE193-9B88-87EF-F72F-D9A6EBE0135C}"/>
              </a:ext>
            </a:extLst>
          </p:cNvPr>
          <p:cNvSpPr/>
          <p:nvPr/>
        </p:nvSpPr>
        <p:spPr>
          <a:xfrm>
            <a:off x="6082889" y="5553300"/>
            <a:ext cx="1343870" cy="308987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7608E30-7C33-15AA-43A7-2D643508A864}"/>
              </a:ext>
            </a:extLst>
          </p:cNvPr>
          <p:cNvSpPr/>
          <p:nvPr/>
        </p:nvSpPr>
        <p:spPr>
          <a:xfrm>
            <a:off x="6089445" y="4648890"/>
            <a:ext cx="1343870" cy="308987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3E5E6518-AA36-9DDA-17CD-14AE01665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82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4F43FF-4CE5-FAD1-DA39-BE98EAFFA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4" y="1847163"/>
            <a:ext cx="5768248" cy="36921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397EC4-51B7-09C0-43B9-D9F8E25081A3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1.2 Custom Middleware: </a:t>
            </a:r>
            <a:r>
              <a:rPr lang="en-CA" sz="3200" b="1" dirty="0" err="1">
                <a:solidFill>
                  <a:srgbClr val="612141"/>
                </a:solidFill>
              </a:rPr>
              <a:t>Advi</a:t>
            </a:r>
            <a:r>
              <a:rPr lang="en-US" altLang="zh-CN" sz="3200" b="1" dirty="0" err="1">
                <a:solidFill>
                  <a:srgbClr val="612141"/>
                </a:solidFill>
              </a:rPr>
              <a:t>ce</a:t>
            </a:r>
            <a:r>
              <a:rPr lang="en-CA" sz="3200" b="1" dirty="0">
                <a:solidFill>
                  <a:srgbClr val="612141"/>
                </a:solidFill>
              </a:rPr>
              <a:t> when playing with Middleware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1920A-5ADC-9E86-BEC1-28555D4C0FA9}"/>
              </a:ext>
            </a:extLst>
          </p:cNvPr>
          <p:cNvSpPr txBox="1"/>
          <p:nvPr/>
        </p:nvSpPr>
        <p:spPr>
          <a:xfrm>
            <a:off x="526674" y="1318661"/>
            <a:ext cx="7238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conclusion, make sure you understand what you are doing!</a:t>
            </a:r>
          </a:p>
        </p:txBody>
      </p:sp>
      <p:pic>
        <p:nvPicPr>
          <p:cNvPr id="2" name="Picture 1" descr="Michael Zhang (Director, Master of Business Analytics Program)">
            <a:extLst>
              <a:ext uri="{FF2B5EF4-FFF2-40B4-BE49-F238E27FC236}">
                <a16:creationId xmlns:a16="http://schemas.microsoft.com/office/drawing/2014/main" id="{E8EFEE95-B924-FAC2-307A-42476C554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852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8C887-52A8-8D1B-FC1D-A269A29E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91AAD-F3DA-315C-89CA-20C2B308AD1E}"/>
              </a:ext>
            </a:extLst>
          </p:cNvPr>
          <p:cNvSpPr txBox="1"/>
          <p:nvPr/>
        </p:nvSpPr>
        <p:spPr>
          <a:xfrm>
            <a:off x="1054100" y="1460500"/>
            <a:ext cx="1008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b="1" dirty="0">
                <a:solidFill>
                  <a:srgbClr val="612141"/>
                </a:solidFill>
              </a:rPr>
              <a:t>Thank you for your paged attention!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87A3E-C9F4-9124-2DC9-C504113FA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587" y="2501130"/>
            <a:ext cx="8754826" cy="1855739"/>
          </a:xfrm>
          <a:prstGeom prst="rect">
            <a:avLst/>
          </a:prstGeom>
        </p:spPr>
      </p:pic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5D6B99CF-2AF3-5A59-E6D9-33B550834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49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C3A96417-83DB-5245-B67B-F06AC312B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152" y="2866836"/>
            <a:ext cx="945696" cy="112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373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MU Brand">
      <a:dk1>
        <a:srgbClr val="5D5E5D"/>
      </a:dk1>
      <a:lt1>
        <a:srgbClr val="FFFFFF"/>
      </a:lt1>
      <a:dk2>
        <a:srgbClr val="5F0A3E"/>
      </a:dk2>
      <a:lt2>
        <a:srgbClr val="CBCBCB"/>
      </a:lt2>
      <a:accent1>
        <a:srgbClr val="BA1B33"/>
      </a:accent1>
      <a:accent2>
        <a:srgbClr val="8CC645"/>
      </a:accent2>
      <a:accent3>
        <a:srgbClr val="FFE73C"/>
      </a:accent3>
      <a:accent4>
        <a:srgbClr val="FE7024"/>
      </a:accent4>
      <a:accent5>
        <a:srgbClr val="02BADF"/>
      </a:accent5>
      <a:accent6>
        <a:srgbClr val="FFFFFF"/>
      </a:accent6>
      <a:hlink>
        <a:srgbClr val="0563C1"/>
      </a:hlink>
      <a:folHlink>
        <a:srgbClr val="BA1B33"/>
      </a:folHlink>
    </a:clrScheme>
    <a:fontScheme name="Custom 1">
      <a:majorFont>
        <a:latin typeface="Raleway Extrabold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FC40F3-7CD4-4529-8B92-DB825C0EA444}" vid="{5FC9822B-9D40-4053-B188-1529CAE1BD01}"/>
    </a:ext>
  </a:extLst>
</a:theme>
</file>

<file path=ppt/theme/theme2.xml><?xml version="1.0" encoding="utf-8"?>
<a:theme xmlns:a="http://schemas.openxmlformats.org/drawingml/2006/main" name="Office Theme">
  <a:themeElements>
    <a:clrScheme name="SMU Brand">
      <a:dk1>
        <a:srgbClr val="5D5E5D"/>
      </a:dk1>
      <a:lt1>
        <a:srgbClr val="FFFFFF"/>
      </a:lt1>
      <a:dk2>
        <a:srgbClr val="5F0A3E"/>
      </a:dk2>
      <a:lt2>
        <a:srgbClr val="CBCBCB"/>
      </a:lt2>
      <a:accent1>
        <a:srgbClr val="BA1B33"/>
      </a:accent1>
      <a:accent2>
        <a:srgbClr val="8CC645"/>
      </a:accent2>
      <a:accent3>
        <a:srgbClr val="FFE73C"/>
      </a:accent3>
      <a:accent4>
        <a:srgbClr val="FE7024"/>
      </a:accent4>
      <a:accent5>
        <a:srgbClr val="02BADF"/>
      </a:accent5>
      <a:accent6>
        <a:srgbClr val="FFFFFF"/>
      </a:accent6>
      <a:hlink>
        <a:srgbClr val="0563C1"/>
      </a:hlink>
      <a:folHlink>
        <a:srgbClr val="BA1B33"/>
      </a:folHlink>
    </a:clrScheme>
    <a:fontScheme name="SMU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FC40F3-7CD4-4529-8B92-DB825C0EA444}" vid="{3F13DB48-E3EA-4868-91CC-15C4CB52CD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07646D0035FA4C8F1F95DBA74C7670" ma:contentTypeVersion="17" ma:contentTypeDescription="Create a new document." ma:contentTypeScope="" ma:versionID="cf5fc4cdedd07f1462f4c8ec2afe1d1c">
  <xsd:schema xmlns:xsd="http://www.w3.org/2001/XMLSchema" xmlns:xs="http://www.w3.org/2001/XMLSchema" xmlns:p="http://schemas.microsoft.com/office/2006/metadata/properties" xmlns:ns3="9ec2d0b7-503f-4434-bd5e-691963e6366e" xmlns:ns4="a169fe49-86d9-4b9f-a163-9271c3e82536" targetNamespace="http://schemas.microsoft.com/office/2006/metadata/properties" ma:root="true" ma:fieldsID="20a8c7e6184b57429edc59a72a4cddf8" ns3:_="" ns4:_="">
    <xsd:import namespace="9ec2d0b7-503f-4434-bd5e-691963e6366e"/>
    <xsd:import namespace="a169fe49-86d9-4b9f-a163-9271c3e825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2d0b7-503f-4434-bd5e-691963e636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69fe49-86d9-4b9f-a163-9271c3e8253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c2d0b7-503f-4434-bd5e-691963e6366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7425D8-505A-4C3E-A58C-BB480D4AEAF5}">
  <ds:schemaRefs>
    <ds:schemaRef ds:uri="9ec2d0b7-503f-4434-bd5e-691963e6366e"/>
    <ds:schemaRef ds:uri="a169fe49-86d9-4b9f-a163-9271c3e825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18E202-7E2C-4F25-B352-1695B79A5E4F}">
  <ds:schemaRefs>
    <ds:schemaRef ds:uri="9ec2d0b7-503f-4434-bd5e-691963e6366e"/>
    <ds:schemaRef ds:uri="a169fe49-86d9-4b9f-a163-9271c3e825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1CCE7F9-BB03-4D29-A244-C8FCCA2B3E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SMUPresentationTemplate_FontsEmbedded</Template>
  <TotalTime>892</TotalTime>
  <Words>450</Words>
  <Application>Microsoft Office PowerPoint</Application>
  <PresentationFormat>Widescreen</PresentationFormat>
  <Paragraphs>51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Custom Design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Zhouri</dc:creator>
  <cp:lastModifiedBy>Yilin Huang</cp:lastModifiedBy>
  <cp:revision>31</cp:revision>
  <cp:lastPrinted>2022-03-31T15:24:48Z</cp:lastPrinted>
  <dcterms:created xsi:type="dcterms:W3CDTF">2025-06-19T12:10:18Z</dcterms:created>
  <dcterms:modified xsi:type="dcterms:W3CDTF">2026-01-17T00:46:43Z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0x010100C107646D0035FA4C8F1F95DBA74C7670</vt:lpwstr>
  </property>
</Properties>
</file>