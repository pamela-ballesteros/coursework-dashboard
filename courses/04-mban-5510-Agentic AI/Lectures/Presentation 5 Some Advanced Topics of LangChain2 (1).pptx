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73" r:id="rId4"/>
    <p:sldMasterId id="2147483795" r:id="rId5"/>
  </p:sldMasterIdLst>
  <p:notesMasterIdLst>
    <p:notesMasterId r:id="rId33"/>
  </p:notesMasterIdLst>
  <p:handoutMasterIdLst>
    <p:handoutMasterId r:id="rId34"/>
  </p:handoutMasterIdLst>
  <p:sldIdLst>
    <p:sldId id="290" r:id="rId6"/>
    <p:sldId id="493" r:id="rId7"/>
    <p:sldId id="495" r:id="rId8"/>
    <p:sldId id="494" r:id="rId9"/>
    <p:sldId id="496" r:id="rId10"/>
    <p:sldId id="497" r:id="rId11"/>
    <p:sldId id="498" r:id="rId12"/>
    <p:sldId id="499" r:id="rId13"/>
    <p:sldId id="500" r:id="rId14"/>
    <p:sldId id="501" r:id="rId15"/>
    <p:sldId id="513" r:id="rId16"/>
    <p:sldId id="515" r:id="rId17"/>
    <p:sldId id="502" r:id="rId18"/>
    <p:sldId id="517" r:id="rId19"/>
    <p:sldId id="503" r:id="rId20"/>
    <p:sldId id="514" r:id="rId21"/>
    <p:sldId id="504" r:id="rId22"/>
    <p:sldId id="505" r:id="rId23"/>
    <p:sldId id="506" r:id="rId24"/>
    <p:sldId id="507" r:id="rId25"/>
    <p:sldId id="508" r:id="rId26"/>
    <p:sldId id="510" r:id="rId27"/>
    <p:sldId id="511" r:id="rId28"/>
    <p:sldId id="512" r:id="rId29"/>
    <p:sldId id="516" r:id="rId30"/>
    <p:sldId id="509" r:id="rId31"/>
    <p:sldId id="475" r:id="rId32"/>
  </p:sldIdLst>
  <p:sldSz cx="12192000" cy="6858000"/>
  <p:notesSz cx="6858000" cy="9144000"/>
  <p:embeddedFontLst>
    <p:embeddedFont>
      <p:font typeface="Arial Black" panose="020B0A04020102020204" pitchFamily="34" charset="0"/>
      <p:bold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14966C77-95E5-1E49-B131-2F9202CDF0C1}">
          <p14:sldIdLst>
            <p14:sldId id="290"/>
          </p14:sldIdLst>
        </p14:section>
        <p14:section name="Presentation" id="{9C487E9F-D4EB-EB42-B385-3CDF030F4242}">
          <p14:sldIdLst>
            <p14:sldId id="493"/>
            <p14:sldId id="495"/>
            <p14:sldId id="494"/>
            <p14:sldId id="496"/>
            <p14:sldId id="497"/>
            <p14:sldId id="498"/>
            <p14:sldId id="499"/>
            <p14:sldId id="500"/>
            <p14:sldId id="501"/>
            <p14:sldId id="513"/>
            <p14:sldId id="515"/>
            <p14:sldId id="502"/>
            <p14:sldId id="517"/>
            <p14:sldId id="503"/>
            <p14:sldId id="514"/>
            <p14:sldId id="504"/>
            <p14:sldId id="505"/>
            <p14:sldId id="506"/>
            <p14:sldId id="507"/>
            <p14:sldId id="508"/>
            <p14:sldId id="510"/>
            <p14:sldId id="511"/>
            <p14:sldId id="512"/>
            <p14:sldId id="516"/>
            <p14:sldId id="509"/>
            <p14:sldId id="47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A83934F-2BC0-1588-E986-F9EF5995AB8B}" name="Margaret Murphy" initials="MM" userId="S::Margaret.Murphy@smu.ca::1c5a68ef-e9f5-4d75-aa17-d402a31635af" providerId="AD"/>
  <p188:author id="{D79F8BE3-B503-55B1-C2C3-4870E081325C}" name="Nadine LaRoche" initials="NL" userId="S::nadine.laroche@smu.ca::c7099506-2b9b-4cb9-a512-27782df0d03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2141"/>
    <a:srgbClr val="BB1B33"/>
    <a:srgbClr val="5F0A3E"/>
    <a:srgbClr val="EEDC00"/>
    <a:srgbClr val="00A2C7"/>
    <a:srgbClr val="72A300"/>
    <a:srgbClr val="FF6A14"/>
    <a:srgbClr val="9D2235"/>
    <a:srgbClr val="911330"/>
    <a:srgbClr val="2B2E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8" autoAdjust="0"/>
    <p:restoredTop sz="94663"/>
  </p:normalViewPr>
  <p:slideViewPr>
    <p:cSldViewPr snapToGrid="0">
      <p:cViewPr varScale="1">
        <p:scale>
          <a:sx n="106" d="100"/>
          <a:sy n="106" d="100"/>
        </p:scale>
        <p:origin x="10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ableStyles" Target="tableStyles.xml"/><Relationship Id="rId21" Type="http://schemas.openxmlformats.org/officeDocument/2006/relationships/slide" Target="slides/slide16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viewProps" Target="viewProps.xml"/><Relationship Id="rId40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font" Target="fonts/font1.fntdata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DF4323-3BF0-95F4-7460-74AA9630418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7145D2-7B56-E808-6C80-2F1E66D2188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21F4E-852C-4843-848B-65B72FDCC89C}" type="datetimeFigureOut">
              <a:rPr lang="en-CA" smtClean="0"/>
              <a:t>2026-02-06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E5F336-B085-CC83-95AF-CE57BE7728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9F14A-8744-1B49-D51E-4617ED3F4A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51E18B-2064-4377-9E3F-6D274F9CD1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73060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B6FF8-7EE2-8344-B6A5-C9AE38CA73C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F60C5B-9251-0E4E-A71E-273408E7D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65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>
              <a:ea typeface="Calibri"/>
              <a:cs typeface="Calibri"/>
            </a:endParaRPr>
          </a:p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60C5B-9251-0E4E-A71E-273408E7D99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520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60C5B-9251-0E4E-A71E-273408E7D99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015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BF102-3E23-31E2-89B1-6D10E76D6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200">
                <a:solidFill>
                  <a:srgbClr val="5F0A3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0CE49A-F308-F906-57BF-301518EDB3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2DB8F-3E2D-066F-06A0-BAC3A5124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1B2C0-1FD5-7B40-B252-D9944AD07450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529B2-49CA-4E66-3564-88DFBB70E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0FC01-E720-407D-5043-01DA80588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0A681-0EFA-2C42-B0CE-6F23BA4C0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852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80603A-465B-D048-A17D-E0BC88D932E2}"/>
              </a:ext>
            </a:extLst>
          </p:cNvPr>
          <p:cNvSpPr/>
          <p:nvPr userDrawn="1"/>
        </p:nvSpPr>
        <p:spPr>
          <a:xfrm>
            <a:off x="0" y="0"/>
            <a:ext cx="12192000" cy="5738648"/>
          </a:xfrm>
          <a:prstGeom prst="rect">
            <a:avLst/>
          </a:prstGeom>
          <a:solidFill>
            <a:srgbClr val="612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12141"/>
              </a:solidFill>
            </a:endParaRPr>
          </a:p>
        </p:txBody>
      </p:sp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7465B2A5-17AC-534F-998D-982C6FA1F4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90508" y="6036270"/>
            <a:ext cx="1753043" cy="518506"/>
          </a:xfrm>
          <a:prstGeom prst="rect">
            <a:avLst/>
          </a:prstGeom>
        </p:spPr>
      </p:pic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F779E60D-13A1-644B-A835-FD02D32D66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6182"/>
          <a:stretch/>
        </p:blipFill>
        <p:spPr>
          <a:xfrm>
            <a:off x="0" y="3897246"/>
            <a:ext cx="9553262" cy="287929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38C8071-8435-B248-8CC4-8CC2D6D75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942" y="1794923"/>
            <a:ext cx="9140215" cy="83463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200" b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B37785-45C8-AE4A-9166-6D7F52963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7942" y="2867819"/>
            <a:ext cx="6088901" cy="461666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56643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DC5CD5-7EC1-FE4D-BB82-8485AC698AC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1214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3FF1A6-E974-CA44-972F-ABD12FC73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2581" y="3011685"/>
            <a:ext cx="7546837" cy="83463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200" b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3570308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ub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DBFF5A7-AD8A-4F41-AA2A-46D7A544F5F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F0A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3A2FE9-F0FD-3E41-B8AF-2580AE51F1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t="12302" r="18707" b="20095"/>
          <a:stretch/>
        </p:blipFill>
        <p:spPr>
          <a:xfrm>
            <a:off x="3921800" y="0"/>
            <a:ext cx="8270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EA496E-B445-F84B-9139-A2B6AB2ADA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136914"/>
            <a:ext cx="8444948" cy="8063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906543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Full Page No Cr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A6D71-36B5-AC48-9B7E-3F5F53D9D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130" y="729734"/>
            <a:ext cx="10801740" cy="61205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 b="1">
                <a:solidFill>
                  <a:srgbClr val="61214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01B0FE1-4AFD-C544-8ECF-5525E9A58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5130" y="1461795"/>
            <a:ext cx="10801740" cy="4570426"/>
          </a:xfrm>
          <a:prstGeom prst="rect">
            <a:avLst/>
          </a:prstGeom>
        </p:spPr>
        <p:txBody>
          <a:bodyPr numCol="2" spcCol="32400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spcAft>
                <a:spcPts val="600"/>
              </a:spcAft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3FBB12-2468-DE45-B89E-06D4F1B6B164}"/>
              </a:ext>
            </a:extLst>
          </p:cNvPr>
          <p:cNvSpPr txBox="1"/>
          <p:nvPr userDrawn="1"/>
        </p:nvSpPr>
        <p:spPr>
          <a:xfrm>
            <a:off x="695131" y="6180210"/>
            <a:ext cx="54008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346AF-B9E5-3D40-B164-07D577A9E9D3}" type="slidenum">
              <a:rPr lang="en-US" sz="12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1200" b="0" i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3D7990E-29A7-E243-9878-BCBFF5F93795}"/>
              </a:ext>
            </a:extLst>
          </p:cNvPr>
          <p:cNvCxnSpPr>
            <a:cxnSpLocks/>
          </p:cNvCxnSpPr>
          <p:nvPr userDrawn="1"/>
        </p:nvCxnSpPr>
        <p:spPr>
          <a:xfrm>
            <a:off x="695130" y="6032231"/>
            <a:ext cx="10792677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849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8_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767872F-9363-4A44-B992-C3B401C29392}"/>
              </a:ext>
            </a:extLst>
          </p:cNvPr>
          <p:cNvCxnSpPr>
            <a:cxnSpLocks/>
          </p:cNvCxnSpPr>
          <p:nvPr userDrawn="1"/>
        </p:nvCxnSpPr>
        <p:spPr>
          <a:xfrm>
            <a:off x="695130" y="6032231"/>
            <a:ext cx="10019253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FEDB748-6D42-484D-8ADE-3E4D73C16606}"/>
              </a:ext>
            </a:extLst>
          </p:cNvPr>
          <p:cNvSpPr txBox="1"/>
          <p:nvPr userDrawn="1"/>
        </p:nvSpPr>
        <p:spPr>
          <a:xfrm>
            <a:off x="695131" y="6180210"/>
            <a:ext cx="5400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346AF-B9E5-3D40-B164-07D577A9E9D3}" type="slidenum">
              <a:rPr lang="en-US" sz="12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1200"/>
              <a:t>  </a:t>
            </a:r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F8B6913D-03AE-FB44-A58E-48445865D1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39678" y="5733608"/>
            <a:ext cx="608054" cy="722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31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1B2C0-1FD5-7B40-B252-D9944AD07450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0A681-0EFA-2C42-B0CE-6F23BA4C0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578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0945A27-B44B-1645-BEFC-D48F1644F20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rgbClr val="5F0A3E"/>
                </a:solidFill>
                <a:latin typeface="Arial Black" panose="020B0A040201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161104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DC78D5-1CB8-9C44-8B83-1D77E61AE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1C7A6-6123-AE49-8FEE-51E84EFB1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19391-878F-B548-96DD-19F2AB577F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3D1B2C0-1FD5-7B40-B252-D9944AD07450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4264C-5947-8042-8D2E-76E3B84D0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B4ECB-2E5A-594E-92A1-FDA88DD35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DC0A681-0EFA-2C42-B0CE-6F23BA4C0A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66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5F0A3E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3D1B2C0-1FD5-7B40-B252-D9944AD07450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DC0A681-0EFA-2C42-B0CE-6F23BA4C0A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194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15" r:id="rId3"/>
    <p:sldLayoutId id="2147483691" r:id="rId4"/>
    <p:sldLayoutId id="2147483698" r:id="rId5"/>
    <p:sldLayoutId id="2147483802" r:id="rId6"/>
    <p:sldLayoutId id="214748368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5F0A3E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jpe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jpeg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EDC54BA-5C04-BC5A-A402-44B44E2AB97A}"/>
              </a:ext>
            </a:extLst>
          </p:cNvPr>
          <p:cNvSpPr txBox="1"/>
          <p:nvPr/>
        </p:nvSpPr>
        <p:spPr>
          <a:xfrm>
            <a:off x="266700" y="3655556"/>
            <a:ext cx="761886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solidFill>
                  <a:schemeClr val="bg1"/>
                </a:solidFill>
              </a:rPr>
              <a:t>Presentation 5: Some</a:t>
            </a:r>
            <a:r>
              <a:rPr lang="zh-CN" altLang="en-US" sz="2800" dirty="0">
                <a:solidFill>
                  <a:schemeClr val="bg1"/>
                </a:solidFill>
              </a:rPr>
              <a:t> </a:t>
            </a:r>
            <a:r>
              <a:rPr lang="en-CA" altLang="zh-CN" sz="2800" dirty="0">
                <a:solidFill>
                  <a:schemeClr val="bg1"/>
                </a:solidFill>
              </a:rPr>
              <a:t>Advanced</a:t>
            </a:r>
            <a:r>
              <a:rPr lang="zh-CN" altLang="en-US" sz="2800" dirty="0">
                <a:solidFill>
                  <a:schemeClr val="bg1"/>
                </a:solidFill>
              </a:rPr>
              <a:t> </a:t>
            </a:r>
            <a:r>
              <a:rPr lang="en-CA" altLang="zh-CN" sz="2800" dirty="0">
                <a:solidFill>
                  <a:schemeClr val="bg1"/>
                </a:solidFill>
              </a:rPr>
              <a:t>Topics</a:t>
            </a:r>
            <a:r>
              <a:rPr lang="zh-CN" altLang="en-US" sz="2800" dirty="0">
                <a:solidFill>
                  <a:schemeClr val="bg1"/>
                </a:solidFill>
              </a:rPr>
              <a:t> </a:t>
            </a:r>
            <a:r>
              <a:rPr lang="en-CA" altLang="zh-CN" sz="2800" dirty="0">
                <a:solidFill>
                  <a:schemeClr val="bg1"/>
                </a:solidFill>
              </a:rPr>
              <a:t>of</a:t>
            </a:r>
            <a:r>
              <a:rPr lang="zh-CN" altLang="en-US" sz="2800" dirty="0">
                <a:solidFill>
                  <a:schemeClr val="bg1"/>
                </a:solidFill>
              </a:rPr>
              <a:t> </a:t>
            </a:r>
            <a:r>
              <a:rPr lang="en-CA" altLang="zh-CN" sz="2800" dirty="0" err="1">
                <a:solidFill>
                  <a:schemeClr val="bg1"/>
                </a:solidFill>
              </a:rPr>
              <a:t>LangChain</a:t>
            </a:r>
            <a:endParaRPr lang="en-CA" sz="2800" dirty="0">
              <a:solidFill>
                <a:schemeClr val="bg1"/>
              </a:solidFill>
            </a:endParaRPr>
          </a:p>
          <a:p>
            <a:r>
              <a:rPr lang="en-CA" sz="2800" dirty="0">
                <a:solidFill>
                  <a:schemeClr val="bg1"/>
                </a:solidFill>
              </a:rPr>
              <a:t>Primary Instructor: Michael Z</a:t>
            </a:r>
          </a:p>
          <a:p>
            <a:r>
              <a:rPr lang="en-CA" sz="2800" dirty="0">
                <a:solidFill>
                  <a:schemeClr val="bg1"/>
                </a:solidFill>
              </a:rPr>
              <a:t>RA: YH</a:t>
            </a:r>
          </a:p>
          <a:p>
            <a:r>
              <a:rPr lang="en-CA" sz="2800" dirty="0">
                <a:solidFill>
                  <a:schemeClr val="bg1"/>
                </a:solidFill>
              </a:rPr>
              <a:t>Date: 2026.Jan-Feb</a:t>
            </a:r>
          </a:p>
        </p:txBody>
      </p:sp>
      <p:pic>
        <p:nvPicPr>
          <p:cNvPr id="9" name="Picture 2" descr="image">
            <a:extLst>
              <a:ext uri="{FF2B5EF4-FFF2-40B4-BE49-F238E27FC236}">
                <a16:creationId xmlns:a16="http://schemas.microsoft.com/office/drawing/2014/main" id="{51E1676F-E06E-B94F-6D9D-966F58D2C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00" y="3061001"/>
            <a:ext cx="4889500" cy="2666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715292-62AD-DCE2-22AB-67102089BBE6}"/>
              </a:ext>
            </a:extLst>
          </p:cNvPr>
          <p:cNvSpPr txBox="1"/>
          <p:nvPr/>
        </p:nvSpPr>
        <p:spPr>
          <a:xfrm>
            <a:off x="266700" y="292100"/>
            <a:ext cx="894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5400" dirty="0">
                <a:solidFill>
                  <a:schemeClr val="bg1"/>
                </a:solidFill>
              </a:rPr>
              <a:t>A</a:t>
            </a:r>
            <a:r>
              <a:rPr lang="en-US" altLang="zh-CN" sz="5400" dirty="0">
                <a:solidFill>
                  <a:schemeClr val="bg1"/>
                </a:solidFill>
              </a:rPr>
              <a:t>gentic AI with LangChain and LangGraph</a:t>
            </a:r>
            <a:endParaRPr lang="en-CA" sz="5400" dirty="0">
              <a:solidFill>
                <a:schemeClr val="bg1"/>
              </a:solidFill>
            </a:endParaRPr>
          </a:p>
        </p:txBody>
      </p:sp>
      <p:pic>
        <p:nvPicPr>
          <p:cNvPr id="2" name="Picture 1" descr="Michael Zhang (Director, Master of Business Analytics Program)">
            <a:extLst>
              <a:ext uri="{FF2B5EF4-FFF2-40B4-BE49-F238E27FC236}">
                <a16:creationId xmlns:a16="http://schemas.microsoft.com/office/drawing/2014/main" id="{92481207-CC40-55FB-07C1-3EF603487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1577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4F6B1B-5711-33A0-2D1A-AC241EA4F197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612141"/>
                </a:solidFill>
              </a:rPr>
              <a:t>*Quick Notes: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5FDF25-6077-4BE9-EDB3-BB784B96ADFE}"/>
              </a:ext>
            </a:extLst>
          </p:cNvPr>
          <p:cNvSpPr txBox="1"/>
          <p:nvPr/>
        </p:nvSpPr>
        <p:spPr>
          <a:xfrm>
            <a:off x="0" y="584775"/>
            <a:ext cx="12192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 would skip some topics for some reasons: Long-Term memory (current technique is not mature) and Multi-agent (Because it belongs to our next topic, </a:t>
            </a:r>
            <a:r>
              <a:rPr lang="en-CA" dirty="0" err="1"/>
              <a:t>LangGraph</a:t>
            </a:r>
            <a:r>
              <a:rPr lang="en-CA" dirty="0"/>
              <a:t>) and Context Engineering (It looks like philosophy of being AI engineer, rather than a topic of technique).</a:t>
            </a:r>
          </a:p>
          <a:p>
            <a:endParaRPr lang="en-CA" dirty="0"/>
          </a:p>
          <a:p>
            <a:r>
              <a:rPr lang="en-CA" dirty="0"/>
              <a:t>I would place different weights on different sections.</a:t>
            </a:r>
          </a:p>
          <a:p>
            <a:endParaRPr lang="en-CA" dirty="0"/>
          </a:p>
          <a:p>
            <a:r>
              <a:rPr lang="en-CA" dirty="0"/>
              <a:t>I mean, it could take me a 3-credit course to go over RAG (Retrieval Augmented Generation), but I only have couple mins to talk about it here. Thank you for your understanding in advance.</a:t>
            </a:r>
          </a:p>
          <a:p>
            <a:endParaRPr lang="en-CA" dirty="0"/>
          </a:p>
          <a:p>
            <a:r>
              <a:rPr lang="en-CA" dirty="0"/>
              <a:t>LangChain Inc is maintaining v0.3+ and v1.0+.</a:t>
            </a:r>
          </a:p>
        </p:txBody>
      </p:sp>
      <p:pic>
        <p:nvPicPr>
          <p:cNvPr id="2" name="Picture 1" descr="Michael Zhang (Director, Master of Business Analytics Program)">
            <a:extLst>
              <a:ext uri="{FF2B5EF4-FFF2-40B4-BE49-F238E27FC236}">
                <a16:creationId xmlns:a16="http://schemas.microsoft.com/office/drawing/2014/main" id="{92481207-CC40-55FB-07C1-3EF603487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3121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5DDA07-A67E-A47A-561B-C05E5615C04A}"/>
              </a:ext>
            </a:extLst>
          </p:cNvPr>
          <p:cNvSpPr txBox="1"/>
          <p:nvPr/>
        </p:nvSpPr>
        <p:spPr>
          <a:xfrm>
            <a:off x="126999" y="3356520"/>
            <a:ext cx="120650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612141"/>
                </a:solidFill>
              </a:rPr>
              <a:t>0. RAG</a:t>
            </a:r>
          </a:p>
        </p:txBody>
      </p:sp>
      <p:pic>
        <p:nvPicPr>
          <p:cNvPr id="3" name="Picture 2" descr="Michael Zhang (Director, Master of Business Analytics Program)">
            <a:extLst>
              <a:ext uri="{FF2B5EF4-FFF2-40B4-BE49-F238E27FC236}">
                <a16:creationId xmlns:a16="http://schemas.microsoft.com/office/drawing/2014/main" id="{E67CCB65-00CA-B8F2-24E1-A7E81006D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648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dex_diagram">
            <a:extLst>
              <a:ext uri="{FF2B5EF4-FFF2-40B4-BE49-F238E27FC236}">
                <a16:creationId xmlns:a16="http://schemas.microsoft.com/office/drawing/2014/main" id="{64A127E0-598B-C204-A4F1-694D5B053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0339" y="1072396"/>
            <a:ext cx="5535533" cy="2880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9DE60A-BB19-0266-087D-C972995A71F8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612141"/>
                </a:solidFill>
              </a:rPr>
              <a:t>0. RAG: Core Idea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BCE27A-AFDB-94BC-5AE6-48C80397F4A2}"/>
              </a:ext>
            </a:extLst>
          </p:cNvPr>
          <p:cNvSpPr txBox="1"/>
          <p:nvPr/>
        </p:nvSpPr>
        <p:spPr>
          <a:xfrm>
            <a:off x="0" y="584775"/>
            <a:ext cx="522385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core idea of RAG can’t be easier:</a:t>
            </a:r>
          </a:p>
          <a:p>
            <a:r>
              <a:rPr lang="en-CA" dirty="0"/>
              <a:t>1.Documents Loading (Serialization)</a:t>
            </a:r>
          </a:p>
          <a:p>
            <a:r>
              <a:rPr lang="en-CA" dirty="0"/>
              <a:t>2.Documents Splitting (also known as Chunking Strategy in some framework)</a:t>
            </a:r>
          </a:p>
          <a:p>
            <a:r>
              <a:rPr lang="en-CA" dirty="0"/>
              <a:t>3.(Chunks) Embedding</a:t>
            </a:r>
          </a:p>
          <a:p>
            <a:r>
              <a:rPr lang="en-CA" dirty="0"/>
              <a:t>4.Storing</a:t>
            </a:r>
          </a:p>
          <a:p>
            <a:r>
              <a:rPr lang="en-CA" dirty="0"/>
              <a:t>5.Semantic Search for given query</a:t>
            </a:r>
          </a:p>
          <a:p>
            <a:r>
              <a:rPr lang="en-CA" dirty="0"/>
              <a:t>6.Top K Records retrieved</a:t>
            </a:r>
          </a:p>
          <a:p>
            <a:r>
              <a:rPr lang="en-CA" dirty="0"/>
              <a:t>7. Reranking (Optional)</a:t>
            </a:r>
          </a:p>
          <a:p>
            <a:r>
              <a:rPr lang="en-CA" dirty="0"/>
              <a:t>8. Sent to LLM context for augmented generation</a:t>
            </a:r>
          </a:p>
          <a:p>
            <a:endParaRPr lang="en-CA" dirty="0"/>
          </a:p>
          <a:p>
            <a:r>
              <a:rPr lang="en-CA" dirty="0"/>
              <a:t>The image RHS covers 1-4.</a:t>
            </a:r>
          </a:p>
          <a:p>
            <a:endParaRPr lang="en-CA" dirty="0"/>
          </a:p>
          <a:p>
            <a:r>
              <a:rPr lang="en-CA" dirty="0"/>
              <a:t>1-7 is R and 8 is G.</a:t>
            </a:r>
          </a:p>
          <a:p>
            <a:endParaRPr lang="en-CA" dirty="0"/>
          </a:p>
          <a:p>
            <a:r>
              <a:rPr lang="en-CA" dirty="0"/>
              <a:t>If you are interested in any of the steps mentioned above, raise your hands to ask me right now or google it on your own.</a:t>
            </a:r>
          </a:p>
          <a:p>
            <a:endParaRPr lang="en-CA" dirty="0"/>
          </a:p>
          <a:p>
            <a:r>
              <a:rPr lang="en-CA" dirty="0"/>
              <a:t>Current docs provided by </a:t>
            </a:r>
            <a:r>
              <a:rPr lang="en-CA" dirty="0" err="1"/>
              <a:t>LangChain</a:t>
            </a:r>
            <a:r>
              <a:rPr lang="en-CA" dirty="0"/>
              <a:t> didn’t explain Reranking very well so you might go to its v0.3 to read archived docs in GitHub.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DE0227-DFCA-7E6A-32D6-56489DA88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339" y="3952470"/>
            <a:ext cx="2111054" cy="2792199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714D3E81-C15E-25FF-27FE-9DEB5ED4C462}"/>
              </a:ext>
            </a:extLst>
          </p:cNvPr>
          <p:cNvSpPr/>
          <p:nvPr/>
        </p:nvSpPr>
        <p:spPr>
          <a:xfrm>
            <a:off x="4893398" y="5292220"/>
            <a:ext cx="660903" cy="1991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FBBAE3-D5E5-59D3-3175-27D8C28199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7882" y="4238124"/>
            <a:ext cx="4379643" cy="2506545"/>
          </a:xfrm>
          <a:prstGeom prst="rect">
            <a:avLst/>
          </a:prstGeom>
        </p:spPr>
      </p:pic>
      <p:sp>
        <p:nvSpPr>
          <p:cNvPr id="9" name="Arrow: Left 8">
            <a:extLst>
              <a:ext uri="{FF2B5EF4-FFF2-40B4-BE49-F238E27FC236}">
                <a16:creationId xmlns:a16="http://schemas.microsoft.com/office/drawing/2014/main" id="{4C2639D4-131D-5368-B08F-DF0FB17D0213}"/>
              </a:ext>
            </a:extLst>
          </p:cNvPr>
          <p:cNvSpPr/>
          <p:nvPr/>
        </p:nvSpPr>
        <p:spPr>
          <a:xfrm>
            <a:off x="11108601" y="6532545"/>
            <a:ext cx="745014" cy="21212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 descr="Michael Zhang (Director, Master of Business Analytics Program)">
            <a:extLst>
              <a:ext uri="{FF2B5EF4-FFF2-40B4-BE49-F238E27FC236}">
                <a16:creationId xmlns:a16="http://schemas.microsoft.com/office/drawing/2014/main" id="{B74406D0-FD74-B7F8-2852-D1C4837CF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69300" y="0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2427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340A76-51BB-22B2-1283-DA7E50A752E0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612141"/>
                </a:solidFill>
              </a:rPr>
              <a:t>*Quick Note Again……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E1258D-0F8B-4101-F368-40BDC6A25257}"/>
              </a:ext>
            </a:extLst>
          </p:cNvPr>
          <p:cNvSpPr txBox="1"/>
          <p:nvPr/>
        </p:nvSpPr>
        <p:spPr>
          <a:xfrm>
            <a:off x="-1" y="584775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When you are playing with RAG and try to choose the embedding model you like from HuggingFace, you might notice that there doesn’t actually exist a section called “Embedding Model”.</a:t>
            </a:r>
          </a:p>
          <a:p>
            <a:endParaRPr lang="en-CA" dirty="0"/>
          </a:p>
          <a:p>
            <a:r>
              <a:rPr lang="en-CA" dirty="0"/>
              <a:t>It’s actually called “sentence similarity”, which is a little bit weird but also comprehensible.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10543C-8E6E-BF01-B2B6-42FD57C33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437" y="2281259"/>
            <a:ext cx="6717702" cy="3702547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CCDA2D27-681A-17C8-6CF9-428157E8F984}"/>
              </a:ext>
            </a:extLst>
          </p:cNvPr>
          <p:cNvSpPr/>
          <p:nvPr/>
        </p:nvSpPr>
        <p:spPr>
          <a:xfrm>
            <a:off x="7753958" y="3971812"/>
            <a:ext cx="327258" cy="866274"/>
          </a:xfrm>
          <a:prstGeom prst="downArrow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22C4B7-7C13-BFC5-6799-5650E3B8061D}"/>
              </a:ext>
            </a:extLst>
          </p:cNvPr>
          <p:cNvSpPr/>
          <p:nvPr/>
        </p:nvSpPr>
        <p:spPr>
          <a:xfrm>
            <a:off x="6491335" y="4838086"/>
            <a:ext cx="2670804" cy="5847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 descr="Michael Zhang (Director, Master of Business Analytics Program)">
            <a:extLst>
              <a:ext uri="{FF2B5EF4-FFF2-40B4-BE49-F238E27FC236}">
                <a16:creationId xmlns:a16="http://schemas.microsoft.com/office/drawing/2014/main" id="{C0B6E66A-9517-241F-F833-3A73043FC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084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B192DE-1AA2-58B1-2168-6402DA8BC5CD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612141"/>
                </a:solidFill>
              </a:rPr>
              <a:t>0. RAG: RAG is dead……But you still need to learn!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52BEFF-F170-D22C-F33F-8AFE4C0F8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9468" y="822293"/>
            <a:ext cx="4292531" cy="16493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E3E60E-182F-2152-2558-67C32F7BD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4775"/>
            <a:ext cx="6898741" cy="52606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6AD49E-2280-16E7-1C5B-7684EA997A73}"/>
              </a:ext>
            </a:extLst>
          </p:cNvPr>
          <p:cNvSpPr txBox="1"/>
          <p:nvPr/>
        </p:nvSpPr>
        <p:spPr>
          <a:xfrm>
            <a:off x="8157172" y="5142368"/>
            <a:ext cx="39382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i="1" dirty="0"/>
              <a:t>Source: https://research.trychroma.com/context-rot</a:t>
            </a:r>
          </a:p>
        </p:txBody>
      </p:sp>
      <p:pic>
        <p:nvPicPr>
          <p:cNvPr id="3" name="Picture 2" descr="Michael Zhang (Director, Master of Business Analytics Program)">
            <a:extLst>
              <a:ext uri="{FF2B5EF4-FFF2-40B4-BE49-F238E27FC236}">
                <a16:creationId xmlns:a16="http://schemas.microsoft.com/office/drawing/2014/main" id="{7AAA571C-1532-4302-FD96-EDEE7B174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9259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77AF10-3E75-0533-8790-0C0D5F0C5AB5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612141"/>
                </a:solidFill>
              </a:rPr>
              <a:t>0. RAG: RAG in </a:t>
            </a:r>
            <a:r>
              <a:rPr lang="en-CA" sz="3200" b="1" dirty="0" err="1">
                <a:solidFill>
                  <a:srgbClr val="612141"/>
                </a:solidFill>
              </a:rPr>
              <a:t>LangChain</a:t>
            </a:r>
            <a:r>
              <a:rPr lang="en-CA" sz="3200" b="1" dirty="0">
                <a:solidFill>
                  <a:srgbClr val="612141"/>
                </a:solidFill>
              </a:rPr>
              <a:t> Docs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D58CBF-4CA7-B5E4-F038-9FF181A72F3C}"/>
              </a:ext>
            </a:extLst>
          </p:cNvPr>
          <p:cNvSpPr txBox="1"/>
          <p:nvPr/>
        </p:nvSpPr>
        <p:spPr>
          <a:xfrm>
            <a:off x="0" y="584775"/>
            <a:ext cx="621973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All, I mean all, variants of RAG you can see right now or in the future implement the core idea I discussed in previous slides, with</a:t>
            </a:r>
          </a:p>
          <a:p>
            <a:r>
              <a:rPr lang="en-CA" dirty="0"/>
              <a:t>a little</a:t>
            </a:r>
          </a:p>
          <a:p>
            <a:r>
              <a:rPr lang="en-CA" sz="2400" dirty="0"/>
              <a:t>a little</a:t>
            </a:r>
          </a:p>
          <a:p>
            <a:r>
              <a:rPr lang="en-CA" sz="3000" dirty="0"/>
              <a:t>a little</a:t>
            </a:r>
          </a:p>
          <a:p>
            <a:r>
              <a:rPr lang="en-CA" sz="3600" dirty="0"/>
              <a:t>a little</a:t>
            </a:r>
          </a:p>
          <a:p>
            <a:r>
              <a:rPr lang="en-CA" sz="4200" dirty="0"/>
              <a:t>a little</a:t>
            </a:r>
          </a:p>
          <a:p>
            <a:r>
              <a:rPr lang="en-CA" sz="4800" dirty="0"/>
              <a:t>a little</a:t>
            </a:r>
          </a:p>
          <a:p>
            <a:r>
              <a:rPr lang="en-CA" sz="5400" dirty="0"/>
              <a:t>a little</a:t>
            </a:r>
          </a:p>
          <a:p>
            <a:r>
              <a:rPr lang="en-CA" sz="6000" dirty="0"/>
              <a:t>a little</a:t>
            </a:r>
          </a:p>
          <a:p>
            <a:r>
              <a:rPr lang="en-CA" dirty="0"/>
              <a:t>bit of engineering design added.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A4FEFD-BD7A-F7A6-3F4C-083A88DAFA52}"/>
              </a:ext>
            </a:extLst>
          </p:cNvPr>
          <p:cNvSpPr txBox="1"/>
          <p:nvPr/>
        </p:nvSpPr>
        <p:spPr>
          <a:xfrm>
            <a:off x="6716163" y="266314"/>
            <a:ext cx="463688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/>
              <a:t>1.Vanilla RAG</a:t>
            </a:r>
          </a:p>
          <a:p>
            <a:r>
              <a:rPr lang="en-CA" sz="3200" dirty="0"/>
              <a:t>2.Hybrid RAG</a:t>
            </a:r>
          </a:p>
          <a:p>
            <a:r>
              <a:rPr lang="en-CA" sz="3200" dirty="0"/>
              <a:t>3.Rerank-based RAG</a:t>
            </a:r>
          </a:p>
          <a:p>
            <a:r>
              <a:rPr lang="en-CA" sz="3200" dirty="0"/>
              <a:t>4.Query Expansion RAG</a:t>
            </a:r>
          </a:p>
          <a:p>
            <a:r>
              <a:rPr lang="en-CA" sz="3200" dirty="0"/>
              <a:t>5.Multi-Hop RAG</a:t>
            </a:r>
          </a:p>
          <a:p>
            <a:r>
              <a:rPr lang="en-CA" sz="3200" dirty="0"/>
              <a:t>6.Graph RAG</a:t>
            </a:r>
          </a:p>
          <a:p>
            <a:r>
              <a:rPr lang="en-CA" sz="3200" dirty="0"/>
              <a:t>7.Adaptive RAG</a:t>
            </a:r>
          </a:p>
          <a:p>
            <a:r>
              <a:rPr lang="en-CA" sz="3200" dirty="0"/>
              <a:t>8.Agentic RAG</a:t>
            </a:r>
          </a:p>
          <a:p>
            <a:r>
              <a:rPr lang="en-CA" sz="3200" dirty="0"/>
              <a:t>……….</a:t>
            </a:r>
          </a:p>
        </p:txBody>
      </p:sp>
      <p:pic>
        <p:nvPicPr>
          <p:cNvPr id="4" name="Picture 3" descr="Michael Zhang (Director, Master of Business Analytics Program)">
            <a:extLst>
              <a:ext uri="{FF2B5EF4-FFF2-40B4-BE49-F238E27FC236}">
                <a16:creationId xmlns:a16="http://schemas.microsoft.com/office/drawing/2014/main" id="{749BD634-E274-CFAD-783F-5060B6F44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69300" y="5630743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193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E36F7D4-3C69-40DB-7A6B-436BD6D59BF0}"/>
              </a:ext>
            </a:extLst>
          </p:cNvPr>
          <p:cNvSpPr txBox="1"/>
          <p:nvPr/>
        </p:nvSpPr>
        <p:spPr>
          <a:xfrm>
            <a:off x="-1" y="787431"/>
            <a:ext cx="10900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When reading the </a:t>
            </a:r>
            <a:r>
              <a:rPr lang="en-CA" dirty="0" err="1"/>
              <a:t>LangChain</a:t>
            </a:r>
            <a:r>
              <a:rPr lang="en-CA" dirty="0"/>
              <a:t> docs (Hybrid RAG), I noticed the following, which reminds me of something.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D1A6D0-FB43-5BA3-A749-9CB5DDADA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4520"/>
            <a:ext cx="5632689" cy="876534"/>
          </a:xfrm>
          <a:prstGeom prst="rect">
            <a:avLst/>
          </a:prstGeom>
        </p:spPr>
      </p:pic>
      <p:pic>
        <p:nvPicPr>
          <p:cNvPr id="2050" name="Picture 2" descr="Thinking Meme Flork Confused ...">
            <a:extLst>
              <a:ext uri="{FF2B5EF4-FFF2-40B4-BE49-F238E27FC236}">
                <a16:creationId xmlns:a16="http://schemas.microsoft.com/office/drawing/2014/main" id="{941A084C-BA90-F92A-7D5B-CC12720DE7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" b="5673"/>
          <a:stretch>
            <a:fillRect/>
          </a:stretch>
        </p:blipFill>
        <p:spPr bwMode="auto">
          <a:xfrm>
            <a:off x="10067508" y="1161723"/>
            <a:ext cx="2006796" cy="1787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AF9741-D0E7-1E8E-7515-20B3BA96B05F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612141"/>
                </a:solidFill>
              </a:rPr>
              <a:t>*Fun Fact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B9785D-60C4-89C9-0519-47198A45EF64}"/>
              </a:ext>
            </a:extLst>
          </p:cNvPr>
          <p:cNvSpPr txBox="1"/>
          <p:nvPr/>
        </p:nvSpPr>
        <p:spPr>
          <a:xfrm>
            <a:off x="258089" y="2677725"/>
            <a:ext cx="19965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/>
              <a:t>Aha!!!</a:t>
            </a:r>
          </a:p>
        </p:txBody>
      </p:sp>
      <p:pic>
        <p:nvPicPr>
          <p:cNvPr id="5122" name="Picture 2" descr="A Light Bulb Moment - The Jewish Link">
            <a:extLst>
              <a:ext uri="{FF2B5EF4-FFF2-40B4-BE49-F238E27FC236}">
                <a16:creationId xmlns:a16="http://schemas.microsoft.com/office/drawing/2014/main" id="{FEE8491E-B90D-F473-3FD0-6984DADA94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089" y="3321003"/>
            <a:ext cx="2385729" cy="2544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53C548-4EC2-3F7F-30D6-843E9D74A2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3447" y="3622818"/>
            <a:ext cx="7007324" cy="22429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1D7F9E-351B-0D4B-C9BF-7445AEFB6357}"/>
              </a:ext>
            </a:extLst>
          </p:cNvPr>
          <p:cNvSpPr txBox="1"/>
          <p:nvPr/>
        </p:nvSpPr>
        <p:spPr>
          <a:xfrm>
            <a:off x="3123447" y="3101489"/>
            <a:ext cx="8084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It turns out that it’s actually </a:t>
            </a:r>
            <a:r>
              <a:rPr lang="en-CA" dirty="0" err="1"/>
              <a:t>MultiQueryRetriever</a:t>
            </a:r>
            <a:r>
              <a:rPr lang="en-CA" dirty="0"/>
              <a:t> (in v0.3 of </a:t>
            </a:r>
            <a:r>
              <a:rPr lang="en-CA" dirty="0" err="1"/>
              <a:t>LangChain</a:t>
            </a:r>
            <a:r>
              <a:rPr lang="en-CA" dirty="0"/>
              <a:t>)</a:t>
            </a:r>
          </a:p>
        </p:txBody>
      </p:sp>
      <p:pic>
        <p:nvPicPr>
          <p:cNvPr id="4" name="Picture 3" descr="Michael Zhang (Director, Master of Business Analytics Program)">
            <a:extLst>
              <a:ext uri="{FF2B5EF4-FFF2-40B4-BE49-F238E27FC236}">
                <a16:creationId xmlns:a16="http://schemas.microsoft.com/office/drawing/2014/main" id="{88F0D54D-D5CA-4EBB-DEC6-194C1EA6B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6319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0CB234-2D04-8C1A-0B8B-53F4504A422A}"/>
              </a:ext>
            </a:extLst>
          </p:cNvPr>
          <p:cNvSpPr txBox="1"/>
          <p:nvPr/>
        </p:nvSpPr>
        <p:spPr>
          <a:xfrm>
            <a:off x="126999" y="3356520"/>
            <a:ext cx="120650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612141"/>
                </a:solidFill>
              </a:rPr>
              <a:t>1. Human-In-The-Loop (HITL)</a:t>
            </a:r>
          </a:p>
        </p:txBody>
      </p:sp>
      <p:pic>
        <p:nvPicPr>
          <p:cNvPr id="3" name="Picture 2" descr="Michael Zhang (Director, Master of Business Analytics Program)">
            <a:extLst>
              <a:ext uri="{FF2B5EF4-FFF2-40B4-BE49-F238E27FC236}">
                <a16:creationId xmlns:a16="http://schemas.microsoft.com/office/drawing/2014/main" id="{EB51B173-A955-B562-A4BD-039D9AE1D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8741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A9F692-956A-4A7A-9B6C-6DCB45276596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612141"/>
                </a:solidFill>
              </a:rPr>
              <a:t>1. HITL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08EEBF-D10D-295E-9315-98F72B8AAE41}"/>
              </a:ext>
            </a:extLst>
          </p:cNvPr>
          <p:cNvSpPr txBox="1"/>
          <p:nvPr/>
        </p:nvSpPr>
        <p:spPr>
          <a:xfrm>
            <a:off x="-1" y="584775"/>
            <a:ext cx="118872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HITL is commonly used in multi-agent system, but I think it’s also good to know that it could be used in single agent application.</a:t>
            </a:r>
          </a:p>
          <a:p>
            <a:endParaRPr lang="en-CA" dirty="0"/>
          </a:p>
          <a:p>
            <a:r>
              <a:rPr lang="en-CA" dirty="0"/>
              <a:t>HITL basically means that you impose some restrictions on some tools and agent needs your explicit approval when it’s about to call these tools.</a:t>
            </a:r>
          </a:p>
          <a:p>
            <a:endParaRPr lang="en-CA" dirty="0"/>
          </a:p>
          <a:p>
            <a:r>
              <a:rPr lang="en-CA" dirty="0"/>
              <a:t>(If you don’t understand “allowed decisions” in their documents, replace “allowed” with “available” simply.)</a:t>
            </a:r>
          </a:p>
          <a:p>
            <a:endParaRPr lang="en-CA" dirty="0"/>
          </a:p>
          <a:p>
            <a:r>
              <a:rPr lang="en-CA" dirty="0"/>
              <a:t>I would go over HITL docs for you right now.</a:t>
            </a:r>
          </a:p>
          <a:p>
            <a:r>
              <a:rPr lang="en-CA" dirty="0"/>
              <a:t>To make sure you are learning correct documents, I corrected one wrong inline comment for you.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7FE921-E348-4A17-89A9-934C8F224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3447097"/>
            <a:ext cx="11784070" cy="2143424"/>
          </a:xfrm>
          <a:prstGeom prst="rect">
            <a:avLst/>
          </a:prstGeom>
        </p:spPr>
      </p:pic>
      <p:pic>
        <p:nvPicPr>
          <p:cNvPr id="4" name="Picture 3" descr="Michael Zhang (Director, Master of Business Analytics Program)">
            <a:extLst>
              <a:ext uri="{FF2B5EF4-FFF2-40B4-BE49-F238E27FC236}">
                <a16:creationId xmlns:a16="http://schemas.microsoft.com/office/drawing/2014/main" id="{C9DC0AF4-D6AB-6B7C-85DF-A3F31C2B0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8271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310982-7CE7-B186-EE3C-21C87ED22793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612141"/>
                </a:solidFill>
              </a:rPr>
              <a:t>1. HITL: If you are good at using HITL…..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83CA8F-A221-3D85-E9D9-185ACF8D4FE1}"/>
              </a:ext>
            </a:extLst>
          </p:cNvPr>
          <p:cNvSpPr txBox="1"/>
          <p:nvPr/>
        </p:nvSpPr>
        <p:spPr>
          <a:xfrm>
            <a:off x="0" y="584775"/>
            <a:ext cx="121919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Those who are proud of being part of something or good at using something or loving something would call themselves “…..er”.</a:t>
            </a:r>
          </a:p>
          <a:p>
            <a:endParaRPr lang="en-CA" dirty="0"/>
          </a:p>
          <a:p>
            <a:r>
              <a:rPr lang="en-CA" dirty="0"/>
              <a:t>For example, those who are good at singing would call themselves “singer”.</a:t>
            </a:r>
          </a:p>
          <a:p>
            <a:endParaRPr lang="en-CA" dirty="0"/>
          </a:p>
          <a:p>
            <a:r>
              <a:rPr lang="en-CA" dirty="0"/>
              <a:t>If you are good at playing games, you might call yourself “gamer”.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3E36F8-217C-4C38-B6AD-6763483A3B06}"/>
              </a:ext>
            </a:extLst>
          </p:cNvPr>
          <p:cNvSpPr txBox="1"/>
          <p:nvPr/>
        </p:nvSpPr>
        <p:spPr>
          <a:xfrm>
            <a:off x="-1" y="2985432"/>
            <a:ext cx="930696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8800" dirty="0"/>
              <a:t>HITL + ER = …. </a:t>
            </a:r>
          </a:p>
          <a:p>
            <a:r>
              <a:rPr lang="en-CA" sz="8800" dirty="0"/>
              <a:t>😨😨😨😨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5FB780-3873-04F0-8204-D7498A0E34A1}"/>
              </a:ext>
            </a:extLst>
          </p:cNvPr>
          <p:cNvSpPr txBox="1"/>
          <p:nvPr/>
        </p:nvSpPr>
        <p:spPr>
          <a:xfrm>
            <a:off x="0" y="2339101"/>
            <a:ext cx="3331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If you are good at using HITL..</a:t>
            </a:r>
          </a:p>
          <a:p>
            <a:endParaRPr lang="en-CA" dirty="0"/>
          </a:p>
        </p:txBody>
      </p:sp>
      <p:pic>
        <p:nvPicPr>
          <p:cNvPr id="5" name="Picture 4" descr="Michael Zhang (Director, Master of Business Analytics Program)">
            <a:extLst>
              <a:ext uri="{FF2B5EF4-FFF2-40B4-BE49-F238E27FC236}">
                <a16:creationId xmlns:a16="http://schemas.microsoft.com/office/drawing/2014/main" id="{9B08D9BE-AFAE-9388-E529-8DE5E5F4E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3016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D8F66-3425-368A-0383-677BE3FE4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1527C1-B7A9-30C8-84E6-C3625BCB1DEE}"/>
              </a:ext>
            </a:extLst>
          </p:cNvPr>
          <p:cNvSpPr txBox="1"/>
          <p:nvPr/>
        </p:nvSpPr>
        <p:spPr>
          <a:xfrm>
            <a:off x="126999" y="3356520"/>
            <a:ext cx="120650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612141"/>
                </a:solidFill>
              </a:rPr>
              <a:t>2. MCP</a:t>
            </a:r>
          </a:p>
        </p:txBody>
      </p:sp>
      <p:pic>
        <p:nvPicPr>
          <p:cNvPr id="3" name="Picture 2" descr="Michael Zhang (Director, Master of Business Analytics Program)">
            <a:extLst>
              <a:ext uri="{FF2B5EF4-FFF2-40B4-BE49-F238E27FC236}">
                <a16:creationId xmlns:a16="http://schemas.microsoft.com/office/drawing/2014/main" id="{08293B13-0B2E-FD11-D033-B4C7451E3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2602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00C9A7-8C0E-02EE-CF93-7E58800484DD}"/>
              </a:ext>
            </a:extLst>
          </p:cNvPr>
          <p:cNvSpPr txBox="1"/>
          <p:nvPr/>
        </p:nvSpPr>
        <p:spPr>
          <a:xfrm>
            <a:off x="126999" y="3356520"/>
            <a:ext cx="120650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612141"/>
                </a:solidFill>
              </a:rPr>
              <a:t>*a</a:t>
            </a:r>
            <a:r>
              <a:rPr lang="en-US" altLang="zh-CN" sz="4400" b="1" dirty="0">
                <a:solidFill>
                  <a:srgbClr val="612141"/>
                </a:solidFill>
              </a:rPr>
              <a:t>sync and await keywords in Python</a:t>
            </a:r>
            <a:endParaRPr lang="en-CA" sz="4400" b="1" dirty="0">
              <a:solidFill>
                <a:srgbClr val="612141"/>
              </a:solidFill>
            </a:endParaRPr>
          </a:p>
        </p:txBody>
      </p:sp>
      <p:pic>
        <p:nvPicPr>
          <p:cNvPr id="3" name="Picture 2" descr="Michael Zhang (Director, Master of Business Analytics Program)">
            <a:extLst>
              <a:ext uri="{FF2B5EF4-FFF2-40B4-BE49-F238E27FC236}">
                <a16:creationId xmlns:a16="http://schemas.microsoft.com/office/drawing/2014/main" id="{C2658997-AFB4-E7CB-6D77-05B71FDA8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0DA6D3-FD33-7CC8-9057-79172DA06F8A}"/>
              </a:ext>
            </a:extLst>
          </p:cNvPr>
          <p:cNvSpPr txBox="1"/>
          <p:nvPr/>
        </p:nvSpPr>
        <p:spPr>
          <a:xfrm>
            <a:off x="344032" y="4227968"/>
            <a:ext cx="6455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https://docs.python.org/3/library/asyncio-task.html</a:t>
            </a:r>
          </a:p>
        </p:txBody>
      </p:sp>
    </p:spTree>
    <p:extLst>
      <p:ext uri="{BB962C8B-B14F-4D97-AF65-F5344CB8AC3E}">
        <p14:creationId xmlns:p14="http://schemas.microsoft.com/office/powerpoint/2010/main" val="3655388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D5187-DB22-13DF-8D3A-E29622742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ichael Zhang (Director, Master of Business Analytics Program)">
            <a:extLst>
              <a:ext uri="{FF2B5EF4-FFF2-40B4-BE49-F238E27FC236}">
                <a16:creationId xmlns:a16="http://schemas.microsoft.com/office/drawing/2014/main" id="{A78AD8B5-9D01-F0B7-E628-9BF323F8A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CBFA59-C816-9591-7D2C-B0BA30DD561F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612141"/>
                </a:solidFill>
              </a:rPr>
              <a:t>2. MCP: They finally accepted my fix!!!!!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7EA07B-106D-7D6C-F92F-4DB38E860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116696"/>
            <a:ext cx="10265987" cy="28174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88755B-1CA7-E9DF-654C-AAE725988ED7}"/>
              </a:ext>
            </a:extLst>
          </p:cNvPr>
          <p:cNvSpPr txBox="1"/>
          <p:nvPr/>
        </p:nvSpPr>
        <p:spPr>
          <a:xfrm>
            <a:off x="-1" y="760491"/>
            <a:ext cx="11135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 noticed some syntax errors in their docs when preparing slides last week, so I made a PR to fix it. But they didn’t accept my fix until Thursday (Feb 5th). I believe the code snippet is quite copy-and-paste-able.</a:t>
            </a:r>
          </a:p>
        </p:txBody>
      </p:sp>
    </p:spTree>
    <p:extLst>
      <p:ext uri="{BB962C8B-B14F-4D97-AF65-F5344CB8AC3E}">
        <p14:creationId xmlns:p14="http://schemas.microsoft.com/office/powerpoint/2010/main" val="7119208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DFADC2-8053-FAC8-4556-C19BC5EE978B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612141"/>
                </a:solidFill>
              </a:rPr>
              <a:t>2. MCP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460B13-4F7D-9C72-AA03-08EBFE7EAA43}"/>
              </a:ext>
            </a:extLst>
          </p:cNvPr>
          <p:cNvSpPr txBox="1"/>
          <p:nvPr/>
        </p:nvSpPr>
        <p:spPr>
          <a:xfrm>
            <a:off x="0" y="584775"/>
            <a:ext cx="1219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You make the tools in the Python script in which agent is about to be invoked, before we talk about MCP today.</a:t>
            </a:r>
          </a:p>
          <a:p>
            <a:endParaRPr lang="en-CA" dirty="0"/>
          </a:p>
          <a:p>
            <a:r>
              <a:rPr lang="en-CA" dirty="0"/>
              <a:t>If there is a lot of tools and tool’s implementation is complex, you might want to move these tools to somewhere else.</a:t>
            </a:r>
          </a:p>
          <a:p>
            <a:r>
              <a:rPr lang="en-CA" dirty="0"/>
              <a:t>You also would like to allow others to use the tools you made.</a:t>
            </a:r>
          </a:p>
          <a:p>
            <a:r>
              <a:rPr lang="en-CA" dirty="0"/>
              <a:t>Then, MCP is your best choice. You put tools in a single script and deploy this script as a http server (aka MCP server and its default port is 8000).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1412D1-C7D8-9C79-59DF-06A419D6E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38940"/>
            <a:ext cx="4373831" cy="35633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7FBDE8-C0BC-4340-03F1-C471367FC1A6}"/>
              </a:ext>
            </a:extLst>
          </p:cNvPr>
          <p:cNvSpPr txBox="1"/>
          <p:nvPr/>
        </p:nvSpPr>
        <p:spPr>
          <a:xfrm>
            <a:off x="4624190" y="2283705"/>
            <a:ext cx="5938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At client side, just simply call these tools gracefully.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479A14-2508-1222-72BF-47CCC94F0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115" y="2648482"/>
            <a:ext cx="4158936" cy="3406969"/>
          </a:xfrm>
          <a:prstGeom prst="rect">
            <a:avLst/>
          </a:prstGeom>
        </p:spPr>
      </p:pic>
      <p:pic>
        <p:nvPicPr>
          <p:cNvPr id="4" name="Picture 3" descr="Michael Zhang (Director, Master of Business Analytics Program)">
            <a:extLst>
              <a:ext uri="{FF2B5EF4-FFF2-40B4-BE49-F238E27FC236}">
                <a16:creationId xmlns:a16="http://schemas.microsoft.com/office/drawing/2014/main" id="{312266BA-5569-D821-AD44-F1CE2AD47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2379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778E1E-DF40-77C2-F664-55E9B6E94936}"/>
              </a:ext>
            </a:extLst>
          </p:cNvPr>
          <p:cNvSpPr txBox="1"/>
          <p:nvPr/>
        </p:nvSpPr>
        <p:spPr>
          <a:xfrm>
            <a:off x="126999" y="3356520"/>
            <a:ext cx="120650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612141"/>
                </a:solidFill>
              </a:rPr>
              <a:t>*A Quick In-Presentation Practice Here</a:t>
            </a:r>
          </a:p>
        </p:txBody>
      </p:sp>
      <p:pic>
        <p:nvPicPr>
          <p:cNvPr id="3" name="Picture 2" descr="Michael Zhang (Director, Master of Business Analytics Program)">
            <a:extLst>
              <a:ext uri="{FF2B5EF4-FFF2-40B4-BE49-F238E27FC236}">
                <a16:creationId xmlns:a16="http://schemas.microsoft.com/office/drawing/2014/main" id="{1409DACE-2FE6-16F0-2C72-6ABD91C3B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443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6061EA-FF52-C881-6D5B-48AC391214C5}"/>
              </a:ext>
            </a:extLst>
          </p:cNvPr>
          <p:cNvSpPr txBox="1"/>
          <p:nvPr/>
        </p:nvSpPr>
        <p:spPr>
          <a:xfrm>
            <a:off x="126999" y="3356520"/>
            <a:ext cx="120650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612141"/>
                </a:solidFill>
              </a:rPr>
              <a:t>3. Runtime (Context)</a:t>
            </a:r>
          </a:p>
        </p:txBody>
      </p:sp>
      <p:pic>
        <p:nvPicPr>
          <p:cNvPr id="3" name="Picture 2" descr="Michael Zhang (Director, Master of Business Analytics Program)">
            <a:extLst>
              <a:ext uri="{FF2B5EF4-FFF2-40B4-BE49-F238E27FC236}">
                <a16:creationId xmlns:a16="http://schemas.microsoft.com/office/drawing/2014/main" id="{1C2A260F-601F-A0EF-81A6-9095E9B9B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1076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473C07-1A22-2171-6C35-A89D500E8AFE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612141"/>
                </a:solidFill>
              </a:rPr>
              <a:t>3. Runtime (Context)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DEA24E-2483-02A5-D00E-D2605F14F1F3}"/>
              </a:ext>
            </a:extLst>
          </p:cNvPr>
          <p:cNvSpPr txBox="1"/>
          <p:nvPr/>
        </p:nvSpPr>
        <p:spPr>
          <a:xfrm>
            <a:off x="0" y="584775"/>
            <a:ext cx="85283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There are two parts in Runtime: Context and Store (skipped)</a:t>
            </a:r>
          </a:p>
          <a:p>
            <a:endParaRPr lang="en-CA" dirty="0"/>
          </a:p>
          <a:p>
            <a:r>
              <a:rPr lang="en-CA" dirty="0"/>
              <a:t>Context can be treated as user structured input, to help you understand it better.</a:t>
            </a:r>
          </a:p>
        </p:txBody>
      </p:sp>
      <p:pic>
        <p:nvPicPr>
          <p:cNvPr id="4" name="Picture 3" descr="Michael Zhang (Director, Master of Business Analytics Program)">
            <a:extLst>
              <a:ext uri="{FF2B5EF4-FFF2-40B4-BE49-F238E27FC236}">
                <a16:creationId xmlns:a16="http://schemas.microsoft.com/office/drawing/2014/main" id="{AA053397-BD11-B160-397B-5277D8247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747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633141-5C49-304A-9A2A-65FDEF37FB97}"/>
              </a:ext>
            </a:extLst>
          </p:cNvPr>
          <p:cNvSpPr txBox="1"/>
          <p:nvPr/>
        </p:nvSpPr>
        <p:spPr>
          <a:xfrm>
            <a:off x="126999" y="3356520"/>
            <a:ext cx="120650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612141"/>
                </a:solidFill>
              </a:rPr>
              <a:t>4. Guardrails</a:t>
            </a:r>
          </a:p>
        </p:txBody>
      </p:sp>
      <p:pic>
        <p:nvPicPr>
          <p:cNvPr id="3" name="Picture 2" descr="Michael Zhang (Director, Master of Business Analytics Program)">
            <a:extLst>
              <a:ext uri="{FF2B5EF4-FFF2-40B4-BE49-F238E27FC236}">
                <a16:creationId xmlns:a16="http://schemas.microsoft.com/office/drawing/2014/main" id="{0B5C2AB4-E593-9C37-4D3F-5C6B74881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8972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022C1C-FF9D-4C17-3F20-02CCCB76E9D3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612141"/>
                </a:solidFill>
              </a:rPr>
              <a:t>4. Guardrails: PII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212EF9-2972-5423-F434-0F2C7D2DA9C6}"/>
              </a:ext>
            </a:extLst>
          </p:cNvPr>
          <p:cNvSpPr txBox="1"/>
          <p:nvPr/>
        </p:nvSpPr>
        <p:spPr>
          <a:xfrm>
            <a:off x="-1" y="584775"/>
            <a:ext cx="121920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There are two ways to achieve guardrails: One is HITP and another is PII detection.</a:t>
            </a:r>
          </a:p>
          <a:p>
            <a:r>
              <a:rPr lang="en-CA" dirty="0"/>
              <a:t>What guardrails can do is screening, like what could not be visible to LLM and what could be visible to user. I mean because of middleware, you can basically control visibility of every single message, literally.</a:t>
            </a:r>
          </a:p>
          <a:p>
            <a:r>
              <a:rPr lang="en-CA" dirty="0"/>
              <a:t>We already discussed HITP so I would only talk about PII here.</a:t>
            </a:r>
          </a:p>
          <a:p>
            <a:endParaRPr lang="en-CA" dirty="0"/>
          </a:p>
          <a:p>
            <a:r>
              <a:rPr lang="en-CA" dirty="0"/>
              <a:t>PII means personally identifiable information.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B4280A-9D39-2E7E-1958-A2DF24878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171493"/>
            <a:ext cx="4477375" cy="21720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434BDC-0124-48EE-5D1D-4012B8944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977" y="3965294"/>
            <a:ext cx="6239746" cy="28769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BBD2DE-8874-E09E-07A2-026CDD8E24A3}"/>
              </a:ext>
            </a:extLst>
          </p:cNvPr>
          <p:cNvSpPr txBox="1"/>
          <p:nvPr/>
        </p:nvSpPr>
        <p:spPr>
          <a:xfrm>
            <a:off x="5069940" y="3041964"/>
            <a:ext cx="71220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Here is a very quick in-class test and I want you to finish it:</a:t>
            </a:r>
          </a:p>
          <a:p>
            <a:r>
              <a:rPr lang="en-CA" dirty="0" err="1"/>
              <a:t>LangChain</a:t>
            </a:r>
            <a:r>
              <a:rPr lang="en-CA" dirty="0"/>
              <a:t>-provided example is not that good. Can you refine it for them? How? (hint: to make LLM generate something you need…..)</a:t>
            </a:r>
          </a:p>
        </p:txBody>
      </p:sp>
      <p:pic>
        <p:nvPicPr>
          <p:cNvPr id="3" name="Picture 2" descr="Michael Zhang (Director, Master of Business Analytics Program)">
            <a:extLst>
              <a:ext uri="{FF2B5EF4-FFF2-40B4-BE49-F238E27FC236}">
                <a16:creationId xmlns:a16="http://schemas.microsoft.com/office/drawing/2014/main" id="{167A3416-6318-1CE8-AECC-4A1CBA284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307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5EE2B3-2748-55E0-00A2-E0E82C6C112B}"/>
              </a:ext>
            </a:extLst>
          </p:cNvPr>
          <p:cNvSpPr txBox="1"/>
          <p:nvPr/>
        </p:nvSpPr>
        <p:spPr>
          <a:xfrm>
            <a:off x="126999" y="3356520"/>
            <a:ext cx="120650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612141"/>
                </a:solidFill>
              </a:rPr>
              <a:t>*I would take a couple questions here</a:t>
            </a:r>
          </a:p>
        </p:txBody>
      </p:sp>
      <p:pic>
        <p:nvPicPr>
          <p:cNvPr id="3" name="Picture 2" descr="Michael Zhang (Director, Master of Business Analytics Program)">
            <a:extLst>
              <a:ext uri="{FF2B5EF4-FFF2-40B4-BE49-F238E27FC236}">
                <a16:creationId xmlns:a16="http://schemas.microsoft.com/office/drawing/2014/main" id="{37128241-84B0-0E2F-7542-F87B4742DD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7445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1A3485-2368-4646-C89B-C42CBC272CCE}"/>
              </a:ext>
            </a:extLst>
          </p:cNvPr>
          <p:cNvSpPr txBox="1"/>
          <p:nvPr/>
        </p:nvSpPr>
        <p:spPr>
          <a:xfrm>
            <a:off x="126999" y="3356520"/>
            <a:ext cx="120650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612141"/>
                </a:solidFill>
              </a:rPr>
              <a:t>5. H</a:t>
            </a:r>
            <a:r>
              <a:rPr lang="en-US" altLang="zh-CN" sz="4400" b="1" dirty="0">
                <a:solidFill>
                  <a:srgbClr val="612141"/>
                </a:solidFill>
              </a:rPr>
              <a:t>ands-On Project…..Again….</a:t>
            </a:r>
            <a:endParaRPr lang="en-CA" sz="4400" b="1" dirty="0">
              <a:solidFill>
                <a:srgbClr val="612141"/>
              </a:solidFill>
            </a:endParaRPr>
          </a:p>
        </p:txBody>
      </p:sp>
      <p:pic>
        <p:nvPicPr>
          <p:cNvPr id="3" name="Picture 2" descr="Michael Zhang (Director, Master of Business Analytics Program)">
            <a:extLst>
              <a:ext uri="{FF2B5EF4-FFF2-40B4-BE49-F238E27FC236}">
                <a16:creationId xmlns:a16="http://schemas.microsoft.com/office/drawing/2014/main" id="{04F10FBD-41B1-2C4B-DF96-7DFAF714B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70802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E42927-4733-C005-A526-FE2DD0BC32B7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612141"/>
                </a:solidFill>
              </a:rPr>
              <a:t>5. Hands-On Project: Agentic RAG vs Vanilla RAG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D8A20D-4EB1-BAE4-6C91-B15C5224C906}"/>
              </a:ext>
            </a:extLst>
          </p:cNvPr>
          <p:cNvSpPr txBox="1"/>
          <p:nvPr/>
        </p:nvSpPr>
        <p:spPr>
          <a:xfrm>
            <a:off x="0" y="584776"/>
            <a:ext cx="12192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 believe most of you have used/built RAG-enabled applications before. Probably it’s low-code or no-code. But this time I am curious if well-designed Agentic RAG could outperform Vanilla RAG.</a:t>
            </a:r>
          </a:p>
          <a:p>
            <a:r>
              <a:rPr lang="en-CA" dirty="0"/>
              <a:t>Project Description:</a:t>
            </a:r>
            <a:r>
              <a:rPr lang="zh-CN" altLang="en-US" dirty="0"/>
              <a:t> </a:t>
            </a:r>
            <a:r>
              <a:rPr lang="en-CA" dirty="0"/>
              <a:t>Build RAG AND Agentic RAG (which means two PROGRAMS) using the following website as external source of information and then compare quality of responses generated by these two approaches.</a:t>
            </a:r>
          </a:p>
          <a:p>
            <a:r>
              <a:rPr lang="en-CA" dirty="0"/>
              <a:t>When user asks a healthcare related question, your Python programs, I mean both, should be able to retrieve relevant information from the website first, send it to A</a:t>
            </a:r>
            <a:r>
              <a:rPr lang="en-US" altLang="zh-CN" dirty="0"/>
              <a:t>gent (or LLM)</a:t>
            </a:r>
            <a:r>
              <a:rPr lang="en-CA" dirty="0"/>
              <a:t> and then the Agent (or LLM) would respond to user with augmented response.</a:t>
            </a:r>
          </a:p>
          <a:p>
            <a:endParaRPr lang="en-CA" dirty="0"/>
          </a:p>
          <a:p>
            <a:r>
              <a:rPr lang="en-CA" b="1" dirty="0">
                <a:solidFill>
                  <a:srgbClr val="FF0000"/>
                </a:solidFill>
              </a:rPr>
              <a:t>PLEASE DON’T SIMPLY SEND ALL OF WHAT IS RETRIEVED TO LLM/AGENT! USING TOKENS INEFFICIENTLY WOULD ONLY MAKE YOU RUN OUT OF 2-USD BUDGET!!!!!!!!!!! ADD SOME FILTERS PLEASE!!!!!!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96D385-942B-96DF-B441-5326970C0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429952"/>
            <a:ext cx="7143184" cy="33398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4ADB90-F6D6-7796-3EBB-175670470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698" y="3828573"/>
            <a:ext cx="3848637" cy="140989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0B4843D-4C59-1DD1-D9FE-6D6C5FCB20FC}"/>
              </a:ext>
            </a:extLst>
          </p:cNvPr>
          <p:cNvCxnSpPr/>
          <p:nvPr/>
        </p:nvCxnSpPr>
        <p:spPr>
          <a:xfrm>
            <a:off x="8012317" y="3096285"/>
            <a:ext cx="1475715" cy="1810693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" name="Picture 3" descr="Michael Zhang (Director, Master of Business Analytics Program)">
            <a:extLst>
              <a:ext uri="{FF2B5EF4-FFF2-40B4-BE49-F238E27FC236}">
                <a16:creationId xmlns:a16="http://schemas.microsoft.com/office/drawing/2014/main" id="{B5A381F0-2112-0889-8A8E-9695E5DF5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97698" y="5681608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7151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044948-717A-B5C7-1B3F-1E18D5E06745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612141"/>
                </a:solidFill>
              </a:rPr>
              <a:t>5. Hands-On Project: A possibly helpful starter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5F225E-DFF8-B3BD-A3E2-FB27E4243F8A}"/>
              </a:ext>
            </a:extLst>
          </p:cNvPr>
          <p:cNvSpPr txBox="1"/>
          <p:nvPr/>
        </p:nvSpPr>
        <p:spPr>
          <a:xfrm>
            <a:off x="0" y="584776"/>
            <a:ext cx="251686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Use bs4 to extract html content given a link.</a:t>
            </a:r>
          </a:p>
          <a:p>
            <a:r>
              <a:rPr lang="en-CA" dirty="0"/>
              <a:t>Just simply: uv add bs4</a:t>
            </a:r>
          </a:p>
          <a:p>
            <a:endParaRPr lang="en-CA" dirty="0"/>
          </a:p>
          <a:p>
            <a:r>
              <a:rPr lang="en-CA" dirty="0"/>
              <a:t>uv add </a:t>
            </a:r>
            <a:r>
              <a:rPr lang="en-CA" dirty="0" err="1"/>
              <a:t>lxml</a:t>
            </a:r>
            <a:r>
              <a:rPr lang="en-CA" dirty="0"/>
              <a:t> to use </a:t>
            </a:r>
            <a:r>
              <a:rPr lang="en-CA" dirty="0" err="1"/>
              <a:t>lxml</a:t>
            </a:r>
            <a:r>
              <a:rPr lang="en-CA" dirty="0"/>
              <a:t> as feature.</a:t>
            </a:r>
          </a:p>
          <a:p>
            <a:endParaRPr lang="en-CA" dirty="0"/>
          </a:p>
          <a:p>
            <a:r>
              <a:rPr lang="en-CA" dirty="0"/>
              <a:t>Different page might or might not have the same html structure, so please click “inspect” to view the structure in the webpage.</a:t>
            </a:r>
          </a:p>
          <a:p>
            <a:endParaRPr lang="en-CA" dirty="0"/>
          </a:p>
          <a:p>
            <a:r>
              <a:rPr lang="en-CA" dirty="0"/>
              <a:t>I wont’ be able to teach bs4.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6AD64C-DBF0-93A4-9441-964C8F054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863" y="584775"/>
            <a:ext cx="9675137" cy="5001213"/>
          </a:xfrm>
          <a:prstGeom prst="rect">
            <a:avLst/>
          </a:prstGeom>
        </p:spPr>
      </p:pic>
      <p:pic>
        <p:nvPicPr>
          <p:cNvPr id="6" name="Picture 5" descr="Michael Zhang (Director, Master of Business Analytics Program)">
            <a:extLst>
              <a:ext uri="{FF2B5EF4-FFF2-40B4-BE49-F238E27FC236}">
                <a16:creationId xmlns:a16="http://schemas.microsoft.com/office/drawing/2014/main" id="{0E47AD4E-D569-1BFD-7047-A465A0084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97698" y="5681608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Michael Zhang (Director, Master of Business Analytics Program)">
            <a:extLst>
              <a:ext uri="{FF2B5EF4-FFF2-40B4-BE49-F238E27FC236}">
                <a16:creationId xmlns:a16="http://schemas.microsoft.com/office/drawing/2014/main" id="{8E8387C4-8088-AA2E-8C0E-2BDB33D98F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87748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4627F5-D99C-9964-8A5D-F0C090F4E070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612141"/>
                </a:solidFill>
              </a:rPr>
              <a:t>5. Hands-On Project: How to Compare? (Evaluation)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9800A4-6F7B-2F99-0860-C2A80E2BDD4B}"/>
              </a:ext>
            </a:extLst>
          </p:cNvPr>
          <p:cNvSpPr txBox="1"/>
          <p:nvPr/>
        </p:nvSpPr>
        <p:spPr>
          <a:xfrm>
            <a:off x="-1" y="805758"/>
            <a:ext cx="121919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If user asks a question like “what should I do if I have bipolar disorder and insomnia?”, a good RAG should retrieve both information related to bipolar disorder and information related to insomnia.</a:t>
            </a:r>
          </a:p>
          <a:p>
            <a:endParaRPr lang="en-CA" dirty="0"/>
          </a:p>
          <a:p>
            <a:r>
              <a:rPr lang="en-CA" dirty="0"/>
              <a:t>In other words, the more relevant information gets retrieved, the better the RAG is. This is how we, and most of researchers, evaluate RAG.</a:t>
            </a:r>
          </a:p>
          <a:p>
            <a:endParaRPr lang="en-CA" dirty="0"/>
          </a:p>
          <a:p>
            <a:r>
              <a:rPr lang="en-CA" dirty="0"/>
              <a:t>To make my life easier, please use print function to print what’s retrieved from website for each RAG.</a:t>
            </a:r>
          </a:p>
        </p:txBody>
      </p:sp>
      <p:pic>
        <p:nvPicPr>
          <p:cNvPr id="4" name="Picture 3" descr="Michael Zhang (Director, Master of Business Analytics Program)">
            <a:extLst>
              <a:ext uri="{FF2B5EF4-FFF2-40B4-BE49-F238E27FC236}">
                <a16:creationId xmlns:a16="http://schemas.microsoft.com/office/drawing/2014/main" id="{6FCB6219-A265-82D4-79B6-BA391D5EF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60799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8C887-52A8-8D1B-FC1D-A269A29E3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C91AAD-F3DA-315C-89CA-20C2B308AD1E}"/>
              </a:ext>
            </a:extLst>
          </p:cNvPr>
          <p:cNvSpPr txBox="1"/>
          <p:nvPr/>
        </p:nvSpPr>
        <p:spPr>
          <a:xfrm>
            <a:off x="1054100" y="1460500"/>
            <a:ext cx="10083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b="1" dirty="0">
                <a:solidFill>
                  <a:srgbClr val="612141"/>
                </a:solidFill>
              </a:rPr>
              <a:t>Thank you for your paged attention!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D87A3E-C9F4-9124-2DC9-C504113FA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587" y="2501130"/>
            <a:ext cx="8754826" cy="1855739"/>
          </a:xfrm>
          <a:prstGeom prst="rect">
            <a:avLst/>
          </a:prstGeom>
        </p:spPr>
      </p:pic>
      <p:pic>
        <p:nvPicPr>
          <p:cNvPr id="3" name="Picture 2" descr="Michael Zhang (Director, Master of Business Analytics Program)">
            <a:extLst>
              <a:ext uri="{FF2B5EF4-FFF2-40B4-BE49-F238E27FC236}">
                <a16:creationId xmlns:a16="http://schemas.microsoft.com/office/drawing/2014/main" id="{A7190817-34B7-BAA4-CA6B-D91872346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24906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C3A96417-83DB-5245-B67B-F06AC312B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152" y="2866836"/>
            <a:ext cx="945696" cy="112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83730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SMU Brand">
      <a:dk1>
        <a:srgbClr val="5D5E5D"/>
      </a:dk1>
      <a:lt1>
        <a:srgbClr val="FFFFFF"/>
      </a:lt1>
      <a:dk2>
        <a:srgbClr val="5F0A3E"/>
      </a:dk2>
      <a:lt2>
        <a:srgbClr val="CBCBCB"/>
      </a:lt2>
      <a:accent1>
        <a:srgbClr val="BA1B33"/>
      </a:accent1>
      <a:accent2>
        <a:srgbClr val="8CC645"/>
      </a:accent2>
      <a:accent3>
        <a:srgbClr val="FFE73C"/>
      </a:accent3>
      <a:accent4>
        <a:srgbClr val="FE7024"/>
      </a:accent4>
      <a:accent5>
        <a:srgbClr val="02BADF"/>
      </a:accent5>
      <a:accent6>
        <a:srgbClr val="FFFFFF"/>
      </a:accent6>
      <a:hlink>
        <a:srgbClr val="0563C1"/>
      </a:hlink>
      <a:folHlink>
        <a:srgbClr val="BA1B33"/>
      </a:folHlink>
    </a:clrScheme>
    <a:fontScheme name="Custom 1">
      <a:majorFont>
        <a:latin typeface="Raleway Extrabold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BFC40F3-7CD4-4529-8B92-DB825C0EA444}" vid="{5FC9822B-9D40-4053-B188-1529CAE1BD01}"/>
    </a:ext>
  </a:extLst>
</a:theme>
</file>

<file path=ppt/theme/theme2.xml><?xml version="1.0" encoding="utf-8"?>
<a:theme xmlns:a="http://schemas.openxmlformats.org/drawingml/2006/main" name="Office Theme">
  <a:themeElements>
    <a:clrScheme name="SMU Brand">
      <a:dk1>
        <a:srgbClr val="5D5E5D"/>
      </a:dk1>
      <a:lt1>
        <a:srgbClr val="FFFFFF"/>
      </a:lt1>
      <a:dk2>
        <a:srgbClr val="5F0A3E"/>
      </a:dk2>
      <a:lt2>
        <a:srgbClr val="CBCBCB"/>
      </a:lt2>
      <a:accent1>
        <a:srgbClr val="BA1B33"/>
      </a:accent1>
      <a:accent2>
        <a:srgbClr val="8CC645"/>
      </a:accent2>
      <a:accent3>
        <a:srgbClr val="FFE73C"/>
      </a:accent3>
      <a:accent4>
        <a:srgbClr val="FE7024"/>
      </a:accent4>
      <a:accent5>
        <a:srgbClr val="02BADF"/>
      </a:accent5>
      <a:accent6>
        <a:srgbClr val="FFFFFF"/>
      </a:accent6>
      <a:hlink>
        <a:srgbClr val="0563C1"/>
      </a:hlink>
      <a:folHlink>
        <a:srgbClr val="BA1B33"/>
      </a:folHlink>
    </a:clrScheme>
    <a:fontScheme name="SMU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BFC40F3-7CD4-4529-8B92-DB825C0EA444}" vid="{3F13DB48-E3EA-4868-91CC-15C4CB52CDA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ec2d0b7-503f-4434-bd5e-691963e6366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07646D0035FA4C8F1F95DBA74C7670" ma:contentTypeVersion="17" ma:contentTypeDescription="Create a new document." ma:contentTypeScope="" ma:versionID="cf5fc4cdedd07f1462f4c8ec2afe1d1c">
  <xsd:schema xmlns:xsd="http://www.w3.org/2001/XMLSchema" xmlns:xs="http://www.w3.org/2001/XMLSchema" xmlns:p="http://schemas.microsoft.com/office/2006/metadata/properties" xmlns:ns3="9ec2d0b7-503f-4434-bd5e-691963e6366e" xmlns:ns4="a169fe49-86d9-4b9f-a163-9271c3e82536" targetNamespace="http://schemas.microsoft.com/office/2006/metadata/properties" ma:root="true" ma:fieldsID="20a8c7e6184b57429edc59a72a4cddf8" ns3:_="" ns4:_="">
    <xsd:import namespace="9ec2d0b7-503f-4434-bd5e-691963e6366e"/>
    <xsd:import namespace="a169fe49-86d9-4b9f-a163-9271c3e8253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c2d0b7-503f-4434-bd5e-691963e636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69fe49-86d9-4b9f-a163-9271c3e8253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018E202-7E2C-4F25-B352-1695B79A5E4F}">
  <ds:schemaRefs>
    <ds:schemaRef ds:uri="9ec2d0b7-503f-4434-bd5e-691963e6366e"/>
    <ds:schemaRef ds:uri="a169fe49-86d9-4b9f-a163-9271c3e8253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1CCE7F9-BB03-4D29-A244-C8FCCA2B3E1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7425D8-505A-4C3E-A58C-BB480D4AEAF5}">
  <ds:schemaRefs>
    <ds:schemaRef ds:uri="9ec2d0b7-503f-4434-bd5e-691963e6366e"/>
    <ds:schemaRef ds:uri="a169fe49-86d9-4b9f-a163-9271c3e8253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SMUPresentationTemplate_FontsEmbedded</Template>
  <TotalTime>3843</TotalTime>
  <Words>1403</Words>
  <Application>Microsoft Office PowerPoint</Application>
  <PresentationFormat>Widescreen</PresentationFormat>
  <Paragraphs>134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Arial Black</vt:lpstr>
      <vt:lpstr>Custom Design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Zhouri</dc:creator>
  <cp:lastModifiedBy>Yilin Huang</cp:lastModifiedBy>
  <cp:revision>32</cp:revision>
  <cp:lastPrinted>2022-03-31T15:24:48Z</cp:lastPrinted>
  <dcterms:created xsi:type="dcterms:W3CDTF">2025-06-19T12:10:18Z</dcterms:created>
  <dcterms:modified xsi:type="dcterms:W3CDTF">2026-02-07T00:18:43Z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0x010100C107646D0035FA4C8F1F95DBA74C7670</vt:lpwstr>
  </property>
</Properties>
</file>