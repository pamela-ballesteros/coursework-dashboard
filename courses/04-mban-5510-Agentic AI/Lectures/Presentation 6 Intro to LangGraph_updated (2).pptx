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73" r:id="rId4"/>
    <p:sldMasterId id="2147483795" r:id="rId5"/>
  </p:sldMasterIdLst>
  <p:notesMasterIdLst>
    <p:notesMasterId r:id="rId24"/>
  </p:notesMasterIdLst>
  <p:handoutMasterIdLst>
    <p:handoutMasterId r:id="rId25"/>
  </p:handoutMasterIdLst>
  <p:sldIdLst>
    <p:sldId id="290" r:id="rId6"/>
    <p:sldId id="493" r:id="rId7"/>
    <p:sldId id="494" r:id="rId8"/>
    <p:sldId id="495" r:id="rId9"/>
    <p:sldId id="496" r:id="rId10"/>
    <p:sldId id="497" r:id="rId11"/>
    <p:sldId id="498" r:id="rId12"/>
    <p:sldId id="499" r:id="rId13"/>
    <p:sldId id="500" r:id="rId14"/>
    <p:sldId id="501" r:id="rId15"/>
    <p:sldId id="504" r:id="rId16"/>
    <p:sldId id="505" r:id="rId17"/>
    <p:sldId id="506" r:id="rId18"/>
    <p:sldId id="502" r:id="rId19"/>
    <p:sldId id="503" r:id="rId20"/>
    <p:sldId id="510" r:id="rId21"/>
    <p:sldId id="509" r:id="rId22"/>
    <p:sldId id="475" r:id="rId23"/>
  </p:sldIdLst>
  <p:sldSz cx="12192000" cy="6858000"/>
  <p:notesSz cx="6858000" cy="9144000"/>
  <p:embeddedFontLst>
    <p:embeddedFont>
      <p:font typeface="Arial Black" panose="020B0A04020102020204" pitchFamily="34" charset="0"/>
      <p:bold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14966C77-95E5-1E49-B131-2F9202CDF0C1}">
          <p14:sldIdLst>
            <p14:sldId id="290"/>
          </p14:sldIdLst>
        </p14:section>
        <p14:section name="Presentation" id="{9C487E9F-D4EB-EB42-B385-3CDF030F4242}">
          <p14:sldIdLst>
            <p14:sldId id="493"/>
            <p14:sldId id="494"/>
            <p14:sldId id="495"/>
            <p14:sldId id="496"/>
            <p14:sldId id="497"/>
            <p14:sldId id="498"/>
            <p14:sldId id="499"/>
            <p14:sldId id="500"/>
            <p14:sldId id="501"/>
            <p14:sldId id="504"/>
            <p14:sldId id="505"/>
            <p14:sldId id="506"/>
            <p14:sldId id="502"/>
            <p14:sldId id="503"/>
            <p14:sldId id="510"/>
            <p14:sldId id="509"/>
            <p14:sldId id="4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A83934F-2BC0-1588-E986-F9EF5995AB8B}" name="Margaret Murphy" initials="MM" userId="S::Margaret.Murphy@smu.ca::1c5a68ef-e9f5-4d75-aa17-d402a31635af" providerId="AD"/>
  <p188:author id="{D79F8BE3-B503-55B1-C2C3-4870E081325C}" name="Nadine LaRoche" initials="NL" userId="S::nadine.laroche@smu.ca::c7099506-2b9b-4cb9-a512-27782df0d03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6FC"/>
    <a:srgbClr val="F2F0FF"/>
    <a:srgbClr val="612141"/>
    <a:srgbClr val="BB1B33"/>
    <a:srgbClr val="5F0A3E"/>
    <a:srgbClr val="EEDC00"/>
    <a:srgbClr val="00A2C7"/>
    <a:srgbClr val="72A300"/>
    <a:srgbClr val="FF6A14"/>
    <a:srgbClr val="9D22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3"/>
  </p:normalViewPr>
  <p:slideViewPr>
    <p:cSldViewPr snapToGrid="0">
      <p:cViewPr varScale="1">
        <p:scale>
          <a:sx n="106" d="100"/>
          <a:sy n="106" d="100"/>
        </p:scale>
        <p:origin x="756" y="11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DF4323-3BF0-95F4-7460-74AA9630418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E97145D2-7B56-E808-6C80-2F1E66D2188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721F4E-852C-4843-848B-65B72FDCC89C}" type="datetimeFigureOut">
              <a:rPr lang="en-CA" smtClean="0"/>
              <a:t>2026-02-08</a:t>
            </a:fld>
            <a:endParaRPr lang="en-CA"/>
          </a:p>
        </p:txBody>
      </p:sp>
      <p:sp>
        <p:nvSpPr>
          <p:cNvPr id="4" name="Footer Placeholder 3">
            <a:extLst>
              <a:ext uri="{FF2B5EF4-FFF2-40B4-BE49-F238E27FC236}">
                <a16:creationId xmlns:a16="http://schemas.microsoft.com/office/drawing/2014/main" id="{98E5F336-B085-CC83-95AF-CE57BE7728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98D9F14A-8744-1B49-D51E-4617ED3F4A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51E18B-2064-4377-9E3F-6D274F9CD1BD}" type="slidenum">
              <a:rPr lang="en-CA" smtClean="0"/>
              <a:t>‹#›</a:t>
            </a:fld>
            <a:endParaRPr lang="en-CA"/>
          </a:p>
        </p:txBody>
      </p:sp>
    </p:spTree>
    <p:extLst>
      <p:ext uri="{BB962C8B-B14F-4D97-AF65-F5344CB8AC3E}">
        <p14:creationId xmlns:p14="http://schemas.microsoft.com/office/powerpoint/2010/main" val="25073060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B6FF8-7EE2-8344-B6A5-C9AE38CA73C7}" type="datetimeFigureOut">
              <a:rPr lang="en-US" smtClean="0"/>
              <a:t>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F60C5B-9251-0E4E-A71E-273408E7D990}" type="slidenum">
              <a:rPr lang="en-US" smtClean="0"/>
              <a:t>‹#›</a:t>
            </a:fld>
            <a:endParaRPr lang="en-US"/>
          </a:p>
        </p:txBody>
      </p:sp>
    </p:spTree>
    <p:extLst>
      <p:ext uri="{BB962C8B-B14F-4D97-AF65-F5344CB8AC3E}">
        <p14:creationId xmlns:p14="http://schemas.microsoft.com/office/powerpoint/2010/main" val="376265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ea typeface="Calibri"/>
              <a:cs typeface="Calibri"/>
            </a:endParaRPr>
          </a:p>
          <a:p>
            <a:endParaRPr lang="en-CA"/>
          </a:p>
        </p:txBody>
      </p:sp>
      <p:sp>
        <p:nvSpPr>
          <p:cNvPr id="4" name="Slide Number Placeholder 3"/>
          <p:cNvSpPr>
            <a:spLocks noGrp="1"/>
          </p:cNvSpPr>
          <p:nvPr>
            <p:ph type="sldNum" sz="quarter" idx="5"/>
          </p:nvPr>
        </p:nvSpPr>
        <p:spPr/>
        <p:txBody>
          <a:bodyPr/>
          <a:lstStyle/>
          <a:p>
            <a:fld id="{0DF60C5B-9251-0E4E-A71E-273408E7D990}" type="slidenum">
              <a:rPr lang="en-US" smtClean="0"/>
              <a:t>1</a:t>
            </a:fld>
            <a:endParaRPr lang="en-US"/>
          </a:p>
        </p:txBody>
      </p:sp>
    </p:spTree>
    <p:extLst>
      <p:ext uri="{BB962C8B-B14F-4D97-AF65-F5344CB8AC3E}">
        <p14:creationId xmlns:p14="http://schemas.microsoft.com/office/powerpoint/2010/main" val="3635520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0DF60C5B-9251-0E4E-A71E-273408E7D990}" type="slidenum">
              <a:rPr lang="en-US" smtClean="0"/>
              <a:t>2</a:t>
            </a:fld>
            <a:endParaRPr lang="en-US"/>
          </a:p>
        </p:txBody>
      </p:sp>
    </p:spTree>
    <p:extLst>
      <p:ext uri="{BB962C8B-B14F-4D97-AF65-F5344CB8AC3E}">
        <p14:creationId xmlns:p14="http://schemas.microsoft.com/office/powerpoint/2010/main" val="3152015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BF102-3E23-31E2-89B1-6D10E76D6A30}"/>
              </a:ext>
            </a:extLst>
          </p:cNvPr>
          <p:cNvSpPr>
            <a:spLocks noGrp="1"/>
          </p:cNvSpPr>
          <p:nvPr>
            <p:ph type="ctrTitle"/>
          </p:nvPr>
        </p:nvSpPr>
        <p:spPr>
          <a:xfrm>
            <a:off x="1524000" y="1122363"/>
            <a:ext cx="9144000" cy="2387600"/>
          </a:xfrm>
        </p:spPr>
        <p:txBody>
          <a:bodyPr anchor="b">
            <a:normAutofit/>
          </a:bodyPr>
          <a:lstStyle>
            <a:lvl1pPr algn="ctr">
              <a:defRPr sz="4200">
                <a:solidFill>
                  <a:srgbClr val="5F0A3E"/>
                </a:solidFill>
              </a:defRPr>
            </a:lvl1pPr>
          </a:lstStyle>
          <a:p>
            <a:r>
              <a:rPr lang="en-US"/>
              <a:t>Click to edit Master title style</a:t>
            </a:r>
          </a:p>
        </p:txBody>
      </p:sp>
      <p:sp>
        <p:nvSpPr>
          <p:cNvPr id="3" name="Subtitle 2">
            <a:extLst>
              <a:ext uri="{FF2B5EF4-FFF2-40B4-BE49-F238E27FC236}">
                <a16:creationId xmlns:a16="http://schemas.microsoft.com/office/drawing/2014/main" id="{E10CE49A-F308-F906-57BF-301518EDB371}"/>
              </a:ext>
            </a:extLst>
          </p:cNvPr>
          <p:cNvSpPr>
            <a:spLocks noGrp="1"/>
          </p:cNvSpPr>
          <p:nvPr>
            <p:ph type="subTitle" idx="1"/>
          </p:nvPr>
        </p:nvSpPr>
        <p:spPr>
          <a:xfrm>
            <a:off x="1524000" y="3602038"/>
            <a:ext cx="9144000" cy="1655762"/>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C2DB8F-3E2D-066F-06A0-BAC3A512485A}"/>
              </a:ext>
            </a:extLst>
          </p:cNvPr>
          <p:cNvSpPr>
            <a:spLocks noGrp="1"/>
          </p:cNvSpPr>
          <p:nvPr>
            <p:ph type="dt" sz="half" idx="10"/>
          </p:nvPr>
        </p:nvSpPr>
        <p:spPr/>
        <p:txBody>
          <a:bodyPr/>
          <a:lstStyle/>
          <a:p>
            <a:fld id="{93D1B2C0-1FD5-7B40-B252-D9944AD07450}" type="datetimeFigureOut">
              <a:rPr lang="en-US" smtClean="0"/>
              <a:t>2/8/2026</a:t>
            </a:fld>
            <a:endParaRPr lang="en-US"/>
          </a:p>
        </p:txBody>
      </p:sp>
      <p:sp>
        <p:nvSpPr>
          <p:cNvPr id="5" name="Footer Placeholder 4">
            <a:extLst>
              <a:ext uri="{FF2B5EF4-FFF2-40B4-BE49-F238E27FC236}">
                <a16:creationId xmlns:a16="http://schemas.microsoft.com/office/drawing/2014/main" id="{706529B2-49CA-4E66-3564-88DFBB70E3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90FC01-E720-407D-5043-01DA805881E1}"/>
              </a:ext>
            </a:extLst>
          </p:cNvPr>
          <p:cNvSpPr>
            <a:spLocks noGrp="1"/>
          </p:cNvSpPr>
          <p:nvPr>
            <p:ph type="sldNum" sz="quarter" idx="12"/>
          </p:nvPr>
        </p:nvSpPr>
        <p:spPr/>
        <p:txBody>
          <a:bodyPr/>
          <a:lstStyle/>
          <a:p>
            <a:fld id="{FDC0A681-0EFA-2C42-B0CE-6F23BA4C0A49}" type="slidenum">
              <a:rPr lang="en-US" smtClean="0"/>
              <a:t>‹#›</a:t>
            </a:fld>
            <a:endParaRPr lang="en-US"/>
          </a:p>
        </p:txBody>
      </p:sp>
    </p:spTree>
    <p:extLst>
      <p:ext uri="{BB962C8B-B14F-4D97-AF65-F5344CB8AC3E}">
        <p14:creationId xmlns:p14="http://schemas.microsoft.com/office/powerpoint/2010/main" val="1916852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80603A-465B-D048-A17D-E0BC88D932E2}"/>
              </a:ext>
            </a:extLst>
          </p:cNvPr>
          <p:cNvSpPr/>
          <p:nvPr userDrawn="1"/>
        </p:nvSpPr>
        <p:spPr>
          <a:xfrm>
            <a:off x="0" y="0"/>
            <a:ext cx="12192000" cy="5738648"/>
          </a:xfrm>
          <a:prstGeom prst="rect">
            <a:avLst/>
          </a:prstGeom>
          <a:solidFill>
            <a:srgbClr val="6121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12141"/>
              </a:solidFill>
            </a:endParaRPr>
          </a:p>
        </p:txBody>
      </p:sp>
      <p:pic>
        <p:nvPicPr>
          <p:cNvPr id="3" name="Picture 2" descr="A picture containing text, sign&#10;&#10;Description automatically generated">
            <a:extLst>
              <a:ext uri="{FF2B5EF4-FFF2-40B4-BE49-F238E27FC236}">
                <a16:creationId xmlns:a16="http://schemas.microsoft.com/office/drawing/2014/main" id="{7465B2A5-17AC-534F-998D-982C6FA1F47E}"/>
              </a:ext>
            </a:extLst>
          </p:cNvPr>
          <p:cNvPicPr>
            <a:picLocks noChangeAspect="1"/>
          </p:cNvPicPr>
          <p:nvPr userDrawn="1"/>
        </p:nvPicPr>
        <p:blipFill>
          <a:blip r:embed="rId2"/>
          <a:stretch>
            <a:fillRect/>
          </a:stretch>
        </p:blipFill>
        <p:spPr>
          <a:xfrm>
            <a:off x="9990508" y="6036270"/>
            <a:ext cx="1753043" cy="518506"/>
          </a:xfrm>
          <a:prstGeom prst="rect">
            <a:avLst/>
          </a:prstGeom>
        </p:spPr>
      </p:pic>
      <p:pic>
        <p:nvPicPr>
          <p:cNvPr id="4" name="Picture 3" descr="Shape&#10;&#10;Description automatically generated">
            <a:extLst>
              <a:ext uri="{FF2B5EF4-FFF2-40B4-BE49-F238E27FC236}">
                <a16:creationId xmlns:a16="http://schemas.microsoft.com/office/drawing/2014/main" id="{F779E60D-13A1-644B-A835-FD02D32D669B}"/>
              </a:ext>
            </a:extLst>
          </p:cNvPr>
          <p:cNvPicPr>
            <a:picLocks noChangeAspect="1"/>
          </p:cNvPicPr>
          <p:nvPr userDrawn="1"/>
        </p:nvPicPr>
        <p:blipFill rotWithShape="1">
          <a:blip r:embed="rId3"/>
          <a:srcRect l="26182"/>
          <a:stretch/>
        </p:blipFill>
        <p:spPr>
          <a:xfrm>
            <a:off x="0" y="3897246"/>
            <a:ext cx="9553262" cy="2879292"/>
          </a:xfrm>
          <a:prstGeom prst="rect">
            <a:avLst/>
          </a:prstGeom>
        </p:spPr>
      </p:pic>
      <p:sp>
        <p:nvSpPr>
          <p:cNvPr id="7" name="Title 1">
            <a:extLst>
              <a:ext uri="{FF2B5EF4-FFF2-40B4-BE49-F238E27FC236}">
                <a16:creationId xmlns:a16="http://schemas.microsoft.com/office/drawing/2014/main" id="{938C8071-8435-B248-8CC4-8CC2D6D75346}"/>
              </a:ext>
            </a:extLst>
          </p:cNvPr>
          <p:cNvSpPr>
            <a:spLocks noGrp="1"/>
          </p:cNvSpPr>
          <p:nvPr>
            <p:ph type="title"/>
          </p:nvPr>
        </p:nvSpPr>
        <p:spPr>
          <a:xfrm>
            <a:off x="957942" y="1794923"/>
            <a:ext cx="9140215" cy="834630"/>
          </a:xfrm>
          <a:prstGeom prst="rect">
            <a:avLst/>
          </a:prstGeom>
        </p:spPr>
        <p:txBody>
          <a:bodyPr anchor="b">
            <a:normAutofit/>
          </a:bodyPr>
          <a:lstStyle>
            <a:lvl1pPr algn="l">
              <a:defRPr sz="4200" b="0">
                <a:solidFill>
                  <a:schemeClr val="bg1"/>
                </a:solidFill>
                <a:latin typeface="Arial Black" panose="020B0A04020102020204" pitchFamily="34" charset="0"/>
              </a:defRPr>
            </a:lvl1pPr>
          </a:lstStyle>
          <a:p>
            <a:r>
              <a:rPr lang="en-US"/>
              <a:t>Click to edit Master title style</a:t>
            </a:r>
          </a:p>
        </p:txBody>
      </p:sp>
      <p:sp>
        <p:nvSpPr>
          <p:cNvPr id="8" name="Text Placeholder 2">
            <a:extLst>
              <a:ext uri="{FF2B5EF4-FFF2-40B4-BE49-F238E27FC236}">
                <a16:creationId xmlns:a16="http://schemas.microsoft.com/office/drawing/2014/main" id="{9DB37785-45C8-AE4A-9166-6D7F52963688}"/>
              </a:ext>
            </a:extLst>
          </p:cNvPr>
          <p:cNvSpPr>
            <a:spLocks noGrp="1"/>
          </p:cNvSpPr>
          <p:nvPr>
            <p:ph type="body" idx="1"/>
          </p:nvPr>
        </p:nvSpPr>
        <p:spPr>
          <a:xfrm>
            <a:off x="957942" y="2867819"/>
            <a:ext cx="6088901" cy="461666"/>
          </a:xfrm>
        </p:spPr>
        <p:txBody>
          <a:bodyPr/>
          <a:lstStyle>
            <a:lvl1pPr marL="0" indent="0">
              <a:buNone/>
              <a:defRPr sz="2400">
                <a:solidFill>
                  <a:schemeClr val="bg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556643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DC5CD5-7EC1-FE4D-BB82-8485AC698AC7}"/>
              </a:ext>
            </a:extLst>
          </p:cNvPr>
          <p:cNvSpPr/>
          <p:nvPr userDrawn="1"/>
        </p:nvSpPr>
        <p:spPr>
          <a:xfrm>
            <a:off x="0" y="0"/>
            <a:ext cx="12192000" cy="6858000"/>
          </a:xfrm>
          <a:prstGeom prst="rect">
            <a:avLst/>
          </a:prstGeom>
          <a:solidFill>
            <a:srgbClr val="61214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3FF1A6-E974-CA44-972F-ABD12FC73ECB}"/>
              </a:ext>
            </a:extLst>
          </p:cNvPr>
          <p:cNvSpPr>
            <a:spLocks noGrp="1"/>
          </p:cNvSpPr>
          <p:nvPr>
            <p:ph type="title"/>
          </p:nvPr>
        </p:nvSpPr>
        <p:spPr>
          <a:xfrm>
            <a:off x="2322581" y="3011685"/>
            <a:ext cx="7546837" cy="834630"/>
          </a:xfrm>
          <a:prstGeom prst="rect">
            <a:avLst/>
          </a:prstGeom>
        </p:spPr>
        <p:txBody>
          <a:bodyPr anchor="b">
            <a:normAutofit/>
          </a:bodyPr>
          <a:lstStyle>
            <a:lvl1pPr algn="ctr">
              <a:defRPr sz="4200" b="0">
                <a:solidFill>
                  <a:schemeClr val="bg1"/>
                </a:solidFill>
                <a:latin typeface="Arial Black" panose="020B0A04020102020204" pitchFamily="34" charset="0"/>
              </a:defRPr>
            </a:lvl1pPr>
          </a:lstStyle>
          <a:p>
            <a:r>
              <a:rPr lang="en-US"/>
              <a:t>Click to edit Master title</a:t>
            </a:r>
          </a:p>
        </p:txBody>
      </p:sp>
    </p:spTree>
    <p:extLst>
      <p:ext uri="{BB962C8B-B14F-4D97-AF65-F5344CB8AC3E}">
        <p14:creationId xmlns:p14="http://schemas.microsoft.com/office/powerpoint/2010/main" val="3570308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ub 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DBFF5A7-AD8A-4F41-AA2A-46D7A544F5F3}"/>
              </a:ext>
            </a:extLst>
          </p:cNvPr>
          <p:cNvSpPr/>
          <p:nvPr userDrawn="1"/>
        </p:nvSpPr>
        <p:spPr>
          <a:xfrm>
            <a:off x="0" y="0"/>
            <a:ext cx="12192000" cy="6858000"/>
          </a:xfrm>
          <a:prstGeom prst="rect">
            <a:avLst/>
          </a:prstGeom>
          <a:solidFill>
            <a:srgbClr val="5F0A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E3A2FE9-F0FD-3E41-B8AF-2580AE51F119}"/>
              </a:ext>
            </a:extLst>
          </p:cNvPr>
          <p:cNvPicPr>
            <a:picLocks noChangeAspect="1"/>
          </p:cNvPicPr>
          <p:nvPr userDrawn="1"/>
        </p:nvPicPr>
        <p:blipFill rotWithShape="1">
          <a:blip r:embed="rId2">
            <a:alphaModFix amt="20000"/>
          </a:blip>
          <a:srcRect t="12302" r="18707" b="20095"/>
          <a:stretch/>
        </p:blipFill>
        <p:spPr>
          <a:xfrm>
            <a:off x="3921800" y="0"/>
            <a:ext cx="8270200" cy="6858000"/>
          </a:xfrm>
          <a:prstGeom prst="rect">
            <a:avLst/>
          </a:prstGeom>
        </p:spPr>
      </p:pic>
      <p:sp>
        <p:nvSpPr>
          <p:cNvPr id="2" name="Title 1">
            <a:extLst>
              <a:ext uri="{FF2B5EF4-FFF2-40B4-BE49-F238E27FC236}">
                <a16:creationId xmlns:a16="http://schemas.microsoft.com/office/drawing/2014/main" id="{7EEA496E-B445-F84B-9139-A2B6AB2ADA2C}"/>
              </a:ext>
            </a:extLst>
          </p:cNvPr>
          <p:cNvSpPr>
            <a:spLocks noGrp="1"/>
          </p:cNvSpPr>
          <p:nvPr>
            <p:ph type="ctrTitle"/>
          </p:nvPr>
        </p:nvSpPr>
        <p:spPr>
          <a:xfrm>
            <a:off x="838200" y="2136914"/>
            <a:ext cx="8444948" cy="806366"/>
          </a:xfrm>
          <a:prstGeom prst="rect">
            <a:avLst/>
          </a:prstGeom>
        </p:spPr>
        <p:txBody>
          <a:bodyPr anchor="b">
            <a:normAutofit/>
          </a:bodyPr>
          <a:lstStyle>
            <a:lvl1pPr algn="l">
              <a:defRPr sz="4200" b="1">
                <a:solidFill>
                  <a:schemeClr val="bg1"/>
                </a:solidFill>
                <a:latin typeface="+mj-lt"/>
                <a:cs typeface="Arial" panose="020B0604020202020204" pitchFamily="34" charset="0"/>
              </a:defRPr>
            </a:lvl1pPr>
          </a:lstStyle>
          <a:p>
            <a:r>
              <a:rPr lang="en-US"/>
              <a:t>Click to edit Master title</a:t>
            </a:r>
          </a:p>
        </p:txBody>
      </p:sp>
    </p:spTree>
    <p:extLst>
      <p:ext uri="{BB962C8B-B14F-4D97-AF65-F5344CB8AC3E}">
        <p14:creationId xmlns:p14="http://schemas.microsoft.com/office/powerpoint/2010/main" val="906543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Full Page No Cre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A6D71-36B5-AC48-9B7E-3F5F53D9DD47}"/>
              </a:ext>
            </a:extLst>
          </p:cNvPr>
          <p:cNvSpPr>
            <a:spLocks noGrp="1"/>
          </p:cNvSpPr>
          <p:nvPr>
            <p:ph type="title"/>
          </p:nvPr>
        </p:nvSpPr>
        <p:spPr>
          <a:xfrm>
            <a:off x="695130" y="729734"/>
            <a:ext cx="10801740" cy="612052"/>
          </a:xfrm>
          <a:prstGeom prst="rect">
            <a:avLst/>
          </a:prstGeom>
        </p:spPr>
        <p:txBody>
          <a:bodyPr>
            <a:noAutofit/>
          </a:bodyPr>
          <a:lstStyle>
            <a:lvl1pPr>
              <a:defRPr sz="3200" b="1">
                <a:solidFill>
                  <a:srgbClr val="612141"/>
                </a:solidFill>
                <a:latin typeface="+mj-lt"/>
                <a:cs typeface="Arial" panose="020B0604020202020204" pitchFamily="34" charset="0"/>
              </a:defRPr>
            </a:lvl1pPr>
          </a:lstStyle>
          <a:p>
            <a:r>
              <a:rPr lang="en-US"/>
              <a:t>Click to edit Master title</a:t>
            </a:r>
          </a:p>
        </p:txBody>
      </p:sp>
      <p:sp>
        <p:nvSpPr>
          <p:cNvPr id="9" name="Content Placeholder 3">
            <a:extLst>
              <a:ext uri="{FF2B5EF4-FFF2-40B4-BE49-F238E27FC236}">
                <a16:creationId xmlns:a16="http://schemas.microsoft.com/office/drawing/2014/main" id="{701B0FE1-4AFD-C544-8ECF-5525E9A58923}"/>
              </a:ext>
            </a:extLst>
          </p:cNvPr>
          <p:cNvSpPr>
            <a:spLocks noGrp="1"/>
          </p:cNvSpPr>
          <p:nvPr>
            <p:ph sz="half" idx="2"/>
          </p:nvPr>
        </p:nvSpPr>
        <p:spPr>
          <a:xfrm>
            <a:off x="695130" y="1461795"/>
            <a:ext cx="10801740" cy="4570426"/>
          </a:xfrm>
          <a:prstGeom prst="rect">
            <a:avLst/>
          </a:prstGeom>
        </p:spPr>
        <p:txBody>
          <a:bodyPr numCol="2" spcCol="324000">
            <a:normAutofit/>
          </a:bodyPr>
          <a:lstStyle>
            <a:lvl1pPr marL="0" indent="0">
              <a:lnSpc>
                <a:spcPct val="100000"/>
              </a:lnSpc>
              <a:spcAft>
                <a:spcPts val="600"/>
              </a:spcAft>
              <a:buNone/>
              <a:defRPr sz="1500">
                <a:latin typeface="Arial" panose="020B0604020202020204" pitchFamily="34" charset="0"/>
                <a:cs typeface="Arial" panose="020B0604020202020204" pitchFamily="34" charset="0"/>
              </a:defRPr>
            </a:lvl1pPr>
            <a:lvl2pPr>
              <a:lnSpc>
                <a:spcPct val="100000"/>
              </a:lnSpc>
              <a:spcAft>
                <a:spcPts val="600"/>
              </a:spcAft>
              <a:defRPr sz="1500">
                <a:latin typeface="Arial" panose="020B0604020202020204" pitchFamily="34" charset="0"/>
                <a:cs typeface="Arial" panose="020B0604020202020204" pitchFamily="34" charset="0"/>
              </a:defRPr>
            </a:lvl2pPr>
            <a:lvl3pPr>
              <a:lnSpc>
                <a:spcPct val="100000"/>
              </a:lnSpc>
              <a:spcAft>
                <a:spcPts val="600"/>
              </a:spcAft>
              <a:defRPr sz="1500">
                <a:latin typeface="Arial" panose="020B0604020202020204" pitchFamily="34" charset="0"/>
                <a:cs typeface="Arial" panose="020B0604020202020204" pitchFamily="34" charset="0"/>
              </a:defRPr>
            </a:lvl3pPr>
            <a:lvl4pPr>
              <a:lnSpc>
                <a:spcPct val="100000"/>
              </a:lnSpc>
              <a:spcAft>
                <a:spcPts val="600"/>
              </a:spcAft>
              <a:defRPr sz="1500">
                <a:latin typeface="Arial" panose="020B0604020202020204" pitchFamily="34" charset="0"/>
                <a:cs typeface="Arial" panose="020B0604020202020204" pitchFamily="34" charset="0"/>
              </a:defRPr>
            </a:lvl4pPr>
            <a:lvl5pPr>
              <a:lnSpc>
                <a:spcPct val="100000"/>
              </a:lnSpc>
              <a:spcAft>
                <a:spcPts val="600"/>
              </a:spcAft>
              <a:defRPr sz="15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923FBB12-2468-DE45-B89E-06D4F1B6B164}"/>
              </a:ext>
            </a:extLst>
          </p:cNvPr>
          <p:cNvSpPr txBox="1"/>
          <p:nvPr userDrawn="1"/>
        </p:nvSpPr>
        <p:spPr>
          <a:xfrm>
            <a:off x="695131" y="6180210"/>
            <a:ext cx="5400869"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8346AF-B9E5-3D40-B164-07D577A9E9D3}" type="slidenum">
              <a:rPr lang="en-US" sz="1200" smtClean="0">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GB" sz="1200" b="0" i="0">
              <a:solidFill>
                <a:schemeClr val="bg2">
                  <a:lumMod val="25000"/>
                </a:schemeClr>
              </a:solidFill>
              <a:latin typeface="Arial" panose="020B0604020202020204" pitchFamily="34" charset="0"/>
              <a:cs typeface="Arial" panose="020B0604020202020204" pitchFamily="34" charset="0"/>
            </a:endParaRPr>
          </a:p>
          <a:p>
            <a:pPr algn="r"/>
            <a:endParaRPr lang="en-US">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23D7990E-29A7-E243-9878-BCBFF5F93795}"/>
              </a:ext>
            </a:extLst>
          </p:cNvPr>
          <p:cNvCxnSpPr>
            <a:cxnSpLocks/>
          </p:cNvCxnSpPr>
          <p:nvPr userDrawn="1"/>
        </p:nvCxnSpPr>
        <p:spPr>
          <a:xfrm>
            <a:off x="695130" y="6032231"/>
            <a:ext cx="10792677" cy="0"/>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23849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8_Footer Only">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1767872F-9363-4A44-B992-C3B401C29392}"/>
              </a:ext>
            </a:extLst>
          </p:cNvPr>
          <p:cNvCxnSpPr>
            <a:cxnSpLocks/>
          </p:cNvCxnSpPr>
          <p:nvPr userDrawn="1"/>
        </p:nvCxnSpPr>
        <p:spPr>
          <a:xfrm>
            <a:off x="695130" y="6032231"/>
            <a:ext cx="10019253" cy="0"/>
          </a:xfrm>
          <a:prstGeom prst="line">
            <a:avLst/>
          </a:prstGeom>
          <a:ln>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8FEDB748-6D42-484D-8ADE-3E4D73C16606}"/>
              </a:ext>
            </a:extLst>
          </p:cNvPr>
          <p:cNvSpPr txBox="1"/>
          <p:nvPr userDrawn="1"/>
        </p:nvSpPr>
        <p:spPr>
          <a:xfrm>
            <a:off x="695131" y="6180210"/>
            <a:ext cx="540086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8346AF-B9E5-3D40-B164-07D577A9E9D3}" type="slidenum">
              <a:rPr lang="en-US" sz="1200" smtClean="0">
                <a:latin typeface="Arial" panose="020B0604020202020204" pitchFamily="34" charset="0"/>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200"/>
              <a:t>  </a:t>
            </a:r>
            <a:endParaRPr lang="en-US"/>
          </a:p>
        </p:txBody>
      </p:sp>
      <p:pic>
        <p:nvPicPr>
          <p:cNvPr id="7" name="Picture 6" descr="Icon&#10;&#10;Description automatically generated">
            <a:extLst>
              <a:ext uri="{FF2B5EF4-FFF2-40B4-BE49-F238E27FC236}">
                <a16:creationId xmlns:a16="http://schemas.microsoft.com/office/drawing/2014/main" id="{F8B6913D-03AE-FB44-A58E-48445865D167}"/>
              </a:ext>
            </a:extLst>
          </p:cNvPr>
          <p:cNvPicPr>
            <a:picLocks noChangeAspect="1"/>
          </p:cNvPicPr>
          <p:nvPr userDrawn="1"/>
        </p:nvPicPr>
        <p:blipFill>
          <a:blip r:embed="rId2"/>
          <a:stretch>
            <a:fillRect/>
          </a:stretch>
        </p:blipFill>
        <p:spPr>
          <a:xfrm>
            <a:off x="11039678" y="5733608"/>
            <a:ext cx="608054" cy="722909"/>
          </a:xfrm>
          <a:prstGeom prst="rect">
            <a:avLst/>
          </a:prstGeom>
        </p:spPr>
      </p:pic>
    </p:spTree>
    <p:extLst>
      <p:ext uri="{BB962C8B-B14F-4D97-AF65-F5344CB8AC3E}">
        <p14:creationId xmlns:p14="http://schemas.microsoft.com/office/powerpoint/2010/main" val="137231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D1B2C0-1FD5-7B40-B252-D9944AD07450}" type="datetimeFigureOut">
              <a:rPr lang="en-US" smtClean="0"/>
              <a:t>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C0A681-0EFA-2C42-B0CE-6F23BA4C0A49}" type="slidenum">
              <a:rPr lang="en-US" smtClean="0"/>
              <a:t>‹#›</a:t>
            </a:fld>
            <a:endParaRPr lang="en-US"/>
          </a:p>
        </p:txBody>
      </p:sp>
    </p:spTree>
    <p:extLst>
      <p:ext uri="{BB962C8B-B14F-4D97-AF65-F5344CB8AC3E}">
        <p14:creationId xmlns:p14="http://schemas.microsoft.com/office/powerpoint/2010/main" val="80857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_Full Photo">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0945A27-B44B-1645-BEFC-D48F1644F205}"/>
              </a:ext>
            </a:extLst>
          </p:cNvPr>
          <p:cNvSpPr>
            <a:spLocks noGrp="1"/>
          </p:cNvSpPr>
          <p:nvPr>
            <p:ph type="pic" idx="1" hasCustomPrompt="1"/>
          </p:nvPr>
        </p:nvSpPr>
        <p:spPr>
          <a:xfrm>
            <a:off x="0" y="0"/>
            <a:ext cx="12192000" cy="6858000"/>
          </a:xfrm>
          <a:prstGeom prst="rect">
            <a:avLst/>
          </a:prstGeom>
        </p:spPr>
        <p:txBody>
          <a:bodyPr>
            <a:normAutofit/>
          </a:bodyPr>
          <a:lstStyle>
            <a:lvl1pPr marL="0" indent="0">
              <a:buNone/>
              <a:defRPr sz="2800">
                <a:solidFill>
                  <a:srgbClr val="5F0A3E"/>
                </a:solidFill>
                <a:latin typeface="Arial Black" panose="020B0A040201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to edit Master title</a:t>
            </a:r>
          </a:p>
        </p:txBody>
      </p:sp>
    </p:spTree>
    <p:extLst>
      <p:ext uri="{BB962C8B-B14F-4D97-AF65-F5344CB8AC3E}">
        <p14:creationId xmlns:p14="http://schemas.microsoft.com/office/powerpoint/2010/main" val="16110473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DC78D5-1CB8-9C44-8B83-1D77E61AEA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51C7A6-6123-AE49-8FEE-51E84EFB11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419391-878F-B548-96DD-19F2AB577F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93D1B2C0-1FD5-7B40-B252-D9944AD07450}" type="datetimeFigureOut">
              <a:rPr lang="en-US" smtClean="0"/>
              <a:pPr/>
              <a:t>2/8/2026</a:t>
            </a:fld>
            <a:endParaRPr lang="en-US"/>
          </a:p>
        </p:txBody>
      </p:sp>
      <p:sp>
        <p:nvSpPr>
          <p:cNvPr id="5" name="Footer Placeholder 4">
            <a:extLst>
              <a:ext uri="{FF2B5EF4-FFF2-40B4-BE49-F238E27FC236}">
                <a16:creationId xmlns:a16="http://schemas.microsoft.com/office/drawing/2014/main" id="{7AA4264C-5947-8042-8D2E-76E3B84D05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D48B4ECB-2E5A-594E-92A1-FDA88DD35B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FDC0A681-0EFA-2C42-B0CE-6F23BA4C0A49}" type="slidenum">
              <a:rPr lang="en-US" smtClean="0"/>
              <a:pPr/>
              <a:t>‹#›</a:t>
            </a:fld>
            <a:endParaRPr lang="en-US"/>
          </a:p>
        </p:txBody>
      </p:sp>
    </p:spTree>
    <p:extLst>
      <p:ext uri="{BB962C8B-B14F-4D97-AF65-F5344CB8AC3E}">
        <p14:creationId xmlns:p14="http://schemas.microsoft.com/office/powerpoint/2010/main" val="2352668767"/>
      </p:ext>
    </p:extLst>
  </p:cSld>
  <p:clrMap bg1="lt1" tx1="dk1" bg2="lt2" tx2="dk2" accent1="accent1" accent2="accent2" accent3="accent3" accent4="accent4" accent5="accent5" accent6="accent6" hlink="hlink" folHlink="folHlink"/>
  <p:sldLayoutIdLst>
    <p:sldLayoutId id="2147483814" r:id="rId1"/>
  </p:sldLayoutIdLst>
  <p:txStyles>
    <p:titleStyle>
      <a:lvl1pPr algn="l" defTabSz="914400" rtl="0" eaLnBrk="1" latinLnBrk="0" hangingPunct="1">
        <a:lnSpc>
          <a:spcPct val="90000"/>
        </a:lnSpc>
        <a:spcBef>
          <a:spcPct val="0"/>
        </a:spcBef>
        <a:buNone/>
        <a:defRPr sz="4000" kern="1200">
          <a:solidFill>
            <a:srgbClr val="5F0A3E"/>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93D1B2C0-1FD5-7B40-B252-D9944AD07450}" type="datetimeFigureOut">
              <a:rPr lang="en-US" smtClean="0"/>
              <a:pPr/>
              <a:t>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FDC0A681-0EFA-2C42-B0CE-6F23BA4C0A49}" type="slidenum">
              <a:rPr lang="en-US" smtClean="0"/>
              <a:pPr/>
              <a:t>‹#›</a:t>
            </a:fld>
            <a:endParaRPr lang="en-US"/>
          </a:p>
        </p:txBody>
      </p:sp>
    </p:spTree>
    <p:extLst>
      <p:ext uri="{BB962C8B-B14F-4D97-AF65-F5344CB8AC3E}">
        <p14:creationId xmlns:p14="http://schemas.microsoft.com/office/powerpoint/2010/main" val="2831194283"/>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15" r:id="rId3"/>
    <p:sldLayoutId id="2147483691" r:id="rId4"/>
    <p:sldLayoutId id="2147483698" r:id="rId5"/>
    <p:sldLayoutId id="2147483802" r:id="rId6"/>
    <p:sldLayoutId id="2147483687" r:id="rId7"/>
  </p:sldLayoutIdLst>
  <p:txStyles>
    <p:titleStyle>
      <a:lvl1pPr algn="l" defTabSz="914400" rtl="0" eaLnBrk="1" latinLnBrk="0" hangingPunct="1">
        <a:lnSpc>
          <a:spcPct val="90000"/>
        </a:lnSpc>
        <a:spcBef>
          <a:spcPct val="0"/>
        </a:spcBef>
        <a:buNone/>
        <a:defRPr sz="3200" kern="1200">
          <a:solidFill>
            <a:srgbClr val="5F0A3E"/>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5" Type="http://schemas.openxmlformats.org/officeDocument/2006/relationships/image" Target="../media/image6.jpe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62048F-8E71-6693-8FDC-63B307F83BA9}"/>
              </a:ext>
            </a:extLst>
          </p:cNvPr>
          <p:cNvSpPr txBox="1"/>
          <p:nvPr/>
        </p:nvSpPr>
        <p:spPr>
          <a:xfrm>
            <a:off x="266700" y="292100"/>
            <a:ext cx="8940800" cy="1754326"/>
          </a:xfrm>
          <a:prstGeom prst="rect">
            <a:avLst/>
          </a:prstGeom>
          <a:noFill/>
        </p:spPr>
        <p:txBody>
          <a:bodyPr wrap="square" rtlCol="0">
            <a:spAutoFit/>
          </a:bodyPr>
          <a:lstStyle/>
          <a:p>
            <a:r>
              <a:rPr lang="en-CA" sz="5400" dirty="0">
                <a:solidFill>
                  <a:schemeClr val="bg1"/>
                </a:solidFill>
              </a:rPr>
              <a:t>A</a:t>
            </a:r>
            <a:r>
              <a:rPr lang="en-US" altLang="zh-CN" sz="5400" dirty="0">
                <a:solidFill>
                  <a:schemeClr val="bg1"/>
                </a:solidFill>
              </a:rPr>
              <a:t>gentic AI with LangChain and LangGraph</a:t>
            </a:r>
            <a:endParaRPr lang="en-CA" sz="5400" dirty="0">
              <a:solidFill>
                <a:schemeClr val="bg1"/>
              </a:solidFill>
            </a:endParaRPr>
          </a:p>
        </p:txBody>
      </p:sp>
      <p:pic>
        <p:nvPicPr>
          <p:cNvPr id="3" name="Picture 2" descr="image">
            <a:extLst>
              <a:ext uri="{FF2B5EF4-FFF2-40B4-BE49-F238E27FC236}">
                <a16:creationId xmlns:a16="http://schemas.microsoft.com/office/drawing/2014/main" id="{66131BCA-603B-8FBA-4A19-96AD2C0A48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00" y="3061001"/>
            <a:ext cx="4889500" cy="266694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6FE6E5A-3C48-B1DD-0D89-4B234A2519AB}"/>
              </a:ext>
            </a:extLst>
          </p:cNvPr>
          <p:cNvSpPr txBox="1"/>
          <p:nvPr/>
        </p:nvSpPr>
        <p:spPr>
          <a:xfrm>
            <a:off x="266700" y="4086443"/>
            <a:ext cx="7618869" cy="1815882"/>
          </a:xfrm>
          <a:prstGeom prst="rect">
            <a:avLst/>
          </a:prstGeom>
          <a:noFill/>
        </p:spPr>
        <p:txBody>
          <a:bodyPr wrap="square" rtlCol="0">
            <a:spAutoFit/>
          </a:bodyPr>
          <a:lstStyle/>
          <a:p>
            <a:r>
              <a:rPr lang="en-CA" sz="2800">
                <a:solidFill>
                  <a:schemeClr val="bg1"/>
                </a:solidFill>
              </a:rPr>
              <a:t>Presentation </a:t>
            </a:r>
            <a:r>
              <a:rPr lang="en-CA" sz="2800" dirty="0">
                <a:solidFill>
                  <a:schemeClr val="bg1"/>
                </a:solidFill>
              </a:rPr>
              <a:t>6: Intro to </a:t>
            </a:r>
            <a:r>
              <a:rPr lang="en-CA" sz="2800" dirty="0" err="1">
                <a:solidFill>
                  <a:schemeClr val="bg1"/>
                </a:solidFill>
              </a:rPr>
              <a:t>LangGraph</a:t>
            </a:r>
            <a:endParaRPr lang="en-CA" sz="2800" dirty="0">
              <a:solidFill>
                <a:schemeClr val="bg1"/>
              </a:solidFill>
            </a:endParaRPr>
          </a:p>
          <a:p>
            <a:r>
              <a:rPr lang="en-CA" sz="2800" dirty="0">
                <a:solidFill>
                  <a:schemeClr val="bg1"/>
                </a:solidFill>
              </a:rPr>
              <a:t>Primary Instructor: Michael Z</a:t>
            </a:r>
          </a:p>
          <a:p>
            <a:r>
              <a:rPr lang="en-CA" sz="2800" dirty="0">
                <a:solidFill>
                  <a:schemeClr val="bg1"/>
                </a:solidFill>
              </a:rPr>
              <a:t>RA: YH</a:t>
            </a:r>
          </a:p>
          <a:p>
            <a:r>
              <a:rPr lang="en-CA" sz="2800" dirty="0">
                <a:solidFill>
                  <a:schemeClr val="bg1"/>
                </a:solidFill>
              </a:rPr>
              <a:t>Date: 2026.Jan-Feb</a:t>
            </a:r>
          </a:p>
        </p:txBody>
      </p:sp>
      <p:pic>
        <p:nvPicPr>
          <p:cNvPr id="5" name="Picture 4" descr="Michael Zhang (Director, Master of Business Analytics Program)">
            <a:extLst>
              <a:ext uri="{FF2B5EF4-FFF2-40B4-BE49-F238E27FC236}">
                <a16:creationId xmlns:a16="http://schemas.microsoft.com/office/drawing/2014/main" id="{92481207-CC40-55FB-07C1-3EF6034873CF}"/>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577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45F643-6269-0EA1-CC77-B781EB602B7A}"/>
              </a:ext>
            </a:extLst>
          </p:cNvPr>
          <p:cNvSpPr txBox="1"/>
          <p:nvPr/>
        </p:nvSpPr>
        <p:spPr>
          <a:xfrm>
            <a:off x="126999" y="3356520"/>
            <a:ext cx="12065001" cy="2123658"/>
          </a:xfrm>
          <a:prstGeom prst="rect">
            <a:avLst/>
          </a:prstGeom>
          <a:noFill/>
        </p:spPr>
        <p:txBody>
          <a:bodyPr wrap="square" rtlCol="0">
            <a:spAutoFit/>
          </a:bodyPr>
          <a:lstStyle/>
          <a:p>
            <a:r>
              <a:rPr lang="en-CA" sz="4400" b="1" dirty="0">
                <a:solidFill>
                  <a:srgbClr val="612141"/>
                </a:solidFill>
              </a:rPr>
              <a:t>0. I wish you did the QuickStart of </a:t>
            </a:r>
            <a:r>
              <a:rPr lang="en-CA" sz="4400" b="1" dirty="0" err="1">
                <a:solidFill>
                  <a:srgbClr val="612141"/>
                </a:solidFill>
              </a:rPr>
              <a:t>LangGraph</a:t>
            </a:r>
            <a:r>
              <a:rPr lang="en-CA" sz="4400" b="1" dirty="0">
                <a:solidFill>
                  <a:srgbClr val="612141"/>
                </a:solidFill>
              </a:rPr>
              <a:t> (Graph API only). You can do it now if you didn’t</a:t>
            </a:r>
          </a:p>
        </p:txBody>
      </p:sp>
      <p:pic>
        <p:nvPicPr>
          <p:cNvPr id="3" name="Picture 2" descr="Michael Zhang (Director, Master of Business Analytics Program)">
            <a:extLst>
              <a:ext uri="{FF2B5EF4-FFF2-40B4-BE49-F238E27FC236}">
                <a16:creationId xmlns:a16="http://schemas.microsoft.com/office/drawing/2014/main" id="{4C2904F0-C849-E7C0-35B6-4148AF7205C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121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DB52F3-C1D7-7A0E-DFD0-EBF77B80A297}"/>
              </a:ext>
            </a:extLst>
          </p:cNvPr>
          <p:cNvSpPr txBox="1"/>
          <p:nvPr/>
        </p:nvSpPr>
        <p:spPr>
          <a:xfrm>
            <a:off x="126999" y="3356520"/>
            <a:ext cx="12065001" cy="769441"/>
          </a:xfrm>
          <a:prstGeom prst="rect">
            <a:avLst/>
          </a:prstGeom>
          <a:noFill/>
        </p:spPr>
        <p:txBody>
          <a:bodyPr wrap="square" rtlCol="0">
            <a:spAutoFit/>
          </a:bodyPr>
          <a:lstStyle/>
          <a:p>
            <a:r>
              <a:rPr lang="en-CA" sz="4400" b="1" dirty="0">
                <a:solidFill>
                  <a:srgbClr val="612141"/>
                </a:solidFill>
              </a:rPr>
              <a:t>1. Think in Graph</a:t>
            </a:r>
          </a:p>
        </p:txBody>
      </p:sp>
      <p:pic>
        <p:nvPicPr>
          <p:cNvPr id="3" name="Picture 2" descr="Michael Zhang (Director, Master of Business Analytics Program)">
            <a:extLst>
              <a:ext uri="{FF2B5EF4-FFF2-40B4-BE49-F238E27FC236}">
                <a16:creationId xmlns:a16="http://schemas.microsoft.com/office/drawing/2014/main" id="{A11D16DC-6E70-5B57-912A-9FAD0463C3B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3860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a:extLst>
              <a:ext uri="{FF2B5EF4-FFF2-40B4-BE49-F238E27FC236}">
                <a16:creationId xmlns:a16="http://schemas.microsoft.com/office/drawing/2014/main" id="{A7F13B8F-CD26-8338-9068-C0AD7C726F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4094" y="2527777"/>
            <a:ext cx="7938915" cy="433022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66CC842-043B-9914-3429-631FE499A869}"/>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1. Think in Graph: Let’s chain these parrots together</a:t>
            </a:r>
          </a:p>
        </p:txBody>
      </p:sp>
      <p:sp>
        <p:nvSpPr>
          <p:cNvPr id="5" name="TextBox 4">
            <a:extLst>
              <a:ext uri="{FF2B5EF4-FFF2-40B4-BE49-F238E27FC236}">
                <a16:creationId xmlns:a16="http://schemas.microsoft.com/office/drawing/2014/main" id="{89979F28-B737-659A-5E07-E8A054A1EB08}"/>
              </a:ext>
            </a:extLst>
          </p:cNvPr>
          <p:cNvSpPr txBox="1"/>
          <p:nvPr/>
        </p:nvSpPr>
        <p:spPr>
          <a:xfrm>
            <a:off x="-1" y="847023"/>
            <a:ext cx="12192000" cy="1754326"/>
          </a:xfrm>
          <a:prstGeom prst="rect">
            <a:avLst/>
          </a:prstGeom>
          <a:noFill/>
        </p:spPr>
        <p:txBody>
          <a:bodyPr wrap="square" rtlCol="0">
            <a:spAutoFit/>
          </a:bodyPr>
          <a:lstStyle/>
          <a:p>
            <a:r>
              <a:rPr lang="en-CA" dirty="0"/>
              <a:t>Still remember the interesting explanation of </a:t>
            </a:r>
            <a:r>
              <a:rPr lang="en-CA" dirty="0" err="1"/>
              <a:t>LangChain</a:t>
            </a:r>
            <a:r>
              <a:rPr lang="en-CA" dirty="0"/>
              <a:t> logo? Unfortunately, </a:t>
            </a:r>
            <a:r>
              <a:rPr lang="en-CA" dirty="0" err="1"/>
              <a:t>LangChain</a:t>
            </a:r>
            <a:r>
              <a:rPr lang="en-CA" dirty="0"/>
              <a:t>, the Python package, alone, can’t achieve what </a:t>
            </a:r>
            <a:r>
              <a:rPr lang="en-CA" dirty="0" err="1"/>
              <a:t>LangChain</a:t>
            </a:r>
            <a:r>
              <a:rPr lang="en-CA" dirty="0"/>
              <a:t> logo means to do. </a:t>
            </a:r>
            <a:r>
              <a:rPr lang="en-CA" dirty="0" err="1"/>
              <a:t>LangGraph</a:t>
            </a:r>
            <a:r>
              <a:rPr lang="en-CA" dirty="0"/>
              <a:t> is the one you would use to chain these parrots (LLMs) together.</a:t>
            </a:r>
          </a:p>
          <a:p>
            <a:endParaRPr lang="en-CA" dirty="0"/>
          </a:p>
          <a:p>
            <a:r>
              <a:rPr lang="en-CA" dirty="0"/>
              <a:t>What are the differences between </a:t>
            </a:r>
            <a:r>
              <a:rPr lang="en-CA" dirty="0" err="1"/>
              <a:t>LangChain</a:t>
            </a:r>
            <a:r>
              <a:rPr lang="en-CA" dirty="0"/>
              <a:t> and </a:t>
            </a:r>
            <a:r>
              <a:rPr lang="en-CA" dirty="0" err="1"/>
              <a:t>LangGraph</a:t>
            </a:r>
            <a:r>
              <a:rPr lang="en-CA" dirty="0"/>
              <a:t>? Why </a:t>
            </a:r>
            <a:r>
              <a:rPr lang="en-CA" dirty="0" err="1"/>
              <a:t>LangGraph</a:t>
            </a:r>
            <a:r>
              <a:rPr lang="en-CA" dirty="0"/>
              <a:t> is a separate package, rather than a part of </a:t>
            </a:r>
            <a:r>
              <a:rPr lang="en-CA" dirty="0" err="1"/>
              <a:t>LangChain</a:t>
            </a:r>
            <a:r>
              <a:rPr lang="en-CA" dirty="0"/>
              <a:t>?</a:t>
            </a:r>
          </a:p>
        </p:txBody>
      </p:sp>
      <p:pic>
        <p:nvPicPr>
          <p:cNvPr id="4" name="Picture 3" descr="Michael Zhang (Director, Master of Business Analytics Program)">
            <a:extLst>
              <a:ext uri="{FF2B5EF4-FFF2-40B4-BE49-F238E27FC236}">
                <a16:creationId xmlns:a16="http://schemas.microsoft.com/office/drawing/2014/main" id="{6A8C78C3-44C6-2C0B-8DD4-23FE8C91F0E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2690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AB7E4-F38F-92B9-696C-7F499765D53B}"/>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1. Think in Graph: Let’s think of problem step by step</a:t>
            </a:r>
          </a:p>
        </p:txBody>
      </p:sp>
      <p:sp>
        <p:nvSpPr>
          <p:cNvPr id="3" name="TextBox 2">
            <a:extLst>
              <a:ext uri="{FF2B5EF4-FFF2-40B4-BE49-F238E27FC236}">
                <a16:creationId xmlns:a16="http://schemas.microsoft.com/office/drawing/2014/main" id="{D706C427-57F6-1DD5-B315-239581F59332}"/>
              </a:ext>
            </a:extLst>
          </p:cNvPr>
          <p:cNvSpPr txBox="1"/>
          <p:nvPr/>
        </p:nvSpPr>
        <p:spPr>
          <a:xfrm>
            <a:off x="0" y="584775"/>
            <a:ext cx="12192000" cy="5509200"/>
          </a:xfrm>
          <a:prstGeom prst="rect">
            <a:avLst/>
          </a:prstGeom>
          <a:noFill/>
        </p:spPr>
        <p:txBody>
          <a:bodyPr wrap="square" rtlCol="0">
            <a:spAutoFit/>
          </a:bodyPr>
          <a:lstStyle/>
          <a:p>
            <a:r>
              <a:rPr lang="en-CA" dirty="0"/>
              <a:t>When we face a problem, what’s the commonly-used pattern of thinking of solution?</a:t>
            </a:r>
          </a:p>
          <a:p>
            <a:endParaRPr lang="en-CA" dirty="0"/>
          </a:p>
          <a:p>
            <a:r>
              <a:rPr lang="en-CA" dirty="0"/>
              <a:t>For example, how to make a bowl of salad?</a:t>
            </a:r>
          </a:p>
          <a:p>
            <a:endParaRPr lang="en-CA" dirty="0"/>
          </a:p>
          <a:p>
            <a:r>
              <a:rPr lang="en-CA" dirty="0"/>
              <a:t>First, you might buy the vegetables and eggs and sauces. Second, you boil the eggs. Third, you would cut the vegetables…</a:t>
            </a:r>
          </a:p>
          <a:p>
            <a:endParaRPr lang="en-CA" dirty="0"/>
          </a:p>
          <a:p>
            <a:r>
              <a:rPr lang="en-CA" dirty="0"/>
              <a:t>You solve the problem </a:t>
            </a:r>
            <a:r>
              <a:rPr lang="en-CA" sz="2800" b="1" dirty="0"/>
              <a:t>STEP BY STEP</a:t>
            </a:r>
            <a:r>
              <a:rPr lang="en-CA" dirty="0"/>
              <a:t>.</a:t>
            </a:r>
          </a:p>
          <a:p>
            <a:r>
              <a:rPr lang="en-CA" dirty="0"/>
              <a:t>In </a:t>
            </a:r>
            <a:r>
              <a:rPr lang="en-CA" dirty="0" err="1"/>
              <a:t>LangGraph</a:t>
            </a:r>
            <a:r>
              <a:rPr lang="en-CA" dirty="0"/>
              <a:t>, the step we talked about here is a node. An edge would decide what’s the next node to call.</a:t>
            </a:r>
          </a:p>
          <a:p>
            <a:r>
              <a:rPr lang="en-CA" dirty="0"/>
              <a:t>The state = data structure (schema) + reducer (might not talk about it in this lecture), simply.</a:t>
            </a:r>
          </a:p>
          <a:p>
            <a:endParaRPr lang="en-CA" dirty="0"/>
          </a:p>
          <a:p>
            <a:r>
              <a:rPr lang="en-CA" dirty="0"/>
              <a:t>Designing multi-agent is nothing but designing a Python script to solve a problem step by step, with some logics and engineering details added, using </a:t>
            </a:r>
            <a:r>
              <a:rPr lang="en-CA" dirty="0" err="1"/>
              <a:t>LangGraph</a:t>
            </a:r>
            <a:r>
              <a:rPr lang="en-CA" dirty="0"/>
              <a:t>.</a:t>
            </a:r>
          </a:p>
          <a:p>
            <a:endParaRPr lang="en-CA" dirty="0"/>
          </a:p>
          <a:p>
            <a:r>
              <a:rPr lang="en-CA" dirty="0"/>
              <a:t>A node is basically a function and an edge is a bunch of if else bundled to decide what’s next.</a:t>
            </a:r>
          </a:p>
          <a:p>
            <a:endParaRPr lang="en-CA" dirty="0"/>
          </a:p>
          <a:p>
            <a:r>
              <a:rPr lang="en-CA" dirty="0"/>
              <a:t>If something could be done by plain LLM or agent in this node, you can simply call it multi-agent.</a:t>
            </a:r>
          </a:p>
          <a:p>
            <a:endParaRPr lang="en-CA" dirty="0"/>
          </a:p>
          <a:p>
            <a:r>
              <a:rPr lang="en-CA" dirty="0"/>
              <a:t>Actually, you could put whatever you like in a node.</a:t>
            </a:r>
          </a:p>
        </p:txBody>
      </p:sp>
      <p:pic>
        <p:nvPicPr>
          <p:cNvPr id="4" name="Picture 3" descr="Michael Zhang (Director, Master of Business Analytics Program)">
            <a:extLst>
              <a:ext uri="{FF2B5EF4-FFF2-40B4-BE49-F238E27FC236}">
                <a16:creationId xmlns:a16="http://schemas.microsoft.com/office/drawing/2014/main" id="{B602FE56-BD99-7C90-5AA0-A238BE125A5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369300" y="5616137"/>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7131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7B72A1-4222-0499-90B9-BDBF796F8EF3}"/>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1. Think in Graph: Workflow, Agentic Workflow, Agent</a:t>
            </a:r>
          </a:p>
        </p:txBody>
      </p:sp>
      <p:sp>
        <p:nvSpPr>
          <p:cNvPr id="3" name="TextBox 2">
            <a:extLst>
              <a:ext uri="{FF2B5EF4-FFF2-40B4-BE49-F238E27FC236}">
                <a16:creationId xmlns:a16="http://schemas.microsoft.com/office/drawing/2014/main" id="{49DAB8E1-F902-B442-FE29-F610D31F4FD6}"/>
              </a:ext>
            </a:extLst>
          </p:cNvPr>
          <p:cNvSpPr txBox="1"/>
          <p:nvPr/>
        </p:nvSpPr>
        <p:spPr>
          <a:xfrm>
            <a:off x="-1" y="584775"/>
            <a:ext cx="7517331" cy="369332"/>
          </a:xfrm>
          <a:prstGeom prst="rect">
            <a:avLst/>
          </a:prstGeom>
          <a:noFill/>
        </p:spPr>
        <p:txBody>
          <a:bodyPr wrap="square" rtlCol="0">
            <a:spAutoFit/>
          </a:bodyPr>
          <a:lstStyle/>
          <a:p>
            <a:r>
              <a:rPr lang="en-CA" dirty="0"/>
              <a:t>I love this image cause it basically tells everything we need to know.</a:t>
            </a:r>
          </a:p>
        </p:txBody>
      </p:sp>
      <p:pic>
        <p:nvPicPr>
          <p:cNvPr id="1026" name="Picture 2" descr="Agent Workflow">
            <a:extLst>
              <a:ext uri="{FF2B5EF4-FFF2-40B4-BE49-F238E27FC236}">
                <a16:creationId xmlns:a16="http://schemas.microsoft.com/office/drawing/2014/main" id="{655458BD-4F4F-81F0-5963-0C7B9AF736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801" y="925421"/>
            <a:ext cx="11050394" cy="49482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75277F3-D48C-2C12-2FC4-BE0C34D62771}"/>
              </a:ext>
            </a:extLst>
          </p:cNvPr>
          <p:cNvSpPr txBox="1"/>
          <p:nvPr/>
        </p:nvSpPr>
        <p:spPr>
          <a:xfrm>
            <a:off x="3653183" y="6242971"/>
            <a:ext cx="4885631" cy="246221"/>
          </a:xfrm>
          <a:prstGeom prst="rect">
            <a:avLst/>
          </a:prstGeom>
          <a:noFill/>
        </p:spPr>
        <p:txBody>
          <a:bodyPr wrap="square" rtlCol="0">
            <a:spAutoFit/>
          </a:bodyPr>
          <a:lstStyle/>
          <a:p>
            <a:pPr algn="ctr"/>
            <a:r>
              <a:rPr lang="en-CA" sz="1000" i="1" dirty="0"/>
              <a:t>Source: https://docs.langchain.com/oss/python/langgraph/workflows-agents</a:t>
            </a:r>
          </a:p>
        </p:txBody>
      </p:sp>
      <p:pic>
        <p:nvPicPr>
          <p:cNvPr id="5" name="Picture 4" descr="Michael Zhang (Director, Master of Business Analytics Program)">
            <a:extLst>
              <a:ext uri="{FF2B5EF4-FFF2-40B4-BE49-F238E27FC236}">
                <a16:creationId xmlns:a16="http://schemas.microsoft.com/office/drawing/2014/main" id="{F4EFE83C-A2C0-88A2-EF91-46BA0E96F1A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2015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90080F-DE13-35A6-2FDA-819073426C7C}"/>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1. Think in Graph: </a:t>
            </a:r>
            <a:r>
              <a:rPr lang="en-CA" sz="3200" b="1" dirty="0" err="1">
                <a:solidFill>
                  <a:srgbClr val="612141"/>
                </a:solidFill>
              </a:rPr>
              <a:t>SubGraph</a:t>
            </a:r>
            <a:r>
              <a:rPr lang="en-CA" sz="3200" b="1" dirty="0">
                <a:solidFill>
                  <a:srgbClr val="612141"/>
                </a:solidFill>
              </a:rPr>
              <a:t> as a Node</a:t>
            </a:r>
          </a:p>
        </p:txBody>
      </p:sp>
      <p:pic>
        <p:nvPicPr>
          <p:cNvPr id="2050" name="Picture 2" descr="SQL agent graph">
            <a:extLst>
              <a:ext uri="{FF2B5EF4-FFF2-40B4-BE49-F238E27FC236}">
                <a16:creationId xmlns:a16="http://schemas.microsoft.com/office/drawing/2014/main" id="{0C5C1D96-EAB7-C3DD-6436-CF0B13F775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54106"/>
            <a:ext cx="6681641" cy="464361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7A9B485-0F5F-725D-BF22-B4E6A840D179}"/>
              </a:ext>
            </a:extLst>
          </p:cNvPr>
          <p:cNvSpPr txBox="1"/>
          <p:nvPr/>
        </p:nvSpPr>
        <p:spPr>
          <a:xfrm>
            <a:off x="0" y="584775"/>
            <a:ext cx="6183518" cy="369332"/>
          </a:xfrm>
          <a:prstGeom prst="rect">
            <a:avLst/>
          </a:prstGeom>
          <a:noFill/>
        </p:spPr>
        <p:txBody>
          <a:bodyPr wrap="square" rtlCol="0">
            <a:spAutoFit/>
          </a:bodyPr>
          <a:lstStyle/>
          <a:p>
            <a:r>
              <a:rPr lang="en-CA" dirty="0"/>
              <a:t>Just simply invoke a pre-compiled graph in a node…….</a:t>
            </a:r>
          </a:p>
        </p:txBody>
      </p:sp>
      <p:pic>
        <p:nvPicPr>
          <p:cNvPr id="5" name="Picture 4">
            <a:extLst>
              <a:ext uri="{FF2B5EF4-FFF2-40B4-BE49-F238E27FC236}">
                <a16:creationId xmlns:a16="http://schemas.microsoft.com/office/drawing/2014/main" id="{CA1F9138-2F0F-2CD5-52A6-1B9816E1CC76}"/>
              </a:ext>
            </a:extLst>
          </p:cNvPr>
          <p:cNvPicPr>
            <a:picLocks noChangeAspect="1"/>
          </p:cNvPicPr>
          <p:nvPr/>
        </p:nvPicPr>
        <p:blipFill>
          <a:blip r:embed="rId3"/>
          <a:stretch>
            <a:fillRect/>
          </a:stretch>
        </p:blipFill>
        <p:spPr>
          <a:xfrm>
            <a:off x="7002081" y="787354"/>
            <a:ext cx="5189919" cy="5283291"/>
          </a:xfrm>
          <a:prstGeom prst="rect">
            <a:avLst/>
          </a:prstGeom>
        </p:spPr>
      </p:pic>
      <p:pic>
        <p:nvPicPr>
          <p:cNvPr id="4" name="Picture 3" descr="Michael Zhang (Director, Master of Business Analytics Program)">
            <a:extLst>
              <a:ext uri="{FF2B5EF4-FFF2-40B4-BE49-F238E27FC236}">
                <a16:creationId xmlns:a16="http://schemas.microsoft.com/office/drawing/2014/main" id="{0049EF56-4C97-B1AA-97CF-6F5D55877DB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543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8990BC-B273-3719-5119-34A070D8DC9C}"/>
              </a:ext>
            </a:extLst>
          </p:cNvPr>
          <p:cNvSpPr txBox="1"/>
          <p:nvPr/>
        </p:nvSpPr>
        <p:spPr>
          <a:xfrm>
            <a:off x="126999" y="3356520"/>
            <a:ext cx="12065001" cy="769441"/>
          </a:xfrm>
          <a:prstGeom prst="rect">
            <a:avLst/>
          </a:prstGeom>
          <a:noFill/>
        </p:spPr>
        <p:txBody>
          <a:bodyPr wrap="square" rtlCol="0">
            <a:spAutoFit/>
          </a:bodyPr>
          <a:lstStyle/>
          <a:p>
            <a:r>
              <a:rPr lang="en-CA" sz="4400" b="1" dirty="0">
                <a:solidFill>
                  <a:srgbClr val="612141"/>
                </a:solidFill>
              </a:rPr>
              <a:t>2. Graph API</a:t>
            </a:r>
          </a:p>
        </p:txBody>
      </p:sp>
      <p:pic>
        <p:nvPicPr>
          <p:cNvPr id="3" name="Picture 2" descr="Michael Zhang (Director, Master of Business Analytics Program)">
            <a:extLst>
              <a:ext uri="{FF2B5EF4-FFF2-40B4-BE49-F238E27FC236}">
                <a16:creationId xmlns:a16="http://schemas.microsoft.com/office/drawing/2014/main" id="{2CD44DF7-06B4-B998-3AD3-5BC2FDCB282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3243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5B44CB-696B-53E9-2922-CC0D34E25DEA}"/>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2. Graph API: Nodes, Edges, Compilation</a:t>
            </a:r>
          </a:p>
        </p:txBody>
      </p:sp>
      <p:sp>
        <p:nvSpPr>
          <p:cNvPr id="3" name="TextBox 2">
            <a:extLst>
              <a:ext uri="{FF2B5EF4-FFF2-40B4-BE49-F238E27FC236}">
                <a16:creationId xmlns:a16="http://schemas.microsoft.com/office/drawing/2014/main" id="{6A297B20-5020-CD68-4AEE-415A30394D04}"/>
              </a:ext>
            </a:extLst>
          </p:cNvPr>
          <p:cNvSpPr txBox="1"/>
          <p:nvPr/>
        </p:nvSpPr>
        <p:spPr>
          <a:xfrm>
            <a:off x="0" y="805758"/>
            <a:ext cx="11579382" cy="1754326"/>
          </a:xfrm>
          <a:prstGeom prst="rect">
            <a:avLst/>
          </a:prstGeom>
          <a:noFill/>
        </p:spPr>
        <p:txBody>
          <a:bodyPr wrap="square" rtlCol="0">
            <a:spAutoFit/>
          </a:bodyPr>
          <a:lstStyle/>
          <a:p>
            <a:r>
              <a:rPr lang="en-CA" dirty="0"/>
              <a:t>Go over the docs with you very quick.</a:t>
            </a:r>
          </a:p>
          <a:p>
            <a:endParaRPr lang="en-CA" dirty="0"/>
          </a:p>
          <a:p>
            <a:r>
              <a:rPr lang="en-CA" dirty="0"/>
              <a:t>Graph API basically consist of three components: Adding nodes (optionally with new name), Adding (conditional or non-conditional) edges (START &amp; END are strings so no worries) and Compilation.</a:t>
            </a:r>
          </a:p>
          <a:p>
            <a:endParaRPr lang="en-CA" dirty="0"/>
          </a:p>
          <a:p>
            <a:r>
              <a:rPr lang="en-CA" dirty="0"/>
              <a:t>I would not discuss reducer in detail since how to update state could be done within node.</a:t>
            </a:r>
          </a:p>
        </p:txBody>
      </p:sp>
      <p:pic>
        <p:nvPicPr>
          <p:cNvPr id="4" name="Picture 3" descr="Michael Zhang (Director, Master of Business Analytics Program)">
            <a:extLst>
              <a:ext uri="{FF2B5EF4-FFF2-40B4-BE49-F238E27FC236}">
                <a16:creationId xmlns:a16="http://schemas.microsoft.com/office/drawing/2014/main" id="{39A699DE-8207-CF32-A9EF-56CE79A1508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2452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3FAEAE-3312-0738-6F5D-D0782066EFC7}"/>
              </a:ext>
            </a:extLst>
          </p:cNvPr>
          <p:cNvSpPr txBox="1"/>
          <p:nvPr/>
        </p:nvSpPr>
        <p:spPr>
          <a:xfrm>
            <a:off x="0" y="0"/>
            <a:ext cx="12192000" cy="1077218"/>
          </a:xfrm>
          <a:prstGeom prst="rect">
            <a:avLst/>
          </a:prstGeom>
          <a:noFill/>
        </p:spPr>
        <p:txBody>
          <a:bodyPr wrap="square" rtlCol="0">
            <a:spAutoFit/>
          </a:bodyPr>
          <a:lstStyle/>
          <a:p>
            <a:r>
              <a:rPr lang="en-CA" sz="3200" b="1" dirty="0">
                <a:solidFill>
                  <a:srgbClr val="612141"/>
                </a:solidFill>
              </a:rPr>
              <a:t>2. Graph API: Let’s go over a comprehensive and practical example</a:t>
            </a:r>
          </a:p>
        </p:txBody>
      </p:sp>
      <p:sp>
        <p:nvSpPr>
          <p:cNvPr id="3" name="TextBox 2">
            <a:extLst>
              <a:ext uri="{FF2B5EF4-FFF2-40B4-BE49-F238E27FC236}">
                <a16:creationId xmlns:a16="http://schemas.microsoft.com/office/drawing/2014/main" id="{DA764F09-B9BD-FEE0-B36F-3068DF210395}"/>
              </a:ext>
            </a:extLst>
          </p:cNvPr>
          <p:cNvSpPr txBox="1"/>
          <p:nvPr/>
        </p:nvSpPr>
        <p:spPr>
          <a:xfrm>
            <a:off x="0" y="1077218"/>
            <a:ext cx="8776762" cy="369332"/>
          </a:xfrm>
          <a:prstGeom prst="rect">
            <a:avLst/>
          </a:prstGeom>
          <a:noFill/>
        </p:spPr>
        <p:txBody>
          <a:bodyPr wrap="none" rtlCol="0">
            <a:spAutoFit/>
          </a:bodyPr>
          <a:lstStyle/>
          <a:p>
            <a:r>
              <a:rPr lang="en-CA" dirty="0"/>
              <a:t>https://docs.langchain.com/oss/python/langchain/multi-agent/router-knowledge-base</a:t>
            </a:r>
          </a:p>
        </p:txBody>
      </p:sp>
      <p:pic>
        <p:nvPicPr>
          <p:cNvPr id="4" name="Picture 3" descr="Michael Zhang (Director, Master of Business Analytics Program)">
            <a:extLst>
              <a:ext uri="{FF2B5EF4-FFF2-40B4-BE49-F238E27FC236}">
                <a16:creationId xmlns:a16="http://schemas.microsoft.com/office/drawing/2014/main" id="{D9BA6C0E-DC1F-5EF9-C759-9FEC61A2951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396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0A83E8-45B6-509F-9FB5-557E8907B9BA}"/>
              </a:ext>
            </a:extLst>
          </p:cNvPr>
          <p:cNvSpPr txBox="1"/>
          <p:nvPr/>
        </p:nvSpPr>
        <p:spPr>
          <a:xfrm>
            <a:off x="126999" y="3356520"/>
            <a:ext cx="12065001" cy="769441"/>
          </a:xfrm>
          <a:prstGeom prst="rect">
            <a:avLst/>
          </a:prstGeom>
          <a:noFill/>
        </p:spPr>
        <p:txBody>
          <a:bodyPr wrap="square" rtlCol="0">
            <a:spAutoFit/>
          </a:bodyPr>
          <a:lstStyle/>
          <a:p>
            <a:r>
              <a:rPr lang="en-CA" sz="4400" b="1" dirty="0">
                <a:solidFill>
                  <a:srgbClr val="612141"/>
                </a:solidFill>
              </a:rPr>
              <a:t>3. Super Step</a:t>
            </a:r>
          </a:p>
        </p:txBody>
      </p:sp>
      <p:pic>
        <p:nvPicPr>
          <p:cNvPr id="3" name="Picture 2" descr="Michael Zhang (Director, Master of Business Analytics Program)">
            <a:extLst>
              <a:ext uri="{FF2B5EF4-FFF2-40B4-BE49-F238E27FC236}">
                <a16:creationId xmlns:a16="http://schemas.microsoft.com/office/drawing/2014/main" id="{0A07FA7D-986E-9976-7F3A-1338711AAEA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1155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AF294E-6F65-DBA4-5A19-CE9D77A1F342}"/>
              </a:ext>
            </a:extLst>
          </p:cNvPr>
          <p:cNvSpPr/>
          <p:nvPr/>
        </p:nvSpPr>
        <p:spPr>
          <a:xfrm>
            <a:off x="8354840" y="4609725"/>
            <a:ext cx="1312752" cy="742384"/>
          </a:xfrm>
          <a:prstGeom prst="rect">
            <a:avLst/>
          </a:prstGeom>
          <a:solidFill>
            <a:srgbClr val="BFB6F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lumMod val="50000"/>
                  </a:schemeClr>
                </a:solidFill>
              </a:rPr>
              <a:t>__end__</a:t>
            </a:r>
          </a:p>
        </p:txBody>
      </p:sp>
      <p:sp>
        <p:nvSpPr>
          <p:cNvPr id="3" name="Rectangle 2">
            <a:extLst>
              <a:ext uri="{FF2B5EF4-FFF2-40B4-BE49-F238E27FC236}">
                <a16:creationId xmlns:a16="http://schemas.microsoft.com/office/drawing/2014/main" id="{DBAE6518-E466-3AD1-BEC4-D987088F754C}"/>
              </a:ext>
            </a:extLst>
          </p:cNvPr>
          <p:cNvSpPr/>
          <p:nvPr/>
        </p:nvSpPr>
        <p:spPr>
          <a:xfrm>
            <a:off x="7408752" y="3282636"/>
            <a:ext cx="1312752" cy="742384"/>
          </a:xfrm>
          <a:prstGeom prst="rect">
            <a:avLst/>
          </a:prstGeom>
          <a:solidFill>
            <a:srgbClr val="F2F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err="1">
                <a:solidFill>
                  <a:schemeClr val="tx1">
                    <a:lumMod val="50000"/>
                  </a:schemeClr>
                </a:solidFill>
              </a:rPr>
              <a:t>node_d</a:t>
            </a:r>
            <a:endParaRPr lang="en-CA" dirty="0">
              <a:solidFill>
                <a:schemeClr val="tx1">
                  <a:lumMod val="50000"/>
                </a:schemeClr>
              </a:solidFill>
            </a:endParaRPr>
          </a:p>
        </p:txBody>
      </p:sp>
      <p:sp>
        <p:nvSpPr>
          <p:cNvPr id="4" name="Rectangle 3">
            <a:extLst>
              <a:ext uri="{FF2B5EF4-FFF2-40B4-BE49-F238E27FC236}">
                <a16:creationId xmlns:a16="http://schemas.microsoft.com/office/drawing/2014/main" id="{CD81EC8D-8EF8-BEDA-889B-4EDF3D581015}"/>
              </a:ext>
            </a:extLst>
          </p:cNvPr>
          <p:cNvSpPr/>
          <p:nvPr/>
        </p:nvSpPr>
        <p:spPr>
          <a:xfrm>
            <a:off x="9377880" y="3281128"/>
            <a:ext cx="1312752" cy="742384"/>
          </a:xfrm>
          <a:prstGeom prst="rect">
            <a:avLst/>
          </a:prstGeom>
          <a:solidFill>
            <a:srgbClr val="F2F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err="1">
                <a:solidFill>
                  <a:schemeClr val="tx1">
                    <a:lumMod val="50000"/>
                  </a:schemeClr>
                </a:solidFill>
              </a:rPr>
              <a:t>node_c</a:t>
            </a:r>
            <a:endParaRPr lang="en-CA" dirty="0">
              <a:solidFill>
                <a:schemeClr val="tx1">
                  <a:lumMod val="50000"/>
                </a:schemeClr>
              </a:solidFill>
            </a:endParaRPr>
          </a:p>
        </p:txBody>
      </p:sp>
      <p:sp>
        <p:nvSpPr>
          <p:cNvPr id="5" name="Rectangle 4">
            <a:extLst>
              <a:ext uri="{FF2B5EF4-FFF2-40B4-BE49-F238E27FC236}">
                <a16:creationId xmlns:a16="http://schemas.microsoft.com/office/drawing/2014/main" id="{4C2EFE49-B80E-9634-D922-35770B9E4EB2}"/>
              </a:ext>
            </a:extLst>
          </p:cNvPr>
          <p:cNvSpPr/>
          <p:nvPr/>
        </p:nvSpPr>
        <p:spPr>
          <a:xfrm>
            <a:off x="9377880" y="1952531"/>
            <a:ext cx="1312752" cy="742384"/>
          </a:xfrm>
          <a:prstGeom prst="rect">
            <a:avLst/>
          </a:prstGeom>
          <a:solidFill>
            <a:srgbClr val="F2F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err="1">
                <a:solidFill>
                  <a:schemeClr val="tx1">
                    <a:lumMod val="50000"/>
                  </a:schemeClr>
                </a:solidFill>
              </a:rPr>
              <a:t>node_b</a:t>
            </a:r>
            <a:endParaRPr lang="en-CA" dirty="0">
              <a:solidFill>
                <a:schemeClr val="tx1">
                  <a:lumMod val="50000"/>
                </a:schemeClr>
              </a:solidFill>
            </a:endParaRPr>
          </a:p>
        </p:txBody>
      </p:sp>
      <p:sp>
        <p:nvSpPr>
          <p:cNvPr id="6" name="Rectangle 5">
            <a:extLst>
              <a:ext uri="{FF2B5EF4-FFF2-40B4-BE49-F238E27FC236}">
                <a16:creationId xmlns:a16="http://schemas.microsoft.com/office/drawing/2014/main" id="{266404B5-8992-B727-D330-9C7D227A8AAE}"/>
              </a:ext>
            </a:extLst>
          </p:cNvPr>
          <p:cNvSpPr/>
          <p:nvPr/>
        </p:nvSpPr>
        <p:spPr>
          <a:xfrm>
            <a:off x="7408752" y="1952531"/>
            <a:ext cx="1312752" cy="742384"/>
          </a:xfrm>
          <a:prstGeom prst="rect">
            <a:avLst/>
          </a:prstGeom>
          <a:solidFill>
            <a:srgbClr val="F2F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err="1">
                <a:solidFill>
                  <a:schemeClr val="tx1">
                    <a:lumMod val="50000"/>
                  </a:schemeClr>
                </a:solidFill>
              </a:rPr>
              <a:t>node_a</a:t>
            </a:r>
            <a:endParaRPr lang="en-CA" dirty="0">
              <a:solidFill>
                <a:schemeClr val="tx1">
                  <a:lumMod val="50000"/>
                </a:schemeClr>
              </a:solidFill>
            </a:endParaRPr>
          </a:p>
        </p:txBody>
      </p:sp>
      <p:sp>
        <p:nvSpPr>
          <p:cNvPr id="7" name="Rectangle 6">
            <a:extLst>
              <a:ext uri="{FF2B5EF4-FFF2-40B4-BE49-F238E27FC236}">
                <a16:creationId xmlns:a16="http://schemas.microsoft.com/office/drawing/2014/main" id="{5996BBDA-46DA-237A-E568-CF82D09C7A68}"/>
              </a:ext>
            </a:extLst>
          </p:cNvPr>
          <p:cNvSpPr/>
          <p:nvPr/>
        </p:nvSpPr>
        <p:spPr>
          <a:xfrm>
            <a:off x="8354840" y="603564"/>
            <a:ext cx="1312752" cy="7423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lumMod val="50000"/>
                  </a:schemeClr>
                </a:solidFill>
              </a:rPr>
              <a:t>__start__</a:t>
            </a:r>
          </a:p>
        </p:txBody>
      </p:sp>
      <p:cxnSp>
        <p:nvCxnSpPr>
          <p:cNvPr id="9" name="Straight Arrow Connector 8">
            <a:extLst>
              <a:ext uri="{FF2B5EF4-FFF2-40B4-BE49-F238E27FC236}">
                <a16:creationId xmlns:a16="http://schemas.microsoft.com/office/drawing/2014/main" id="{29BDA565-6E19-4B52-29DF-20D4583E6E0A}"/>
              </a:ext>
            </a:extLst>
          </p:cNvPr>
          <p:cNvCxnSpPr>
            <a:stCxn id="7" idx="2"/>
            <a:endCxn id="6" idx="0"/>
          </p:cNvCxnSpPr>
          <p:nvPr/>
        </p:nvCxnSpPr>
        <p:spPr>
          <a:xfrm flipH="1">
            <a:off x="8065128" y="1345948"/>
            <a:ext cx="946088" cy="606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BEEFD21-3ED1-6FAB-6523-D50CC09D4D43}"/>
              </a:ext>
            </a:extLst>
          </p:cNvPr>
          <p:cNvCxnSpPr>
            <a:stCxn id="7" idx="2"/>
            <a:endCxn id="5" idx="0"/>
          </p:cNvCxnSpPr>
          <p:nvPr/>
        </p:nvCxnSpPr>
        <p:spPr>
          <a:xfrm>
            <a:off x="9011216" y="1345948"/>
            <a:ext cx="1023040" cy="606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C6A5279-50AA-FD2F-F718-9A7CE2C8EB29}"/>
              </a:ext>
            </a:extLst>
          </p:cNvPr>
          <p:cNvCxnSpPr>
            <a:stCxn id="6" idx="2"/>
            <a:endCxn id="3" idx="0"/>
          </p:cNvCxnSpPr>
          <p:nvPr/>
        </p:nvCxnSpPr>
        <p:spPr>
          <a:xfrm>
            <a:off x="8065128" y="2694915"/>
            <a:ext cx="0" cy="587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EB84C59-1DCE-20FD-B3D4-72B078D1D320}"/>
              </a:ext>
            </a:extLst>
          </p:cNvPr>
          <p:cNvCxnSpPr>
            <a:stCxn id="5" idx="2"/>
            <a:endCxn id="4" idx="0"/>
          </p:cNvCxnSpPr>
          <p:nvPr/>
        </p:nvCxnSpPr>
        <p:spPr>
          <a:xfrm>
            <a:off x="10034256" y="2694915"/>
            <a:ext cx="0" cy="5862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988F823-A321-97F3-A87E-639EEBA299A7}"/>
              </a:ext>
            </a:extLst>
          </p:cNvPr>
          <p:cNvCxnSpPr>
            <a:cxnSpLocks/>
            <a:stCxn id="3" idx="2"/>
            <a:endCxn id="2" idx="0"/>
          </p:cNvCxnSpPr>
          <p:nvPr/>
        </p:nvCxnSpPr>
        <p:spPr>
          <a:xfrm>
            <a:off x="8065128" y="4025020"/>
            <a:ext cx="946088" cy="584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AE9F10D-59A7-042F-C6FE-5766DAA56FF4}"/>
              </a:ext>
            </a:extLst>
          </p:cNvPr>
          <p:cNvCxnSpPr>
            <a:cxnSpLocks/>
            <a:stCxn id="4" idx="2"/>
            <a:endCxn id="2" idx="0"/>
          </p:cNvCxnSpPr>
          <p:nvPr/>
        </p:nvCxnSpPr>
        <p:spPr>
          <a:xfrm flipH="1">
            <a:off x="9011216" y="4023512"/>
            <a:ext cx="1023040" cy="5862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83A6251-12B6-D2EB-DD29-FFBFCC3302D9}"/>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3. Super Step</a:t>
            </a:r>
          </a:p>
        </p:txBody>
      </p:sp>
      <p:sp>
        <p:nvSpPr>
          <p:cNvPr id="23" name="TextBox 22">
            <a:extLst>
              <a:ext uri="{FF2B5EF4-FFF2-40B4-BE49-F238E27FC236}">
                <a16:creationId xmlns:a16="http://schemas.microsoft.com/office/drawing/2014/main" id="{7B169A17-C70C-060C-DA8D-644E57574987}"/>
              </a:ext>
            </a:extLst>
          </p:cNvPr>
          <p:cNvSpPr txBox="1"/>
          <p:nvPr/>
        </p:nvSpPr>
        <p:spPr>
          <a:xfrm>
            <a:off x="63373" y="841972"/>
            <a:ext cx="7242773" cy="3693319"/>
          </a:xfrm>
          <a:prstGeom prst="rect">
            <a:avLst/>
          </a:prstGeom>
          <a:noFill/>
        </p:spPr>
        <p:txBody>
          <a:bodyPr wrap="square" rtlCol="0">
            <a:spAutoFit/>
          </a:bodyPr>
          <a:lstStyle/>
          <a:p>
            <a:r>
              <a:rPr lang="en-CA" dirty="0"/>
              <a:t>This workflow works in parallel after START node receives input.</a:t>
            </a:r>
          </a:p>
          <a:p>
            <a:endParaRPr lang="en-CA" dirty="0"/>
          </a:p>
          <a:p>
            <a:r>
              <a:rPr lang="en-CA" dirty="0"/>
              <a:t>For example, if the custom state has only one field “</a:t>
            </a:r>
            <a:r>
              <a:rPr lang="en-CA" dirty="0" err="1"/>
              <a:t>user_input</a:t>
            </a:r>
            <a:r>
              <a:rPr lang="en-CA" dirty="0"/>
              <a:t>” and the input is {“</a:t>
            </a:r>
            <a:r>
              <a:rPr lang="en-CA" dirty="0" err="1"/>
              <a:t>user_input</a:t>
            </a:r>
            <a:r>
              <a:rPr lang="en-CA" dirty="0"/>
              <a:t>”: “start: ”}</a:t>
            </a:r>
          </a:p>
          <a:p>
            <a:r>
              <a:rPr lang="en-CA" dirty="0"/>
              <a:t>Then, what </a:t>
            </a:r>
            <a:r>
              <a:rPr lang="en-CA" dirty="0" err="1"/>
              <a:t>node_a</a:t>
            </a:r>
            <a:r>
              <a:rPr lang="en-CA" dirty="0"/>
              <a:t> does is to append “a” to the “</a:t>
            </a:r>
            <a:r>
              <a:rPr lang="en-CA" dirty="0" err="1"/>
              <a:t>user_input</a:t>
            </a:r>
            <a:r>
              <a:rPr lang="en-CA" dirty="0"/>
              <a:t>” field of state. Similarly, </a:t>
            </a:r>
            <a:r>
              <a:rPr lang="en-CA" dirty="0" err="1"/>
              <a:t>node_b</a:t>
            </a:r>
            <a:r>
              <a:rPr lang="en-CA" dirty="0"/>
              <a:t> would update state by appending “b” to “</a:t>
            </a:r>
            <a:r>
              <a:rPr lang="en-CA" dirty="0" err="1"/>
              <a:t>user_input</a:t>
            </a:r>
            <a:r>
              <a:rPr lang="en-CA" dirty="0"/>
              <a:t>” of state.</a:t>
            </a:r>
          </a:p>
          <a:p>
            <a:endParaRPr lang="en-CA" dirty="0"/>
          </a:p>
          <a:p>
            <a:r>
              <a:rPr lang="en-CA" dirty="0"/>
              <a:t>What </a:t>
            </a:r>
            <a:r>
              <a:rPr lang="en-CA" dirty="0" err="1"/>
              <a:t>node_c</a:t>
            </a:r>
            <a:r>
              <a:rPr lang="en-CA" dirty="0"/>
              <a:t> would see after it receives state from </a:t>
            </a:r>
            <a:r>
              <a:rPr lang="en-CA" dirty="0" err="1"/>
              <a:t>node_b</a:t>
            </a:r>
            <a:r>
              <a:rPr lang="en-CA" dirty="0"/>
              <a:t>?</a:t>
            </a:r>
          </a:p>
          <a:p>
            <a:endParaRPr lang="en-CA" dirty="0"/>
          </a:p>
          <a:p>
            <a:r>
              <a:rPr lang="en-CA" dirty="0"/>
              <a:t>A. {“</a:t>
            </a:r>
            <a:r>
              <a:rPr lang="en-CA" dirty="0" err="1"/>
              <a:t>user_input</a:t>
            </a:r>
            <a:r>
              <a:rPr lang="en-CA" dirty="0"/>
              <a:t>”: “start: a”}</a:t>
            </a:r>
          </a:p>
          <a:p>
            <a:r>
              <a:rPr lang="en-CA" dirty="0"/>
              <a:t>B. {“</a:t>
            </a:r>
            <a:r>
              <a:rPr lang="en-CA" dirty="0" err="1"/>
              <a:t>user_input</a:t>
            </a:r>
            <a:r>
              <a:rPr lang="en-CA" dirty="0"/>
              <a:t>”: “start: b”}</a:t>
            </a:r>
          </a:p>
          <a:p>
            <a:r>
              <a:rPr lang="en-CA" dirty="0"/>
              <a:t>C. {“</a:t>
            </a:r>
            <a:r>
              <a:rPr lang="en-CA" dirty="0" err="1"/>
              <a:t>user_input</a:t>
            </a:r>
            <a:r>
              <a:rPr lang="en-CA" dirty="0"/>
              <a:t>”: “start: ab”} or {“</a:t>
            </a:r>
            <a:r>
              <a:rPr lang="en-CA" dirty="0" err="1"/>
              <a:t>user_input</a:t>
            </a:r>
            <a:r>
              <a:rPr lang="en-CA" dirty="0"/>
              <a:t>”: “start: </a:t>
            </a:r>
            <a:r>
              <a:rPr lang="en-CA" dirty="0" err="1"/>
              <a:t>ba</a:t>
            </a:r>
            <a:r>
              <a:rPr lang="en-CA" dirty="0"/>
              <a:t>”}</a:t>
            </a:r>
          </a:p>
        </p:txBody>
      </p:sp>
      <p:pic>
        <p:nvPicPr>
          <p:cNvPr id="8" name="Picture 7" descr="Michael Zhang (Director, Master of Business Analytics Program)">
            <a:extLst>
              <a:ext uri="{FF2B5EF4-FFF2-40B4-BE49-F238E27FC236}">
                <a16:creationId xmlns:a16="http://schemas.microsoft.com/office/drawing/2014/main" id="{9FD05FDC-5F08-E34C-8975-18A8D05BCDF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10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05AC6E-C1EE-6F3D-630E-425D9A1DD973}"/>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3. Super Step: Trickier one</a:t>
            </a:r>
          </a:p>
        </p:txBody>
      </p:sp>
      <p:pic>
        <p:nvPicPr>
          <p:cNvPr id="4" name="Picture 3">
            <a:extLst>
              <a:ext uri="{FF2B5EF4-FFF2-40B4-BE49-F238E27FC236}">
                <a16:creationId xmlns:a16="http://schemas.microsoft.com/office/drawing/2014/main" id="{5CC01552-49DA-8DA2-3334-B47169C09C70}"/>
              </a:ext>
            </a:extLst>
          </p:cNvPr>
          <p:cNvPicPr>
            <a:picLocks noChangeAspect="1"/>
          </p:cNvPicPr>
          <p:nvPr/>
        </p:nvPicPr>
        <p:blipFill>
          <a:blip r:embed="rId2"/>
          <a:srcRect l="28813" t="1" r="25178" b="280"/>
          <a:stretch>
            <a:fillRect/>
          </a:stretch>
        </p:blipFill>
        <p:spPr>
          <a:xfrm>
            <a:off x="117694" y="1486609"/>
            <a:ext cx="2688879" cy="4370982"/>
          </a:xfrm>
          <a:prstGeom prst="rect">
            <a:avLst/>
          </a:prstGeom>
        </p:spPr>
      </p:pic>
      <p:sp>
        <p:nvSpPr>
          <p:cNvPr id="5" name="TextBox 4">
            <a:extLst>
              <a:ext uri="{FF2B5EF4-FFF2-40B4-BE49-F238E27FC236}">
                <a16:creationId xmlns:a16="http://schemas.microsoft.com/office/drawing/2014/main" id="{C895D107-56EB-72E8-DD39-B4D5F89C1C8F}"/>
              </a:ext>
            </a:extLst>
          </p:cNvPr>
          <p:cNvSpPr txBox="1"/>
          <p:nvPr/>
        </p:nvSpPr>
        <p:spPr>
          <a:xfrm>
            <a:off x="217283" y="851026"/>
            <a:ext cx="4372824" cy="369332"/>
          </a:xfrm>
          <a:prstGeom prst="rect">
            <a:avLst/>
          </a:prstGeom>
          <a:noFill/>
        </p:spPr>
        <p:txBody>
          <a:bodyPr wrap="square" rtlCol="0">
            <a:spAutoFit/>
          </a:bodyPr>
          <a:lstStyle/>
          <a:p>
            <a:r>
              <a:rPr lang="en-CA" dirty="0"/>
              <a:t>What about this one?</a:t>
            </a:r>
          </a:p>
        </p:txBody>
      </p:sp>
      <p:sp>
        <p:nvSpPr>
          <p:cNvPr id="6" name="TextBox 5">
            <a:extLst>
              <a:ext uri="{FF2B5EF4-FFF2-40B4-BE49-F238E27FC236}">
                <a16:creationId xmlns:a16="http://schemas.microsoft.com/office/drawing/2014/main" id="{AE02AB3B-FE9F-F3B7-E345-AE2BF3B0CA20}"/>
              </a:ext>
            </a:extLst>
          </p:cNvPr>
          <p:cNvSpPr txBox="1"/>
          <p:nvPr/>
        </p:nvSpPr>
        <p:spPr>
          <a:xfrm>
            <a:off x="3720973" y="851026"/>
            <a:ext cx="5640309" cy="369332"/>
          </a:xfrm>
          <a:prstGeom prst="rect">
            <a:avLst/>
          </a:prstGeom>
          <a:noFill/>
        </p:spPr>
        <p:txBody>
          <a:bodyPr wrap="square" rtlCol="0">
            <a:spAutoFit/>
          </a:bodyPr>
          <a:lstStyle/>
          <a:p>
            <a:r>
              <a:rPr lang="en-CA" dirty="0"/>
              <a:t>What c could see after it receives state from </a:t>
            </a:r>
            <a:r>
              <a:rPr lang="en-CA" dirty="0" err="1"/>
              <a:t>node_a</a:t>
            </a:r>
            <a:r>
              <a:rPr lang="en-CA" dirty="0"/>
              <a:t>?</a:t>
            </a:r>
          </a:p>
        </p:txBody>
      </p:sp>
      <p:pic>
        <p:nvPicPr>
          <p:cNvPr id="8" name="Picture 7">
            <a:extLst>
              <a:ext uri="{FF2B5EF4-FFF2-40B4-BE49-F238E27FC236}">
                <a16:creationId xmlns:a16="http://schemas.microsoft.com/office/drawing/2014/main" id="{C6FF191E-7F69-7F38-43F1-3E820171644F}"/>
              </a:ext>
            </a:extLst>
          </p:cNvPr>
          <p:cNvPicPr>
            <a:picLocks noChangeAspect="1"/>
          </p:cNvPicPr>
          <p:nvPr/>
        </p:nvPicPr>
        <p:blipFill>
          <a:blip r:embed="rId3"/>
          <a:stretch>
            <a:fillRect/>
          </a:stretch>
        </p:blipFill>
        <p:spPr>
          <a:xfrm>
            <a:off x="3802080" y="1220358"/>
            <a:ext cx="2638793" cy="1533739"/>
          </a:xfrm>
          <a:prstGeom prst="rect">
            <a:avLst/>
          </a:prstGeom>
        </p:spPr>
      </p:pic>
      <p:pic>
        <p:nvPicPr>
          <p:cNvPr id="10" name="Picture 9">
            <a:extLst>
              <a:ext uri="{FF2B5EF4-FFF2-40B4-BE49-F238E27FC236}">
                <a16:creationId xmlns:a16="http://schemas.microsoft.com/office/drawing/2014/main" id="{9B84A3DE-E4A7-09AC-44D1-5525FE6DD1F5}"/>
              </a:ext>
            </a:extLst>
          </p:cNvPr>
          <p:cNvPicPr>
            <a:picLocks noChangeAspect="1"/>
          </p:cNvPicPr>
          <p:nvPr/>
        </p:nvPicPr>
        <p:blipFill>
          <a:blip r:embed="rId4"/>
          <a:stretch>
            <a:fillRect/>
          </a:stretch>
        </p:blipFill>
        <p:spPr>
          <a:xfrm>
            <a:off x="7436380" y="1220358"/>
            <a:ext cx="3446308" cy="5297104"/>
          </a:xfrm>
          <a:prstGeom prst="rect">
            <a:avLst/>
          </a:prstGeom>
        </p:spPr>
      </p:pic>
      <p:pic>
        <p:nvPicPr>
          <p:cNvPr id="3" name="Picture 2" descr="Michael Zhang (Director, Master of Business Analytics Program)">
            <a:extLst>
              <a:ext uri="{FF2B5EF4-FFF2-40B4-BE49-F238E27FC236}">
                <a16:creationId xmlns:a16="http://schemas.microsoft.com/office/drawing/2014/main" id="{864ADC67-20FF-AFA6-4369-7D194A8B66BE}"/>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6921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44ABE5-E83E-BFFF-B4EF-840404914787}"/>
              </a:ext>
            </a:extLst>
          </p:cNvPr>
          <p:cNvSpPr txBox="1"/>
          <p:nvPr/>
        </p:nvSpPr>
        <p:spPr>
          <a:xfrm>
            <a:off x="126999" y="3356520"/>
            <a:ext cx="12065001" cy="769441"/>
          </a:xfrm>
          <a:prstGeom prst="rect">
            <a:avLst/>
          </a:prstGeom>
          <a:noFill/>
        </p:spPr>
        <p:txBody>
          <a:bodyPr wrap="square" rtlCol="0">
            <a:spAutoFit/>
          </a:bodyPr>
          <a:lstStyle/>
          <a:p>
            <a:r>
              <a:rPr lang="en-CA" sz="4400" b="1" dirty="0">
                <a:solidFill>
                  <a:srgbClr val="612141"/>
                </a:solidFill>
              </a:rPr>
              <a:t>4. Hands-On Project Again</a:t>
            </a:r>
          </a:p>
        </p:txBody>
      </p:sp>
      <p:pic>
        <p:nvPicPr>
          <p:cNvPr id="3" name="Picture 2" descr="Michael Zhang (Director, Master of Business Analytics Program)">
            <a:extLst>
              <a:ext uri="{FF2B5EF4-FFF2-40B4-BE49-F238E27FC236}">
                <a16:creationId xmlns:a16="http://schemas.microsoft.com/office/drawing/2014/main" id="{E420D265-ED75-9C57-7E1E-554E94BB9F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2567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FBC500-08E6-138C-B7B3-68161F83E93A}"/>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4. Hands-On Project: I want to see a lot of different designs</a:t>
            </a:r>
          </a:p>
        </p:txBody>
      </p:sp>
      <p:sp>
        <p:nvSpPr>
          <p:cNvPr id="3" name="TextBox 2">
            <a:extLst>
              <a:ext uri="{FF2B5EF4-FFF2-40B4-BE49-F238E27FC236}">
                <a16:creationId xmlns:a16="http://schemas.microsoft.com/office/drawing/2014/main" id="{B7CB1AA0-A626-0C22-F2C8-27C8FE93708F}"/>
              </a:ext>
            </a:extLst>
          </p:cNvPr>
          <p:cNvSpPr txBox="1"/>
          <p:nvPr/>
        </p:nvSpPr>
        <p:spPr>
          <a:xfrm>
            <a:off x="1" y="584775"/>
            <a:ext cx="6418906" cy="6186309"/>
          </a:xfrm>
          <a:prstGeom prst="rect">
            <a:avLst/>
          </a:prstGeom>
          <a:noFill/>
        </p:spPr>
        <p:txBody>
          <a:bodyPr wrap="square" rtlCol="0">
            <a:spAutoFit/>
          </a:bodyPr>
          <a:lstStyle/>
          <a:p>
            <a:r>
              <a:rPr lang="en-CA" dirty="0"/>
              <a:t>I know for a given task, there would be one or several designs of agentic workflow or workflow or multi-agent to accomplish. You are expected to create your own one and unleash your creativity.</a:t>
            </a:r>
          </a:p>
          <a:p>
            <a:endParaRPr lang="en-CA" dirty="0"/>
          </a:p>
          <a:p>
            <a:r>
              <a:rPr lang="en-CA" dirty="0"/>
              <a:t>Project Description: Make an agentic workflow or multi-agent application that emails Michael to express your interests of doing PhD with him.</a:t>
            </a:r>
          </a:p>
          <a:p>
            <a:endParaRPr lang="en-CA" dirty="0"/>
          </a:p>
          <a:p>
            <a:r>
              <a:rPr lang="en-CA" dirty="0"/>
              <a:t>At least, you need to create node/agent to search Michael’s academic information and research interests and then create nodes/agent to write emails, include HIT</a:t>
            </a:r>
            <a:r>
              <a:rPr lang="en-US" dirty="0"/>
              <a:t>L</a:t>
            </a:r>
            <a:r>
              <a:rPr lang="en-CA" dirty="0"/>
              <a:t> to request your explicit approval before sending emails. Bs4 could help again.</a:t>
            </a:r>
          </a:p>
          <a:p>
            <a:endParaRPr lang="en-CA" dirty="0"/>
          </a:p>
          <a:p>
            <a:r>
              <a:rPr lang="en-CA" dirty="0"/>
              <a:t>Since there is a lot of ways to do it, you have enough flexibility and freedom.</a:t>
            </a:r>
          </a:p>
          <a:p>
            <a:endParaRPr lang="en-CA" dirty="0"/>
          </a:p>
          <a:p>
            <a:r>
              <a:rPr lang="en-CA" dirty="0"/>
              <a:t>Use </a:t>
            </a:r>
            <a:r>
              <a:rPr lang="en-CA" dirty="0" err="1"/>
              <a:t>gmail</a:t>
            </a:r>
            <a:r>
              <a:rPr lang="en-CA" dirty="0"/>
              <a:t> to send email in Python because it’s much easier.</a:t>
            </a:r>
          </a:p>
          <a:p>
            <a:endParaRPr lang="en-CA" dirty="0"/>
          </a:p>
          <a:p>
            <a:r>
              <a:rPr lang="en-CA" dirty="0"/>
              <a:t>Don’t actually send the emails to Michael. Send the emails to me for testing (Yilin.Huang@smu.ca).</a:t>
            </a:r>
          </a:p>
        </p:txBody>
      </p:sp>
      <p:pic>
        <p:nvPicPr>
          <p:cNvPr id="9" name="Picture 8">
            <a:extLst>
              <a:ext uri="{FF2B5EF4-FFF2-40B4-BE49-F238E27FC236}">
                <a16:creationId xmlns:a16="http://schemas.microsoft.com/office/drawing/2014/main" id="{5B1A2114-2B04-B3D9-0594-8925C9DC0139}"/>
              </a:ext>
            </a:extLst>
          </p:cNvPr>
          <p:cNvPicPr>
            <a:picLocks noChangeAspect="1"/>
          </p:cNvPicPr>
          <p:nvPr/>
        </p:nvPicPr>
        <p:blipFill>
          <a:blip r:embed="rId2"/>
          <a:stretch>
            <a:fillRect/>
          </a:stretch>
        </p:blipFill>
        <p:spPr>
          <a:xfrm>
            <a:off x="6607063" y="584775"/>
            <a:ext cx="5249849" cy="5037427"/>
          </a:xfrm>
          <a:prstGeom prst="rect">
            <a:avLst/>
          </a:prstGeom>
        </p:spPr>
      </p:pic>
      <p:pic>
        <p:nvPicPr>
          <p:cNvPr id="4" name="Picture 3" descr="Michael Zhang (Director, Master of Business Analytics Program)">
            <a:extLst>
              <a:ext uri="{FF2B5EF4-FFF2-40B4-BE49-F238E27FC236}">
                <a16:creationId xmlns:a16="http://schemas.microsoft.com/office/drawing/2014/main" id="{75EB9A71-0398-4C96-74A4-B81E11B2721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034212" y="5729139"/>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1639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78A08A-EDDB-CF4E-E4E1-D72CED7F385D}"/>
              </a:ext>
            </a:extLst>
          </p:cNvPr>
          <p:cNvPicPr>
            <a:picLocks noChangeAspect="1"/>
          </p:cNvPicPr>
          <p:nvPr/>
        </p:nvPicPr>
        <p:blipFill>
          <a:blip r:embed="rId2"/>
          <a:stretch>
            <a:fillRect/>
          </a:stretch>
        </p:blipFill>
        <p:spPr>
          <a:xfrm>
            <a:off x="0" y="582512"/>
            <a:ext cx="4802660" cy="5275080"/>
          </a:xfrm>
          <a:prstGeom prst="rect">
            <a:avLst/>
          </a:prstGeom>
        </p:spPr>
      </p:pic>
      <p:sp>
        <p:nvSpPr>
          <p:cNvPr id="4" name="TextBox 3">
            <a:extLst>
              <a:ext uri="{FF2B5EF4-FFF2-40B4-BE49-F238E27FC236}">
                <a16:creationId xmlns:a16="http://schemas.microsoft.com/office/drawing/2014/main" id="{7814849C-5243-2ECA-332D-AC1678558C8C}"/>
              </a:ext>
            </a:extLst>
          </p:cNvPr>
          <p:cNvSpPr txBox="1"/>
          <p:nvPr/>
        </p:nvSpPr>
        <p:spPr>
          <a:xfrm>
            <a:off x="0" y="0"/>
            <a:ext cx="12192000" cy="584775"/>
          </a:xfrm>
          <a:prstGeom prst="rect">
            <a:avLst/>
          </a:prstGeom>
          <a:noFill/>
        </p:spPr>
        <p:txBody>
          <a:bodyPr wrap="square" rtlCol="0">
            <a:spAutoFit/>
          </a:bodyPr>
          <a:lstStyle/>
          <a:p>
            <a:r>
              <a:rPr lang="en-CA" sz="3200" b="1" dirty="0">
                <a:solidFill>
                  <a:srgbClr val="612141"/>
                </a:solidFill>
              </a:rPr>
              <a:t>*Quick Notes</a:t>
            </a:r>
          </a:p>
        </p:txBody>
      </p:sp>
      <p:pic>
        <p:nvPicPr>
          <p:cNvPr id="7" name="Picture 6" descr="Michael Zhang (Director, Master of Business Analytics Program)">
            <a:extLst>
              <a:ext uri="{FF2B5EF4-FFF2-40B4-BE49-F238E27FC236}">
                <a16:creationId xmlns:a16="http://schemas.microsoft.com/office/drawing/2014/main" id="{1EB2BADF-3C96-C906-6A8F-D3609BBEA57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4FE5BBF-647D-9678-4A99-B9DB70686036}"/>
              </a:ext>
            </a:extLst>
          </p:cNvPr>
          <p:cNvSpPr txBox="1"/>
          <p:nvPr/>
        </p:nvSpPr>
        <p:spPr>
          <a:xfrm>
            <a:off x="4802660" y="582512"/>
            <a:ext cx="7194377" cy="1477328"/>
          </a:xfrm>
          <a:prstGeom prst="rect">
            <a:avLst/>
          </a:prstGeom>
          <a:noFill/>
        </p:spPr>
        <p:txBody>
          <a:bodyPr wrap="square" rtlCol="0">
            <a:spAutoFit/>
          </a:bodyPr>
          <a:lstStyle/>
          <a:p>
            <a:r>
              <a:rPr lang="en-CA" dirty="0"/>
              <a:t>R</a:t>
            </a:r>
            <a:r>
              <a:rPr lang="en-US" altLang="zh-CN" dirty="0" err="1"/>
              <a:t>egarding</a:t>
            </a:r>
            <a:r>
              <a:rPr lang="en-US" altLang="zh-CN" dirty="0"/>
              <a:t> the email sending, w</a:t>
            </a:r>
            <a:r>
              <a:rPr lang="en-CA" dirty="0"/>
              <a:t>hen</a:t>
            </a:r>
            <a:r>
              <a:rPr lang="zh-CN" altLang="en-US" dirty="0"/>
              <a:t> </a:t>
            </a:r>
            <a:r>
              <a:rPr lang="en-CA" altLang="zh-CN" dirty="0"/>
              <a:t>I</a:t>
            </a:r>
            <a:r>
              <a:rPr lang="zh-CN" altLang="en-US" dirty="0"/>
              <a:t> </a:t>
            </a:r>
            <a:r>
              <a:rPr lang="en-CA" altLang="zh-CN" dirty="0"/>
              <a:t>was</a:t>
            </a:r>
            <a:r>
              <a:rPr lang="zh-CN" altLang="en-US" dirty="0"/>
              <a:t> </a:t>
            </a:r>
            <a:r>
              <a:rPr lang="en-CA" altLang="zh-CN" dirty="0"/>
              <a:t>troubleshooting for someone using MacBook on Thursday, I noticed that “</a:t>
            </a:r>
            <a:r>
              <a:rPr lang="en-CA" altLang="zh-CN" dirty="0" err="1"/>
              <a:t>ssl.create_default_context</a:t>
            </a:r>
            <a:r>
              <a:rPr lang="en-CA" altLang="zh-CN" dirty="0"/>
              <a:t>” should be replaced by “</a:t>
            </a:r>
            <a:r>
              <a:rPr lang="en-CA" altLang="zh-CN" dirty="0" err="1"/>
              <a:t>ssl</a:t>
            </a:r>
            <a:r>
              <a:rPr lang="en-CA" altLang="zh-CN" dirty="0"/>
              <a:t>.</a:t>
            </a:r>
            <a:r>
              <a:rPr lang="en-CA" dirty="0"/>
              <a:t> _</a:t>
            </a:r>
            <a:r>
              <a:rPr lang="en-CA" dirty="0" err="1"/>
              <a:t>create_unverified_context</a:t>
            </a:r>
            <a:r>
              <a:rPr lang="en-CA" dirty="0"/>
              <a:t>”. Thanks to MR. A possibly helpful code snippet is attached on the LHS.</a:t>
            </a:r>
          </a:p>
        </p:txBody>
      </p:sp>
      <p:sp>
        <p:nvSpPr>
          <p:cNvPr id="8" name="TextBox 7">
            <a:extLst>
              <a:ext uri="{FF2B5EF4-FFF2-40B4-BE49-F238E27FC236}">
                <a16:creationId xmlns:a16="http://schemas.microsoft.com/office/drawing/2014/main" id="{F90CF220-587D-5739-85DB-D809C9288436}"/>
              </a:ext>
            </a:extLst>
          </p:cNvPr>
          <p:cNvSpPr txBox="1"/>
          <p:nvPr/>
        </p:nvSpPr>
        <p:spPr>
          <a:xfrm>
            <a:off x="4802660" y="2059840"/>
            <a:ext cx="7389340" cy="3970318"/>
          </a:xfrm>
          <a:prstGeom prst="rect">
            <a:avLst/>
          </a:prstGeom>
          <a:noFill/>
        </p:spPr>
        <p:txBody>
          <a:bodyPr wrap="square" rtlCol="0">
            <a:spAutoFit/>
          </a:bodyPr>
          <a:lstStyle/>
          <a:p>
            <a:r>
              <a:rPr lang="en-CA" dirty="0"/>
              <a:t>I wasn’t aware of Google Scholar’s blockage to web retrieval using bs4 and requests until Sunday, thanks to Dale. It’s suggested to use selenium to retrieve information about Dr. Michael from Google scholar.</a:t>
            </a:r>
          </a:p>
          <a:p>
            <a:endParaRPr lang="en-CA" dirty="0"/>
          </a:p>
          <a:p>
            <a:r>
              <a:rPr lang="en-CA" dirty="0"/>
              <a:t>A possibly helpful code snippet of selenium is uploaded in Brightspace.</a:t>
            </a:r>
          </a:p>
          <a:p>
            <a:r>
              <a:rPr lang="en-CA" dirty="0"/>
              <a:t>(You need to install selenium and </a:t>
            </a:r>
            <a:r>
              <a:rPr lang="en-CA" dirty="0" err="1"/>
              <a:t>webdriver</a:t>
            </a:r>
            <a:r>
              <a:rPr lang="en-CA" dirty="0"/>
              <a:t>-manager using uv)</a:t>
            </a:r>
          </a:p>
          <a:p>
            <a:endParaRPr lang="en-CA" dirty="0"/>
          </a:p>
          <a:p>
            <a:r>
              <a:rPr lang="en-CA" dirty="0"/>
              <a:t>To use </a:t>
            </a:r>
            <a:r>
              <a:rPr lang="en-CA" dirty="0" err="1"/>
              <a:t>gmail</a:t>
            </a:r>
            <a:r>
              <a:rPr lang="en-CA" dirty="0"/>
              <a:t> in Python, please create an app password of your Google account. Please be advised that 2-step verification needs to be turned on before creating any app passwords.</a:t>
            </a:r>
          </a:p>
          <a:p>
            <a:endParaRPr lang="en-CA" dirty="0"/>
          </a:p>
          <a:p>
            <a:r>
              <a:rPr lang="en-CA" dirty="0"/>
              <a:t>Clarifications: Screenshot of Dr. Michael’s Google scholar profile indicates the fact that Dr. Michael is a scholar. Dr. Michael’s academic information is also available in SMU website(s).</a:t>
            </a:r>
          </a:p>
        </p:txBody>
      </p:sp>
    </p:spTree>
    <p:extLst>
      <p:ext uri="{BB962C8B-B14F-4D97-AF65-F5344CB8AC3E}">
        <p14:creationId xmlns:p14="http://schemas.microsoft.com/office/powerpoint/2010/main" val="2400535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8C887-52A8-8D1B-FC1D-A269A29E3A6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C91AAD-F3DA-315C-89CA-20C2B308AD1E}"/>
              </a:ext>
            </a:extLst>
          </p:cNvPr>
          <p:cNvSpPr txBox="1"/>
          <p:nvPr/>
        </p:nvSpPr>
        <p:spPr>
          <a:xfrm>
            <a:off x="1054100" y="1460500"/>
            <a:ext cx="10083800" cy="769441"/>
          </a:xfrm>
          <a:prstGeom prst="rect">
            <a:avLst/>
          </a:prstGeom>
          <a:noFill/>
        </p:spPr>
        <p:txBody>
          <a:bodyPr wrap="square" rtlCol="0">
            <a:spAutoFit/>
          </a:bodyPr>
          <a:lstStyle/>
          <a:p>
            <a:pPr algn="ctr"/>
            <a:r>
              <a:rPr lang="en-CA" sz="4400" b="1" dirty="0">
                <a:solidFill>
                  <a:srgbClr val="612141"/>
                </a:solidFill>
              </a:rPr>
              <a:t>Thank you for your paged attention!</a:t>
            </a:r>
          </a:p>
        </p:txBody>
      </p:sp>
      <p:pic>
        <p:nvPicPr>
          <p:cNvPr id="5" name="Picture 4">
            <a:extLst>
              <a:ext uri="{FF2B5EF4-FFF2-40B4-BE49-F238E27FC236}">
                <a16:creationId xmlns:a16="http://schemas.microsoft.com/office/drawing/2014/main" id="{C0D87A3E-C9F4-9124-2DC9-C504113FAD10}"/>
              </a:ext>
            </a:extLst>
          </p:cNvPr>
          <p:cNvPicPr>
            <a:picLocks noChangeAspect="1"/>
          </p:cNvPicPr>
          <p:nvPr/>
        </p:nvPicPr>
        <p:blipFill>
          <a:blip r:embed="rId2"/>
          <a:stretch>
            <a:fillRect/>
          </a:stretch>
        </p:blipFill>
        <p:spPr>
          <a:xfrm>
            <a:off x="1718587" y="2501130"/>
            <a:ext cx="8754826" cy="1855739"/>
          </a:xfrm>
          <a:prstGeom prst="rect">
            <a:avLst/>
          </a:prstGeom>
        </p:spPr>
      </p:pic>
      <p:pic>
        <p:nvPicPr>
          <p:cNvPr id="3" name="Picture 2" descr="Michael Zhang (Director, Master of Business Analytics Program)">
            <a:extLst>
              <a:ext uri="{FF2B5EF4-FFF2-40B4-BE49-F238E27FC236}">
                <a16:creationId xmlns:a16="http://schemas.microsoft.com/office/drawing/2014/main" id="{87DC4DBD-4F2D-254D-2F85-A30735B6AD6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0" y="5902325"/>
            <a:ext cx="3822700" cy="95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490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con&#10;&#10;Description automatically generated">
            <a:extLst>
              <a:ext uri="{FF2B5EF4-FFF2-40B4-BE49-F238E27FC236}">
                <a16:creationId xmlns:a16="http://schemas.microsoft.com/office/drawing/2014/main" id="{C3A96417-83DB-5245-B67B-F06AC312B240}"/>
              </a:ext>
            </a:extLst>
          </p:cNvPr>
          <p:cNvPicPr>
            <a:picLocks noChangeAspect="1"/>
          </p:cNvPicPr>
          <p:nvPr/>
        </p:nvPicPr>
        <p:blipFill>
          <a:blip r:embed="rId2"/>
          <a:stretch>
            <a:fillRect/>
          </a:stretch>
        </p:blipFill>
        <p:spPr>
          <a:xfrm>
            <a:off x="5623152" y="2866836"/>
            <a:ext cx="945696" cy="1124327"/>
          </a:xfrm>
          <a:prstGeom prst="rect">
            <a:avLst/>
          </a:prstGeom>
        </p:spPr>
      </p:pic>
    </p:spTree>
    <p:extLst>
      <p:ext uri="{BB962C8B-B14F-4D97-AF65-F5344CB8AC3E}">
        <p14:creationId xmlns:p14="http://schemas.microsoft.com/office/powerpoint/2010/main" val="2967837301"/>
      </p:ext>
    </p:extLst>
  </p:cSld>
  <p:clrMapOvr>
    <a:masterClrMapping/>
  </p:clrMapOvr>
</p:sld>
</file>

<file path=ppt/theme/theme1.xml><?xml version="1.0" encoding="utf-8"?>
<a:theme xmlns:a="http://schemas.openxmlformats.org/drawingml/2006/main" name="Custom Design">
  <a:themeElements>
    <a:clrScheme name="SMU Brand">
      <a:dk1>
        <a:srgbClr val="5D5E5D"/>
      </a:dk1>
      <a:lt1>
        <a:srgbClr val="FFFFFF"/>
      </a:lt1>
      <a:dk2>
        <a:srgbClr val="5F0A3E"/>
      </a:dk2>
      <a:lt2>
        <a:srgbClr val="CBCBCB"/>
      </a:lt2>
      <a:accent1>
        <a:srgbClr val="BA1B33"/>
      </a:accent1>
      <a:accent2>
        <a:srgbClr val="8CC645"/>
      </a:accent2>
      <a:accent3>
        <a:srgbClr val="FFE73C"/>
      </a:accent3>
      <a:accent4>
        <a:srgbClr val="FE7024"/>
      </a:accent4>
      <a:accent5>
        <a:srgbClr val="02BADF"/>
      </a:accent5>
      <a:accent6>
        <a:srgbClr val="FFFFFF"/>
      </a:accent6>
      <a:hlink>
        <a:srgbClr val="0563C1"/>
      </a:hlink>
      <a:folHlink>
        <a:srgbClr val="BA1B33"/>
      </a:folHlink>
    </a:clrScheme>
    <a:fontScheme name="Custom 1">
      <a:majorFont>
        <a:latin typeface="Raleway Extrabold"/>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BFC40F3-7CD4-4529-8B92-DB825C0EA444}" vid="{5FC9822B-9D40-4053-B188-1529CAE1BD01}"/>
    </a:ext>
  </a:extLst>
</a:theme>
</file>

<file path=ppt/theme/theme2.xml><?xml version="1.0" encoding="utf-8"?>
<a:theme xmlns:a="http://schemas.openxmlformats.org/drawingml/2006/main" name="Office Theme">
  <a:themeElements>
    <a:clrScheme name="SMU Brand">
      <a:dk1>
        <a:srgbClr val="5D5E5D"/>
      </a:dk1>
      <a:lt1>
        <a:srgbClr val="FFFFFF"/>
      </a:lt1>
      <a:dk2>
        <a:srgbClr val="5F0A3E"/>
      </a:dk2>
      <a:lt2>
        <a:srgbClr val="CBCBCB"/>
      </a:lt2>
      <a:accent1>
        <a:srgbClr val="BA1B33"/>
      </a:accent1>
      <a:accent2>
        <a:srgbClr val="8CC645"/>
      </a:accent2>
      <a:accent3>
        <a:srgbClr val="FFE73C"/>
      </a:accent3>
      <a:accent4>
        <a:srgbClr val="FE7024"/>
      </a:accent4>
      <a:accent5>
        <a:srgbClr val="02BADF"/>
      </a:accent5>
      <a:accent6>
        <a:srgbClr val="FFFFFF"/>
      </a:accent6>
      <a:hlink>
        <a:srgbClr val="0563C1"/>
      </a:hlink>
      <a:folHlink>
        <a:srgbClr val="BA1B33"/>
      </a:folHlink>
    </a:clrScheme>
    <a:fontScheme name="SMU">
      <a:majorFont>
        <a:latin typeface="Arial Black"/>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BFC40F3-7CD4-4529-8B92-DB825C0EA444}" vid="{3F13DB48-E3EA-4868-91CC-15C4CB52CDA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107646D0035FA4C8F1F95DBA74C7670" ma:contentTypeVersion="17" ma:contentTypeDescription="Create a new document." ma:contentTypeScope="" ma:versionID="cf5fc4cdedd07f1462f4c8ec2afe1d1c">
  <xsd:schema xmlns:xsd="http://www.w3.org/2001/XMLSchema" xmlns:xs="http://www.w3.org/2001/XMLSchema" xmlns:p="http://schemas.microsoft.com/office/2006/metadata/properties" xmlns:ns3="9ec2d0b7-503f-4434-bd5e-691963e6366e" xmlns:ns4="a169fe49-86d9-4b9f-a163-9271c3e82536" targetNamespace="http://schemas.microsoft.com/office/2006/metadata/properties" ma:root="true" ma:fieldsID="20a8c7e6184b57429edc59a72a4cddf8" ns3:_="" ns4:_="">
    <xsd:import namespace="9ec2d0b7-503f-4434-bd5e-691963e6366e"/>
    <xsd:import namespace="a169fe49-86d9-4b9f-a163-9271c3e8253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_activity" minOccurs="0"/>
                <xsd:element ref="ns3:MediaServiceObjectDetectorVersions" minOccurs="0"/>
                <xsd:element ref="ns3:MediaServiceGenerationTime" minOccurs="0"/>
                <xsd:element ref="ns3:MediaServiceEventHashCode" minOccurs="0"/>
                <xsd:element ref="ns3:MediaLengthInSeconds" minOccurs="0"/>
                <xsd:element ref="ns3:MediaServiceSearchProperties" minOccurs="0"/>
                <xsd:element ref="ns3:MediaServiceDateTaken" minOccurs="0"/>
                <xsd:element ref="ns3:MediaServiceSystemTags" minOccurs="0"/>
                <xsd:element ref="ns3:MediaServiceLoca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c2d0b7-503f-4434-bd5e-691963e636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169fe49-86d9-4b9f-a163-9271c3e8253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ec2d0b7-503f-4434-bd5e-691963e6366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7425D8-505A-4C3E-A58C-BB480D4AEAF5}">
  <ds:schemaRefs>
    <ds:schemaRef ds:uri="9ec2d0b7-503f-4434-bd5e-691963e6366e"/>
    <ds:schemaRef ds:uri="a169fe49-86d9-4b9f-a163-9271c3e8253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018E202-7E2C-4F25-B352-1695B79A5E4F}">
  <ds:schemaRefs>
    <ds:schemaRef ds:uri="9ec2d0b7-503f-4434-bd5e-691963e6366e"/>
    <ds:schemaRef ds:uri="a169fe49-86d9-4b9f-a163-9271c3e8253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1CCE7F9-BB03-4D29-A244-C8FCCA2B3E1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SMUPresentationTemplate_FontsEmbedded</Template>
  <TotalTime>3389</TotalTime>
  <Words>1080</Words>
  <Application>Microsoft Office PowerPoint</Application>
  <PresentationFormat>Widescreen</PresentationFormat>
  <Paragraphs>90</Paragraphs>
  <Slides>18</Slides>
  <Notes>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18</vt:i4>
      </vt:variant>
    </vt:vector>
  </HeadingPairs>
  <TitlesOfParts>
    <vt:vector size="23" baseType="lpstr">
      <vt:lpstr>Arial</vt:lpstr>
      <vt:lpstr>Calibri</vt:lpstr>
      <vt:lpstr>Arial Black</vt:lpstr>
      <vt:lpstr>Custom Design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Zhouri</dc:creator>
  <cp:lastModifiedBy>Yilin Huang</cp:lastModifiedBy>
  <cp:revision>34</cp:revision>
  <cp:lastPrinted>2022-03-31T15:24:48Z</cp:lastPrinted>
  <dcterms:created xsi:type="dcterms:W3CDTF">2025-06-19T12:10:18Z</dcterms:created>
  <dcterms:modified xsi:type="dcterms:W3CDTF">2026-02-08T22:28:53Z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0x010100C107646D0035FA4C8F1F95DBA74C7670</vt:lpwstr>
  </property>
</Properties>
</file>