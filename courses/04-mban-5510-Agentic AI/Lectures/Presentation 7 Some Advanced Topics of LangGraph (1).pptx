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4"/>
    <p:sldMasterId id="2147483795" r:id="rId5"/>
  </p:sldMasterIdLst>
  <p:notesMasterIdLst>
    <p:notesMasterId r:id="rId16"/>
  </p:notesMasterIdLst>
  <p:handoutMasterIdLst>
    <p:handoutMasterId r:id="rId17"/>
  </p:handoutMasterIdLst>
  <p:sldIdLst>
    <p:sldId id="290" r:id="rId6"/>
    <p:sldId id="493" r:id="rId7"/>
    <p:sldId id="494" r:id="rId8"/>
    <p:sldId id="495" r:id="rId9"/>
    <p:sldId id="496" r:id="rId10"/>
    <p:sldId id="497" r:id="rId11"/>
    <p:sldId id="500" r:id="rId12"/>
    <p:sldId id="501" r:id="rId13"/>
    <p:sldId id="509" r:id="rId14"/>
    <p:sldId id="475" r:id="rId15"/>
  </p:sldIdLst>
  <p:sldSz cx="12192000" cy="6858000"/>
  <p:notesSz cx="6858000" cy="9144000"/>
  <p:embeddedFontLst>
    <p:embeddedFont>
      <p:font typeface="Arial Black" panose="020B0A04020102020204" pitchFamily="34" charset="0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4966C77-95E5-1E49-B131-2F9202CDF0C1}">
          <p14:sldIdLst>
            <p14:sldId id="290"/>
          </p14:sldIdLst>
        </p14:section>
        <p14:section name="Presentation" id="{9C487E9F-D4EB-EB42-B385-3CDF030F4242}">
          <p14:sldIdLst>
            <p14:sldId id="493"/>
            <p14:sldId id="494"/>
            <p14:sldId id="495"/>
            <p14:sldId id="496"/>
            <p14:sldId id="497"/>
            <p14:sldId id="500"/>
            <p14:sldId id="501"/>
            <p14:sldId id="509"/>
            <p14:sldId id="4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83934F-2BC0-1588-E986-F9EF5995AB8B}" name="Margaret Murphy" initials="MM" userId="S::Margaret.Murphy@smu.ca::1c5a68ef-e9f5-4d75-aa17-d402a31635af" providerId="AD"/>
  <p188:author id="{D79F8BE3-B503-55B1-C2C3-4870E081325C}" name="Nadine LaRoche" initials="NL" userId="S::nadine.laroche@smu.ca::c7099506-2b9b-4cb9-a512-27782df0d0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2141"/>
    <a:srgbClr val="BB1B33"/>
    <a:srgbClr val="5F0A3E"/>
    <a:srgbClr val="EEDC00"/>
    <a:srgbClr val="00A2C7"/>
    <a:srgbClr val="72A300"/>
    <a:srgbClr val="FF6A14"/>
    <a:srgbClr val="9D2235"/>
    <a:srgbClr val="911330"/>
    <a:srgbClr val="2B2E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F4323-3BF0-95F4-7460-74AA963041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145D2-7B56-E808-6C80-2F1E66D218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21F4E-852C-4843-848B-65B72FDCC89C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5F336-B085-CC83-95AF-CE57BE772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9F14A-8744-1B49-D51E-4617ED3F4A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1E18B-2064-4377-9E3F-6D274F9CD1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7306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B6FF8-7EE2-8344-B6A5-C9AE38CA73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60C5B-9251-0E4E-A71E-273408E7D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5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>
              <a:ea typeface="Calibri"/>
              <a:cs typeface="Calibri"/>
            </a:endParaRP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60C5B-9251-0E4E-A71E-273408E7D9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20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60C5B-9251-0E4E-A71E-273408E7D9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F102-3E23-31E2-89B1-6D10E76D6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200">
                <a:solidFill>
                  <a:srgbClr val="5F0A3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CE49A-F308-F906-57BF-301518EDB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2DB8F-3E2D-066F-06A0-BAC3A5124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B2C0-1FD5-7B40-B252-D9944AD0745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529B2-49CA-4E66-3564-88DFBB70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FC01-E720-407D-5043-01DA8058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0A681-0EFA-2C42-B0CE-6F23BA4C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5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80603A-465B-D048-A17D-E0BC88D932E2}"/>
              </a:ext>
            </a:extLst>
          </p:cNvPr>
          <p:cNvSpPr/>
          <p:nvPr userDrawn="1"/>
        </p:nvSpPr>
        <p:spPr>
          <a:xfrm>
            <a:off x="0" y="0"/>
            <a:ext cx="12192000" cy="5738648"/>
          </a:xfrm>
          <a:prstGeom prst="rect">
            <a:avLst/>
          </a:prstGeom>
          <a:solidFill>
            <a:srgbClr val="61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12141"/>
              </a:solidFill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465B2A5-17AC-534F-998D-982C6FA1F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508" y="6036270"/>
            <a:ext cx="1753043" cy="518506"/>
          </a:xfrm>
          <a:prstGeom prst="rect">
            <a:avLst/>
          </a:prstGeom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F779E60D-13A1-644B-A835-FD02D32D6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6182"/>
          <a:stretch/>
        </p:blipFill>
        <p:spPr>
          <a:xfrm>
            <a:off x="0" y="3897246"/>
            <a:ext cx="9553262" cy="28792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38C8071-8435-B248-8CC4-8CC2D6D75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2" y="1794923"/>
            <a:ext cx="9140215" cy="83463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B37785-45C8-AE4A-9166-6D7F52963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942" y="2867819"/>
            <a:ext cx="6088901" cy="46166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664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DC5CD5-7EC1-FE4D-BB82-8485AC698A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1214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FF1A6-E974-CA44-972F-ABD12FC7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81" y="3011685"/>
            <a:ext cx="7546837" cy="83463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2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57030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ub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BFF5A7-AD8A-4F41-AA2A-46D7A544F5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0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3A2FE9-F0FD-3E41-B8AF-2580AE51F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12302" r="18707" b="20095"/>
          <a:stretch/>
        </p:blipFill>
        <p:spPr>
          <a:xfrm>
            <a:off x="3921800" y="0"/>
            <a:ext cx="8270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EA496E-B445-F84B-9139-A2B6AB2AD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36914"/>
            <a:ext cx="8444948" cy="8063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90654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Page No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6D71-36B5-AC48-9B7E-3F5F53D9D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30" y="729734"/>
            <a:ext cx="10801740" cy="61205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solidFill>
                  <a:srgbClr val="61214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01B0FE1-4AFD-C544-8ECF-5525E9A58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130" y="1461795"/>
            <a:ext cx="10801740" cy="4570426"/>
          </a:xfrm>
          <a:prstGeom prst="rect">
            <a:avLst/>
          </a:prstGeom>
        </p:spPr>
        <p:txBody>
          <a:bodyPr numCol="2" spcCol="32400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FBB12-2468-DE45-B89E-06D4F1B6B164}"/>
              </a:ext>
            </a:extLst>
          </p:cNvPr>
          <p:cNvSpPr txBox="1"/>
          <p:nvPr userDrawn="1"/>
        </p:nvSpPr>
        <p:spPr>
          <a:xfrm>
            <a:off x="695131" y="6180210"/>
            <a:ext cx="54008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346AF-B9E5-3D40-B164-07D577A9E9D3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1200" b="0" i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D7990E-29A7-E243-9878-BCBFF5F93795}"/>
              </a:ext>
            </a:extLst>
          </p:cNvPr>
          <p:cNvCxnSpPr>
            <a:cxnSpLocks/>
          </p:cNvCxnSpPr>
          <p:nvPr userDrawn="1"/>
        </p:nvCxnSpPr>
        <p:spPr>
          <a:xfrm>
            <a:off x="695130" y="6032231"/>
            <a:ext cx="1079267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84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8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67872F-9363-4A44-B992-C3B401C29392}"/>
              </a:ext>
            </a:extLst>
          </p:cNvPr>
          <p:cNvCxnSpPr>
            <a:cxnSpLocks/>
          </p:cNvCxnSpPr>
          <p:nvPr userDrawn="1"/>
        </p:nvCxnSpPr>
        <p:spPr>
          <a:xfrm>
            <a:off x="695130" y="6032231"/>
            <a:ext cx="1001925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EDB748-6D42-484D-8ADE-3E4D73C16606}"/>
              </a:ext>
            </a:extLst>
          </p:cNvPr>
          <p:cNvSpPr txBox="1"/>
          <p:nvPr userDrawn="1"/>
        </p:nvSpPr>
        <p:spPr>
          <a:xfrm>
            <a:off x="695131" y="6180210"/>
            <a:ext cx="540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346AF-B9E5-3D40-B164-07D577A9E9D3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200"/>
              <a:t>  </a:t>
            </a:r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8B6913D-03AE-FB44-A58E-48445865D1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9678" y="5733608"/>
            <a:ext cx="608054" cy="72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1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B2C0-1FD5-7B40-B252-D9944AD0745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0A681-0EFA-2C42-B0CE-6F23BA4C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7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0945A27-B44B-1645-BEFC-D48F1644F2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5F0A3E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6110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C78D5-1CB8-9C44-8B83-1D77E61A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1C7A6-6123-AE49-8FEE-51E84EFB1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9391-878F-B548-96DD-19F2AB577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1B2C0-1FD5-7B40-B252-D9944AD07450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264C-5947-8042-8D2E-76E3B84D0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4ECB-2E5A-594E-92A1-FDA88DD35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C0A681-0EFA-2C42-B0CE-6F23BA4C0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6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5F0A3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1B2C0-1FD5-7B40-B252-D9944AD07450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C0A681-0EFA-2C42-B0CE-6F23BA4C0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9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15" r:id="rId3"/>
    <p:sldLayoutId id="2147483691" r:id="rId4"/>
    <p:sldLayoutId id="2147483698" r:id="rId5"/>
    <p:sldLayoutId id="2147483802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5F0A3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docs.langchain.com/oss/python/langgraph/application-structur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2D55F2-6C48-6393-125B-553A09D5F37E}"/>
              </a:ext>
            </a:extLst>
          </p:cNvPr>
          <p:cNvSpPr txBox="1"/>
          <p:nvPr/>
        </p:nvSpPr>
        <p:spPr>
          <a:xfrm>
            <a:off x="266700" y="292100"/>
            <a:ext cx="894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</a:rPr>
              <a:t>A</a:t>
            </a:r>
            <a:r>
              <a:rPr lang="en-US" altLang="zh-CN" sz="5400" dirty="0">
                <a:solidFill>
                  <a:schemeClr val="bg1"/>
                </a:solidFill>
              </a:rPr>
              <a:t>gentic AI with LangChain and LangGraph</a:t>
            </a:r>
            <a:endParaRPr lang="en-CA" sz="5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AFA38-EDE2-7FA9-8530-0520588CE9B6}"/>
              </a:ext>
            </a:extLst>
          </p:cNvPr>
          <p:cNvSpPr txBox="1"/>
          <p:nvPr/>
        </p:nvSpPr>
        <p:spPr>
          <a:xfrm>
            <a:off x="266700" y="3655556"/>
            <a:ext cx="76188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chemeClr val="bg1"/>
                </a:solidFill>
              </a:rPr>
              <a:t>P</a:t>
            </a:r>
            <a:r>
              <a:rPr lang="en-US" altLang="zh-CN" sz="2800" dirty="0" err="1">
                <a:solidFill>
                  <a:schemeClr val="bg1"/>
                </a:solidFill>
              </a:rPr>
              <a:t>resentation</a:t>
            </a:r>
            <a:r>
              <a:rPr lang="en-CA" sz="2800" dirty="0">
                <a:solidFill>
                  <a:schemeClr val="bg1"/>
                </a:solidFill>
              </a:rPr>
              <a:t> 7: Some Advanced Topics of LangGraph</a:t>
            </a:r>
          </a:p>
          <a:p>
            <a:r>
              <a:rPr lang="en-CA" sz="2800" dirty="0">
                <a:solidFill>
                  <a:schemeClr val="bg1"/>
                </a:solidFill>
              </a:rPr>
              <a:t>Primary Instructor: Michael Z</a:t>
            </a:r>
          </a:p>
          <a:p>
            <a:r>
              <a:rPr lang="en-CA" sz="2800" dirty="0">
                <a:solidFill>
                  <a:schemeClr val="bg1"/>
                </a:solidFill>
              </a:rPr>
              <a:t>RA: YH</a:t>
            </a:r>
          </a:p>
          <a:p>
            <a:r>
              <a:rPr lang="en-CA" sz="2800" dirty="0">
                <a:solidFill>
                  <a:schemeClr val="bg1"/>
                </a:solidFill>
              </a:rPr>
              <a:t>Date: 2026.Jan-Feb</a:t>
            </a:r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9B3B478C-DCC4-9972-ECA2-657228DDF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3061001"/>
            <a:ext cx="4889500" cy="266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ichael Zhang (Director, Master of Business Analytics Program)">
            <a:extLst>
              <a:ext uri="{FF2B5EF4-FFF2-40B4-BE49-F238E27FC236}">
                <a16:creationId xmlns:a16="http://schemas.microsoft.com/office/drawing/2014/main" id="{92481207-CC40-55FB-07C1-3EF60348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577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40622-8F11-5F5B-2177-8F08D760B39B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0. Local </a:t>
            </a:r>
            <a:r>
              <a:rPr lang="en-CA" sz="4400" b="1" dirty="0" err="1">
                <a:solidFill>
                  <a:srgbClr val="612141"/>
                </a:solidFill>
              </a:rPr>
              <a:t>LangGraph</a:t>
            </a:r>
            <a:r>
              <a:rPr lang="en-CA" sz="4400" b="1" dirty="0">
                <a:solidFill>
                  <a:srgbClr val="612141"/>
                </a:solidFill>
              </a:rPr>
              <a:t> App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BE3A50B0-F108-7E82-410B-0785FD7FE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12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BDFAEA-CA1B-87C8-3760-082E03C87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545" y="0"/>
            <a:ext cx="5964455" cy="2297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86AE7D-75C1-DB7F-0452-96A5A4BF4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764" y="2368674"/>
            <a:ext cx="7100236" cy="3848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5F6480-1D90-C747-B7C9-993288870D69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 Local </a:t>
            </a:r>
            <a:r>
              <a:rPr lang="en-CA" sz="3200" b="1" dirty="0" err="1">
                <a:solidFill>
                  <a:srgbClr val="612141"/>
                </a:solidFill>
              </a:rPr>
              <a:t>LangGraph</a:t>
            </a:r>
            <a:r>
              <a:rPr lang="en-CA" sz="3200" b="1" dirty="0">
                <a:solidFill>
                  <a:srgbClr val="612141"/>
                </a:solidFill>
              </a:rPr>
              <a:t>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8EF3F-0FFD-6680-76B2-07E712C08DA5}"/>
              </a:ext>
            </a:extLst>
          </p:cNvPr>
          <p:cNvSpPr txBox="1"/>
          <p:nvPr/>
        </p:nvSpPr>
        <p:spPr>
          <a:xfrm>
            <a:off x="0" y="584775"/>
            <a:ext cx="50917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 the multi-agent/agentic workflow application you made is becoming bigger and bigger, more and more complex, it’s really hard to keep track of what’s going on inside every single node.</a:t>
            </a:r>
          </a:p>
          <a:p>
            <a:endParaRPr lang="en-CA" dirty="0"/>
          </a:p>
          <a:p>
            <a:r>
              <a:rPr lang="en-CA" dirty="0"/>
              <a:t>Therefore, you could run </a:t>
            </a:r>
            <a:r>
              <a:rPr lang="en-CA" dirty="0" err="1"/>
              <a:t>LangGraph</a:t>
            </a:r>
            <a:r>
              <a:rPr lang="en-CA" dirty="0"/>
              <a:t> app locally to catch every single operation inside your app, such as tool’s input and output. It could preserve every run you submitted.</a:t>
            </a:r>
          </a:p>
          <a:p>
            <a:endParaRPr lang="en-CA" dirty="0"/>
          </a:p>
          <a:p>
            <a:r>
              <a:rPr lang="en-CA" dirty="0"/>
              <a:t>You need </a:t>
            </a:r>
            <a:r>
              <a:rPr lang="en-CA" dirty="0" err="1"/>
              <a:t>langsmith</a:t>
            </a:r>
            <a:r>
              <a:rPr lang="en-CA" dirty="0"/>
              <a:t> </a:t>
            </a:r>
            <a:r>
              <a:rPr lang="en-CA" dirty="0" err="1"/>
              <a:t>api</a:t>
            </a:r>
            <a:r>
              <a:rPr lang="en-CA" dirty="0"/>
              <a:t> key to run this app successfully. No credit card info is needed.</a:t>
            </a:r>
          </a:p>
          <a:p>
            <a:r>
              <a:rPr lang="en-CA" dirty="0"/>
              <a:t>It’s suggested to follow my guide to make it work.</a:t>
            </a:r>
          </a:p>
          <a:p>
            <a:endParaRPr lang="en-CA" dirty="0"/>
          </a:p>
          <a:p>
            <a:r>
              <a:rPr lang="en-CA" dirty="0"/>
              <a:t>You might run into some issues when playing with other templates. The key is to upgrade </a:t>
            </a:r>
            <a:r>
              <a:rPr lang="en-CA" dirty="0" err="1"/>
              <a:t>langgraph-api</a:t>
            </a:r>
            <a:r>
              <a:rPr lang="en-CA" dirty="0"/>
              <a:t>:</a:t>
            </a:r>
          </a:p>
          <a:p>
            <a:r>
              <a:rPr lang="en-CA" dirty="0" err="1"/>
              <a:t>uv</a:t>
            </a:r>
            <a:r>
              <a:rPr lang="en-CA" dirty="0"/>
              <a:t> pip install -U </a:t>
            </a:r>
            <a:r>
              <a:rPr lang="en-CA" dirty="0" err="1"/>
              <a:t>langgraph-api</a:t>
            </a:r>
            <a:endParaRPr lang="en-CA" dirty="0"/>
          </a:p>
        </p:txBody>
      </p:sp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F12D3820-B5AA-FC33-BF32-1DB2DFEDC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01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CF8FAB-10A7-923A-CE4A-5A460E47FCD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 Local </a:t>
            </a:r>
            <a:r>
              <a:rPr lang="en-CA" sz="3200" b="1" dirty="0" err="1">
                <a:solidFill>
                  <a:srgbClr val="612141"/>
                </a:solidFill>
              </a:rPr>
              <a:t>LangGraph</a:t>
            </a:r>
            <a:r>
              <a:rPr lang="en-CA" sz="3200" b="1" dirty="0">
                <a:solidFill>
                  <a:srgbClr val="612141"/>
                </a:solidFill>
              </a:rPr>
              <a:t> App: App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18930C-2703-499B-340C-4EB61AABC09C}"/>
              </a:ext>
            </a:extLst>
          </p:cNvPr>
          <p:cNvSpPr txBox="1"/>
          <p:nvPr/>
        </p:nvSpPr>
        <p:spPr>
          <a:xfrm>
            <a:off x="67376" y="741145"/>
            <a:ext cx="8669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 would go over this doc:</a:t>
            </a:r>
          </a:p>
          <a:p>
            <a:r>
              <a:rPr lang="en-CA" dirty="0">
                <a:hlinkClick r:id="rId2"/>
              </a:rPr>
              <a:t>https://docs.langchain.com/oss/python/langgraph/application-structure</a:t>
            </a:r>
            <a:endParaRPr lang="en-CA" dirty="0"/>
          </a:p>
          <a:p>
            <a:endParaRPr lang="en-CA" dirty="0"/>
          </a:p>
          <a:p>
            <a:r>
              <a:rPr lang="en-CA" dirty="0"/>
              <a:t>And talk about what I see from the project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B3615A1E-78EA-F91D-C386-536D19C2B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52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667BA-A5CC-61A2-78E3-9D334A6F07EE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1. Interrupts (aka HITL)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6DB3C460-0D49-13BA-F679-BCE040B19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44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88F8BD-5815-7E96-459F-75E8B67B1FCB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1. Interrupts: More flexible than HITL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BD3EC-EC25-1DA2-7084-BA7E0F053645}"/>
              </a:ext>
            </a:extLst>
          </p:cNvPr>
          <p:cNvSpPr txBox="1"/>
          <p:nvPr/>
        </p:nvSpPr>
        <p:spPr>
          <a:xfrm>
            <a:off x="-1" y="796705"/>
            <a:ext cx="7731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Go over the following for you:</a:t>
            </a:r>
          </a:p>
          <a:p>
            <a:r>
              <a:rPr lang="en-CA" dirty="0"/>
              <a:t>https://docs.langchain.com/oss/python/langgraph/interrupts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6634E0C4-4A17-662A-6A76-96A1B4143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864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6AFA5-3651-5693-CBDD-EE76E7FB3DE2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2. Agent Chat UI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85A2427D-0B8D-4A36-6744-7B06E46CB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51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7D90C6-8414-A95B-273F-4436F14EDDB8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2. Agent Chat UI: Watch the video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5A859-D883-3065-9146-114261EAD7FB}"/>
              </a:ext>
            </a:extLst>
          </p:cNvPr>
          <p:cNvSpPr txBox="1"/>
          <p:nvPr/>
        </p:nvSpPr>
        <p:spPr>
          <a:xfrm>
            <a:off x="0" y="584775"/>
            <a:ext cx="5667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https://www.youtube.com/watch?v=lInrwVnZ83o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DFB12AD8-E0DA-F997-51DC-7473D2064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91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8C887-52A8-8D1B-FC1D-A269A29E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91AAD-F3DA-315C-89CA-20C2B308AD1E}"/>
              </a:ext>
            </a:extLst>
          </p:cNvPr>
          <p:cNvSpPr txBox="1"/>
          <p:nvPr/>
        </p:nvSpPr>
        <p:spPr>
          <a:xfrm>
            <a:off x="1054100" y="1460500"/>
            <a:ext cx="1008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b="1" dirty="0">
                <a:solidFill>
                  <a:srgbClr val="612141"/>
                </a:solidFill>
              </a:rPr>
              <a:t>Thank you for your paged attention!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87A3E-C9F4-9124-2DC9-C504113FA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587" y="2501130"/>
            <a:ext cx="8754826" cy="1855739"/>
          </a:xfrm>
          <a:prstGeom prst="rect">
            <a:avLst/>
          </a:prstGeom>
        </p:spPr>
      </p:pic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E40E45E7-6F97-1A1C-4C92-7C1D97271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490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C3A96417-83DB-5245-B67B-F06AC312B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152" y="2866836"/>
            <a:ext cx="945696" cy="112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373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MU Brand">
      <a:dk1>
        <a:srgbClr val="5D5E5D"/>
      </a:dk1>
      <a:lt1>
        <a:srgbClr val="FFFFFF"/>
      </a:lt1>
      <a:dk2>
        <a:srgbClr val="5F0A3E"/>
      </a:dk2>
      <a:lt2>
        <a:srgbClr val="CBCBCB"/>
      </a:lt2>
      <a:accent1>
        <a:srgbClr val="BA1B33"/>
      </a:accent1>
      <a:accent2>
        <a:srgbClr val="8CC645"/>
      </a:accent2>
      <a:accent3>
        <a:srgbClr val="FFE73C"/>
      </a:accent3>
      <a:accent4>
        <a:srgbClr val="FE7024"/>
      </a:accent4>
      <a:accent5>
        <a:srgbClr val="02BADF"/>
      </a:accent5>
      <a:accent6>
        <a:srgbClr val="FFFFFF"/>
      </a:accent6>
      <a:hlink>
        <a:srgbClr val="0563C1"/>
      </a:hlink>
      <a:folHlink>
        <a:srgbClr val="BA1B33"/>
      </a:folHlink>
    </a:clrScheme>
    <a:fontScheme name="Custom 1">
      <a:majorFont>
        <a:latin typeface="Raleway Extrabold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C40F3-7CD4-4529-8B92-DB825C0EA444}" vid="{5FC9822B-9D40-4053-B188-1529CAE1BD01}"/>
    </a:ext>
  </a:extLst>
</a:theme>
</file>

<file path=ppt/theme/theme2.xml><?xml version="1.0" encoding="utf-8"?>
<a:theme xmlns:a="http://schemas.openxmlformats.org/drawingml/2006/main" name="Office Theme">
  <a:themeElements>
    <a:clrScheme name="SMU Brand">
      <a:dk1>
        <a:srgbClr val="5D5E5D"/>
      </a:dk1>
      <a:lt1>
        <a:srgbClr val="FFFFFF"/>
      </a:lt1>
      <a:dk2>
        <a:srgbClr val="5F0A3E"/>
      </a:dk2>
      <a:lt2>
        <a:srgbClr val="CBCBCB"/>
      </a:lt2>
      <a:accent1>
        <a:srgbClr val="BA1B33"/>
      </a:accent1>
      <a:accent2>
        <a:srgbClr val="8CC645"/>
      </a:accent2>
      <a:accent3>
        <a:srgbClr val="FFE73C"/>
      </a:accent3>
      <a:accent4>
        <a:srgbClr val="FE7024"/>
      </a:accent4>
      <a:accent5>
        <a:srgbClr val="02BADF"/>
      </a:accent5>
      <a:accent6>
        <a:srgbClr val="FFFFFF"/>
      </a:accent6>
      <a:hlink>
        <a:srgbClr val="0563C1"/>
      </a:hlink>
      <a:folHlink>
        <a:srgbClr val="BA1B33"/>
      </a:folHlink>
    </a:clrScheme>
    <a:fontScheme name="SMU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C40F3-7CD4-4529-8B92-DB825C0EA444}" vid="{3F13DB48-E3EA-4868-91CC-15C4CB52CD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07646D0035FA4C8F1F95DBA74C7670" ma:contentTypeVersion="17" ma:contentTypeDescription="Create a new document." ma:contentTypeScope="" ma:versionID="cf5fc4cdedd07f1462f4c8ec2afe1d1c">
  <xsd:schema xmlns:xsd="http://www.w3.org/2001/XMLSchema" xmlns:xs="http://www.w3.org/2001/XMLSchema" xmlns:p="http://schemas.microsoft.com/office/2006/metadata/properties" xmlns:ns3="9ec2d0b7-503f-4434-bd5e-691963e6366e" xmlns:ns4="a169fe49-86d9-4b9f-a163-9271c3e82536" targetNamespace="http://schemas.microsoft.com/office/2006/metadata/properties" ma:root="true" ma:fieldsID="20a8c7e6184b57429edc59a72a4cddf8" ns3:_="" ns4:_="">
    <xsd:import namespace="9ec2d0b7-503f-4434-bd5e-691963e6366e"/>
    <xsd:import namespace="a169fe49-86d9-4b9f-a163-9271c3e825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2d0b7-503f-4434-bd5e-691963e636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69fe49-86d9-4b9f-a163-9271c3e8253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c2d0b7-503f-4434-bd5e-691963e6366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7425D8-505A-4C3E-A58C-BB480D4AEAF5}">
  <ds:schemaRefs>
    <ds:schemaRef ds:uri="9ec2d0b7-503f-4434-bd5e-691963e6366e"/>
    <ds:schemaRef ds:uri="a169fe49-86d9-4b9f-a163-9271c3e825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18E202-7E2C-4F25-B352-1695B79A5E4F}">
  <ds:schemaRefs>
    <ds:schemaRef ds:uri="9ec2d0b7-503f-4434-bd5e-691963e6366e"/>
    <ds:schemaRef ds:uri="a169fe49-86d9-4b9f-a163-9271c3e825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1CCE7F9-BB03-4D29-A244-C8FCCA2B3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SMUPresentationTemplate_FontsEmbedded</Template>
  <TotalTime>328</TotalTime>
  <Words>272</Words>
  <Application>Microsoft Office PowerPoint</Application>
  <PresentationFormat>Widescreen</PresentationFormat>
  <Paragraphs>31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Arial Black</vt:lpstr>
      <vt:lpstr>Custom Design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Zhouri</dc:creator>
  <cp:lastModifiedBy>Yilin Huang</cp:lastModifiedBy>
  <cp:revision>30</cp:revision>
  <cp:lastPrinted>2022-03-31T15:24:48Z</cp:lastPrinted>
  <dcterms:created xsi:type="dcterms:W3CDTF">2025-06-19T12:10:18Z</dcterms:created>
  <dcterms:modified xsi:type="dcterms:W3CDTF">2026-02-10T23:03:05Z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0x010100C107646D0035FA4C8F1F95DBA74C7670</vt:lpwstr>
  </property>
</Properties>
</file>