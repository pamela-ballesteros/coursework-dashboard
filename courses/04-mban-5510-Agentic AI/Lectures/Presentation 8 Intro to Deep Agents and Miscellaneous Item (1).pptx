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3" r:id="rId4"/>
    <p:sldMasterId id="2147483795" r:id="rId5"/>
  </p:sldMasterIdLst>
  <p:notesMasterIdLst>
    <p:notesMasterId r:id="rId20"/>
  </p:notesMasterIdLst>
  <p:handoutMasterIdLst>
    <p:handoutMasterId r:id="rId21"/>
  </p:handoutMasterIdLst>
  <p:sldIdLst>
    <p:sldId id="290" r:id="rId6"/>
    <p:sldId id="493" r:id="rId7"/>
    <p:sldId id="515" r:id="rId8"/>
    <p:sldId id="516" r:id="rId9"/>
    <p:sldId id="510" r:id="rId10"/>
    <p:sldId id="517" r:id="rId11"/>
    <p:sldId id="511" r:id="rId12"/>
    <p:sldId id="518" r:id="rId13"/>
    <p:sldId id="519" r:id="rId14"/>
    <p:sldId id="514" r:id="rId15"/>
    <p:sldId id="520" r:id="rId16"/>
    <p:sldId id="512" r:id="rId17"/>
    <p:sldId id="509" r:id="rId18"/>
    <p:sldId id="475" r:id="rId19"/>
  </p:sldIdLst>
  <p:sldSz cx="12192000" cy="6858000"/>
  <p:notesSz cx="6858000" cy="9144000"/>
  <p:embeddedFontLst>
    <p:embeddedFont>
      <p:font typeface="Arial Black" panose="020B0A04020102020204" pitchFamily="34" charset="0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4966C77-95E5-1E49-B131-2F9202CDF0C1}">
          <p14:sldIdLst>
            <p14:sldId id="290"/>
          </p14:sldIdLst>
        </p14:section>
        <p14:section name="Presentation" id="{9C487E9F-D4EB-EB42-B385-3CDF030F4242}">
          <p14:sldIdLst>
            <p14:sldId id="493"/>
            <p14:sldId id="515"/>
            <p14:sldId id="516"/>
            <p14:sldId id="510"/>
            <p14:sldId id="517"/>
            <p14:sldId id="511"/>
            <p14:sldId id="518"/>
            <p14:sldId id="519"/>
            <p14:sldId id="514"/>
            <p14:sldId id="520"/>
            <p14:sldId id="512"/>
            <p14:sldId id="509"/>
            <p14:sldId id="4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A83934F-2BC0-1588-E986-F9EF5995AB8B}" name="Margaret Murphy" initials="MM" userId="S::Margaret.Murphy@smu.ca::1c5a68ef-e9f5-4d75-aa17-d402a31635af" providerId="AD"/>
  <p188:author id="{D79F8BE3-B503-55B1-C2C3-4870E081325C}" name="Nadine LaRoche" initials="NL" userId="S::nadine.laroche@smu.ca::c7099506-2b9b-4cb9-a512-27782df0d03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2141"/>
    <a:srgbClr val="BB1B33"/>
    <a:srgbClr val="5F0A3E"/>
    <a:srgbClr val="EEDC00"/>
    <a:srgbClr val="00A2C7"/>
    <a:srgbClr val="72A300"/>
    <a:srgbClr val="FF6A14"/>
    <a:srgbClr val="9D2235"/>
    <a:srgbClr val="911330"/>
    <a:srgbClr val="2B2E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1.fntdata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F4323-3BF0-95F4-7460-74AA963041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145D2-7B56-E808-6C80-2F1E66D218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721F4E-852C-4843-848B-65B72FDCC89C}" type="datetimeFigureOut">
              <a:rPr lang="en-CA" smtClean="0"/>
              <a:t>2026-02-10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E5F336-B085-CC83-95AF-CE57BE7728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D9F14A-8744-1B49-D51E-4617ED3F4A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1E18B-2064-4377-9E3F-6D274F9CD1B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7306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B6FF8-7EE2-8344-B6A5-C9AE38CA73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60C5B-9251-0E4E-A71E-273408E7D9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5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>
              <a:ea typeface="Calibri"/>
              <a:cs typeface="Calibri"/>
            </a:endParaRPr>
          </a:p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60C5B-9251-0E4E-A71E-273408E7D9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204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F60C5B-9251-0E4E-A71E-273408E7D9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1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F102-3E23-31E2-89B1-6D10E76D6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200">
                <a:solidFill>
                  <a:srgbClr val="5F0A3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0CE49A-F308-F906-57BF-301518EDB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2DB8F-3E2D-066F-06A0-BAC3A5124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1B2C0-1FD5-7B40-B252-D9944AD0745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529B2-49CA-4E66-3564-88DFBB70E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90FC01-E720-407D-5043-01DA8058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0A681-0EFA-2C42-B0CE-6F23BA4C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52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80603A-465B-D048-A17D-E0BC88D932E2}"/>
              </a:ext>
            </a:extLst>
          </p:cNvPr>
          <p:cNvSpPr/>
          <p:nvPr userDrawn="1"/>
        </p:nvSpPr>
        <p:spPr>
          <a:xfrm>
            <a:off x="0" y="0"/>
            <a:ext cx="12192000" cy="5738648"/>
          </a:xfrm>
          <a:prstGeom prst="rect">
            <a:avLst/>
          </a:prstGeom>
          <a:solidFill>
            <a:srgbClr val="612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12141"/>
              </a:solidFill>
            </a:endParaRPr>
          </a:p>
        </p:txBody>
      </p:sp>
      <p:pic>
        <p:nvPicPr>
          <p:cNvPr id="3" name="Picture 2" descr="A picture containing text, sign&#10;&#10;Description automatically generated">
            <a:extLst>
              <a:ext uri="{FF2B5EF4-FFF2-40B4-BE49-F238E27FC236}">
                <a16:creationId xmlns:a16="http://schemas.microsoft.com/office/drawing/2014/main" id="{7465B2A5-17AC-534F-998D-982C6FA1F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508" y="6036270"/>
            <a:ext cx="1753043" cy="518506"/>
          </a:xfrm>
          <a:prstGeom prst="rect">
            <a:avLst/>
          </a:prstGeom>
        </p:spPr>
      </p:pic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F779E60D-13A1-644B-A835-FD02D32D66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6182"/>
          <a:stretch/>
        </p:blipFill>
        <p:spPr>
          <a:xfrm>
            <a:off x="0" y="3897246"/>
            <a:ext cx="9553262" cy="287929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38C8071-8435-B248-8CC4-8CC2D6D75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942" y="1794923"/>
            <a:ext cx="9140215" cy="83463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B37785-45C8-AE4A-9166-6D7F52963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7942" y="2867819"/>
            <a:ext cx="6088901" cy="461666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6643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DC5CD5-7EC1-FE4D-BB82-8485AC698AC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1214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FF1A6-E974-CA44-972F-ABD12FC73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2581" y="3011685"/>
            <a:ext cx="7546837" cy="83463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200" b="0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570308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ub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BFF5A7-AD8A-4F41-AA2A-46D7A544F5F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F0A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E3A2FE9-F0FD-3E41-B8AF-2580AE51F1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t="12302" r="18707" b="20095"/>
          <a:stretch/>
        </p:blipFill>
        <p:spPr>
          <a:xfrm>
            <a:off x="3921800" y="0"/>
            <a:ext cx="8270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EA496E-B445-F84B-9139-A2B6AB2AD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136914"/>
            <a:ext cx="8444948" cy="8063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906543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Full Page No Cr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A6D71-36B5-AC48-9B7E-3F5F53D9D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130" y="729734"/>
            <a:ext cx="10801740" cy="61205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 b="1">
                <a:solidFill>
                  <a:srgbClr val="61214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01B0FE1-4AFD-C544-8ECF-5525E9A58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130" y="1461795"/>
            <a:ext cx="10801740" cy="4570426"/>
          </a:xfrm>
          <a:prstGeom prst="rect">
            <a:avLst/>
          </a:prstGeom>
        </p:spPr>
        <p:txBody>
          <a:bodyPr numCol="2" spcCol="32400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spcAft>
                <a:spcPts val="600"/>
              </a:spcAft>
              <a:defRPr sz="15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3FBB12-2468-DE45-B89E-06D4F1B6B164}"/>
              </a:ext>
            </a:extLst>
          </p:cNvPr>
          <p:cNvSpPr txBox="1"/>
          <p:nvPr userDrawn="1"/>
        </p:nvSpPr>
        <p:spPr>
          <a:xfrm>
            <a:off x="695131" y="6180210"/>
            <a:ext cx="54008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346AF-B9E5-3D40-B164-07D577A9E9D3}" type="slidenum"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GB" sz="1200" b="0" i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D7990E-29A7-E243-9878-BCBFF5F93795}"/>
              </a:ext>
            </a:extLst>
          </p:cNvPr>
          <p:cNvCxnSpPr>
            <a:cxnSpLocks/>
          </p:cNvCxnSpPr>
          <p:nvPr userDrawn="1"/>
        </p:nvCxnSpPr>
        <p:spPr>
          <a:xfrm>
            <a:off x="695130" y="6032231"/>
            <a:ext cx="10792677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84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8_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67872F-9363-4A44-B992-C3B401C29392}"/>
              </a:ext>
            </a:extLst>
          </p:cNvPr>
          <p:cNvCxnSpPr>
            <a:cxnSpLocks/>
          </p:cNvCxnSpPr>
          <p:nvPr userDrawn="1"/>
        </p:nvCxnSpPr>
        <p:spPr>
          <a:xfrm>
            <a:off x="695130" y="6032231"/>
            <a:ext cx="1001925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FEDB748-6D42-484D-8ADE-3E4D73C16606}"/>
              </a:ext>
            </a:extLst>
          </p:cNvPr>
          <p:cNvSpPr txBox="1"/>
          <p:nvPr userDrawn="1"/>
        </p:nvSpPr>
        <p:spPr>
          <a:xfrm>
            <a:off x="695131" y="6180210"/>
            <a:ext cx="5400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8346AF-B9E5-3D40-B164-07D577A9E9D3}" type="slidenum">
              <a:rPr lang="en-US" sz="120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200"/>
              <a:t>  </a:t>
            </a:r>
            <a:endParaRPr lang="en-US"/>
          </a:p>
        </p:txBody>
      </p:sp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8B6913D-03AE-FB44-A58E-48445865D1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9678" y="5733608"/>
            <a:ext cx="608054" cy="72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31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1B2C0-1FD5-7B40-B252-D9944AD0745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0A681-0EFA-2C42-B0CE-6F23BA4C0A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78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Ful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0945A27-B44B-1645-BEFC-D48F1644F20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rgbClr val="5F0A3E"/>
                </a:solidFill>
                <a:latin typeface="Arial Black" panose="020B0A040201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6110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C78D5-1CB8-9C44-8B83-1D77E61AE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1C7A6-6123-AE49-8FEE-51E84EFB1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419391-878F-B548-96DD-19F2AB577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3D1B2C0-1FD5-7B40-B252-D9944AD07450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264C-5947-8042-8D2E-76E3B84D0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B4ECB-2E5A-594E-92A1-FDA88DD35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C0A681-0EFA-2C42-B0CE-6F23BA4C0A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68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5F0A3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3D1B2C0-1FD5-7B40-B252-D9944AD07450}" type="datetimeFigureOut">
              <a:rPr lang="en-US" smtClean="0"/>
              <a:pPr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DC0A681-0EFA-2C42-B0CE-6F23BA4C0A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19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15" r:id="rId3"/>
    <p:sldLayoutId id="2147483691" r:id="rId4"/>
    <p:sldLayoutId id="2147483698" r:id="rId5"/>
    <p:sldLayoutId id="2147483802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5F0A3E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docs.langchain.com/oss/python/langchain/multi-agent/skills-sql-assistant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1F6B3D-4E7D-6B38-5CD9-0476804CB60F}"/>
              </a:ext>
            </a:extLst>
          </p:cNvPr>
          <p:cNvSpPr txBox="1"/>
          <p:nvPr/>
        </p:nvSpPr>
        <p:spPr>
          <a:xfrm>
            <a:off x="266700" y="292100"/>
            <a:ext cx="894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dirty="0">
                <a:solidFill>
                  <a:schemeClr val="bg1"/>
                </a:solidFill>
              </a:rPr>
              <a:t>A</a:t>
            </a:r>
            <a:r>
              <a:rPr lang="en-US" altLang="zh-CN" sz="5400" dirty="0">
                <a:solidFill>
                  <a:schemeClr val="bg1"/>
                </a:solidFill>
              </a:rPr>
              <a:t>gentic AI with LangChain and LangGraph</a:t>
            </a:r>
            <a:endParaRPr lang="en-CA" sz="5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B78A1-1904-E048-428F-F99B00F6AF39}"/>
              </a:ext>
            </a:extLst>
          </p:cNvPr>
          <p:cNvSpPr txBox="1"/>
          <p:nvPr/>
        </p:nvSpPr>
        <p:spPr>
          <a:xfrm>
            <a:off x="266701" y="3655556"/>
            <a:ext cx="57629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>
                <a:solidFill>
                  <a:schemeClr val="bg1"/>
                </a:solidFill>
              </a:rPr>
              <a:t>Presentation </a:t>
            </a:r>
            <a:r>
              <a:rPr lang="en-CA" sz="2800" dirty="0">
                <a:solidFill>
                  <a:schemeClr val="bg1"/>
                </a:solidFill>
              </a:rPr>
              <a:t>8: Intro to D</a:t>
            </a:r>
            <a:r>
              <a:rPr lang="en-US" altLang="zh-CN" sz="2800" dirty="0" err="1">
                <a:solidFill>
                  <a:schemeClr val="bg1"/>
                </a:solidFill>
              </a:rPr>
              <a:t>eep</a:t>
            </a:r>
            <a:r>
              <a:rPr lang="en-US" altLang="zh-CN" sz="2800" dirty="0">
                <a:solidFill>
                  <a:schemeClr val="bg1"/>
                </a:solidFill>
              </a:rPr>
              <a:t> Agent and Miscellaneous Items</a:t>
            </a:r>
            <a:endParaRPr lang="en-CA" sz="2800" dirty="0">
              <a:solidFill>
                <a:schemeClr val="bg1"/>
              </a:solidFill>
            </a:endParaRPr>
          </a:p>
          <a:p>
            <a:r>
              <a:rPr lang="en-CA" sz="2800" dirty="0">
                <a:solidFill>
                  <a:schemeClr val="bg1"/>
                </a:solidFill>
              </a:rPr>
              <a:t>Primary Instructor: Michael Z</a:t>
            </a:r>
          </a:p>
          <a:p>
            <a:r>
              <a:rPr lang="en-CA" sz="2800" dirty="0">
                <a:solidFill>
                  <a:schemeClr val="bg1"/>
                </a:solidFill>
              </a:rPr>
              <a:t>RA: YH</a:t>
            </a:r>
          </a:p>
          <a:p>
            <a:r>
              <a:rPr lang="en-CA" sz="2800" dirty="0">
                <a:solidFill>
                  <a:schemeClr val="bg1"/>
                </a:solidFill>
              </a:rPr>
              <a:t>Date: 2026.Jan-Feb</a:t>
            </a:r>
          </a:p>
        </p:txBody>
      </p:sp>
      <p:pic>
        <p:nvPicPr>
          <p:cNvPr id="6" name="Picture 5" descr="image">
            <a:extLst>
              <a:ext uri="{FF2B5EF4-FFF2-40B4-BE49-F238E27FC236}">
                <a16:creationId xmlns:a16="http://schemas.microsoft.com/office/drawing/2014/main" id="{C2ECCF70-19AA-92C0-94F0-5D36C91C0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00" y="3061001"/>
            <a:ext cx="4889500" cy="266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92481207-CC40-55FB-07C1-3EF603487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1577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FD290E-E860-39A3-AED4-21E191ADECE9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0. Deep Agent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6DEEACC9-CC83-7596-115A-8A0EBFDBF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312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F21F3A-DB34-29DA-8219-3A7D3998AB6F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0. Deep Agent: </a:t>
            </a:r>
            <a:r>
              <a:rPr lang="en-CA" sz="3200" b="1" dirty="0" err="1">
                <a:solidFill>
                  <a:srgbClr val="612141"/>
                </a:solidFill>
              </a:rPr>
              <a:t>Quickstart</a:t>
            </a:r>
            <a:r>
              <a:rPr lang="en-CA" sz="3200" b="1" dirty="0">
                <a:solidFill>
                  <a:srgbClr val="612141"/>
                </a:solidFill>
              </a:rPr>
              <a:t> (Skipped)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3D36BD-A086-4EDF-7877-0BC7B70FA34E}"/>
              </a:ext>
            </a:extLst>
          </p:cNvPr>
          <p:cNvSpPr txBox="1"/>
          <p:nvPr/>
        </p:nvSpPr>
        <p:spPr>
          <a:xfrm>
            <a:off x="0" y="584775"/>
            <a:ext cx="12192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Deep Agent = regular </a:t>
            </a:r>
            <a:r>
              <a:rPr lang="en-CA" dirty="0" err="1"/>
              <a:t>ReAct</a:t>
            </a:r>
            <a:r>
              <a:rPr lang="en-CA" dirty="0"/>
              <a:t> agent + a list of </a:t>
            </a:r>
            <a:r>
              <a:rPr lang="en-CA" dirty="0" err="1"/>
              <a:t>langchain</a:t>
            </a:r>
            <a:r>
              <a:rPr lang="en-CA" dirty="0"/>
              <a:t>-provided default tools + planning capabilities + context management through file system……</a:t>
            </a:r>
          </a:p>
          <a:p>
            <a:endParaRPr lang="en-CA" dirty="0"/>
          </a:p>
          <a:p>
            <a:r>
              <a:rPr lang="en-CA" dirty="0"/>
              <a:t>According to </a:t>
            </a:r>
            <a:r>
              <a:rPr lang="en-CA" dirty="0" err="1"/>
              <a:t>LangChain</a:t>
            </a:r>
            <a:r>
              <a:rPr lang="en-CA" dirty="0"/>
              <a:t> docs, it seems Deep Agent is </a:t>
            </a:r>
            <a:r>
              <a:rPr lang="en-CA" dirty="0" err="1"/>
              <a:t>ReAct</a:t>
            </a:r>
            <a:r>
              <a:rPr lang="en-CA" dirty="0"/>
              <a:t> Agent Pro Max.</a:t>
            </a:r>
          </a:p>
          <a:p>
            <a:endParaRPr lang="en-CA" dirty="0"/>
          </a:p>
          <a:p>
            <a:r>
              <a:rPr lang="en-CA" dirty="0"/>
              <a:t>Since Deep Agent is really similar to regular </a:t>
            </a:r>
            <a:r>
              <a:rPr lang="en-CA" dirty="0" err="1"/>
              <a:t>ReAct</a:t>
            </a:r>
            <a:r>
              <a:rPr lang="en-CA" dirty="0"/>
              <a:t> agent, I won’t repeat what I discussed before but talking something new.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62E861-61BD-9569-2D98-38D241140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409" y="2726050"/>
            <a:ext cx="5269182" cy="3547175"/>
          </a:xfrm>
          <a:prstGeom prst="rect">
            <a:avLst/>
          </a:prstGeom>
        </p:spPr>
      </p:pic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99308178-11AC-C349-7C1F-5708453F2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309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FA910A-3390-BD7D-DA87-62610BBCFA82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0. Deep Agent: Subagents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6A5D45-C0A8-5F7F-4A1D-64218B2C4EB5}"/>
              </a:ext>
            </a:extLst>
          </p:cNvPr>
          <p:cNvSpPr txBox="1"/>
          <p:nvPr/>
        </p:nvSpPr>
        <p:spPr>
          <a:xfrm>
            <a:off x="-1" y="584775"/>
            <a:ext cx="118781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You could provide some subagents to main Deep Agent so that main Deep Agent could focus on high-level planning and task decomposition and subagents could be called to work on specific sub-tasks.</a:t>
            </a:r>
          </a:p>
          <a:p>
            <a:endParaRPr lang="en-CA" dirty="0"/>
          </a:p>
          <a:p>
            <a:r>
              <a:rPr lang="en-CA" dirty="0"/>
              <a:t>You could add a dictionary, which is basically agent configuration file in the list and main Deep Agent would create the agent behind the scene, or a complied </a:t>
            </a:r>
            <a:r>
              <a:rPr lang="en-CA" dirty="0" err="1"/>
              <a:t>LangGraph</a:t>
            </a:r>
            <a:r>
              <a:rPr lang="en-CA" dirty="0"/>
              <a:t> graph (the </a:t>
            </a:r>
            <a:r>
              <a:rPr lang="en-CA" dirty="0" err="1"/>
              <a:t>StateGraph</a:t>
            </a:r>
            <a:r>
              <a:rPr lang="en-CA" dirty="0"/>
              <a:t> we discussed in the “Intro to </a:t>
            </a:r>
            <a:r>
              <a:rPr lang="en-CA" dirty="0" err="1"/>
              <a:t>LangGraph</a:t>
            </a:r>
            <a:r>
              <a:rPr lang="en-CA" dirty="0"/>
              <a:t>”, such as agentic workflow or multi-agents).</a:t>
            </a:r>
          </a:p>
          <a:p>
            <a:endParaRPr lang="en-CA" dirty="0"/>
          </a:p>
          <a:p>
            <a:r>
              <a:rPr lang="en-CA" dirty="0"/>
              <a:t>(Unfortunately, the example provided by </a:t>
            </a:r>
            <a:r>
              <a:rPr lang="en-CA" dirty="0" err="1"/>
              <a:t>LangChain</a:t>
            </a:r>
            <a:r>
              <a:rPr lang="en-CA" dirty="0"/>
              <a:t> is not that good but you could get it.)</a:t>
            </a:r>
          </a:p>
          <a:p>
            <a:endParaRPr lang="en-CA" dirty="0"/>
          </a:p>
          <a:p>
            <a:r>
              <a:rPr lang="en-CA" dirty="0"/>
              <a:t>I would go over the docs for you very quick.</a:t>
            </a:r>
          </a:p>
        </p:txBody>
      </p: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3FCBC5E2-B55F-8FAD-36BB-E071546A0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1391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5FDCE0-4CA9-3763-97EB-399DEE1B6ECA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1. Agent Skills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63414285-A76C-6195-1624-1200CF8D6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377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66C661-ECA7-CAFC-E182-17C29EE066C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1. Agent Skills: What is it?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7F7414-CEA9-3955-5801-EB1DBF35BB98}"/>
              </a:ext>
            </a:extLst>
          </p:cNvPr>
          <p:cNvSpPr txBox="1"/>
          <p:nvPr/>
        </p:nvSpPr>
        <p:spPr>
          <a:xfrm>
            <a:off x="0" y="584775"/>
            <a:ext cx="662622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It’s mainly advertised by Anthropic.</a:t>
            </a:r>
          </a:p>
          <a:p>
            <a:endParaRPr lang="en-CA" dirty="0"/>
          </a:p>
          <a:p>
            <a:r>
              <a:rPr lang="en-CA" b="1" dirty="0"/>
              <a:t>TL;DR</a:t>
            </a:r>
            <a:r>
              <a:rPr lang="en-CA" dirty="0"/>
              <a:t>: agent calls the tool to load information from files it needs to respond to user query. The information is basically skill.</a:t>
            </a:r>
          </a:p>
          <a:p>
            <a:endParaRPr lang="en-CA" dirty="0"/>
          </a:p>
          <a:p>
            <a:r>
              <a:rPr lang="en-CA" dirty="0"/>
              <a:t>It looks like RAG but using tool to retrieve text information it needs, rather than embedding model and vector store.</a:t>
            </a:r>
          </a:p>
          <a:p>
            <a:endParaRPr lang="en-CA" dirty="0"/>
          </a:p>
          <a:p>
            <a:r>
              <a:rPr lang="en-CA" dirty="0"/>
              <a:t>I would go over the example for you very quick.</a:t>
            </a:r>
          </a:p>
          <a:p>
            <a:r>
              <a:rPr lang="en-CA" dirty="0">
                <a:hlinkClick r:id="rId2"/>
              </a:rPr>
              <a:t>https://docs.langchain.com/oss/python/langchain/multi-agent/skills-sql-assistant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CCF7B-0208-003C-4938-4CCEE7227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229" y="0"/>
            <a:ext cx="5565772" cy="6201624"/>
          </a:xfrm>
          <a:prstGeom prst="rect">
            <a:avLst/>
          </a:prstGeom>
        </p:spPr>
      </p:pic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F59D5A1D-805B-A2FF-CD1D-0EE7E076E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2961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6AFA68-AADC-311F-F446-2398379EC810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2. Research Frontiers in AI Agent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B8BF0271-56CC-DD9B-7A0F-5B8A578A4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272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2A4489-486D-B15A-B528-8C77D9D26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7888" y="584775"/>
            <a:ext cx="6014112" cy="5924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66B78F0-D03D-C2FD-4274-01F51839B47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2. Research Frontiers in AI Agent: Multi-Modal 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D7F46-AC72-0F0D-4D38-AAA8E8EA76D7}"/>
              </a:ext>
            </a:extLst>
          </p:cNvPr>
          <p:cNvSpPr txBox="1"/>
          <p:nvPr/>
        </p:nvSpPr>
        <p:spPr>
          <a:xfrm>
            <a:off x="0" y="818147"/>
            <a:ext cx="609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agent we have learned so far could only handle plain text……</a:t>
            </a:r>
          </a:p>
          <a:p>
            <a:endParaRPr lang="en-CA" dirty="0"/>
          </a:p>
          <a:p>
            <a:r>
              <a:rPr lang="en-CA" dirty="0"/>
              <a:t>Why is Multi-Modal Agent hard to build?</a:t>
            </a:r>
          </a:p>
          <a:p>
            <a:r>
              <a:rPr lang="en-CA" dirty="0"/>
              <a:t>(I might ask a lot of questions….)</a:t>
            </a:r>
          </a:p>
        </p:txBody>
      </p:sp>
      <p:pic>
        <p:nvPicPr>
          <p:cNvPr id="2" name="Picture 1" descr="Michael Zhang (Director, Master of Business Analytics Program)">
            <a:extLst>
              <a:ext uri="{FF2B5EF4-FFF2-40B4-BE49-F238E27FC236}">
                <a16:creationId xmlns:a16="http://schemas.microsoft.com/office/drawing/2014/main" id="{0F598763-63F2-61B5-ADDB-912FB7697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3159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1835A0-693D-BD49-3A4E-C0146DFED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2728" y="938572"/>
            <a:ext cx="6249272" cy="4191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7100CC-C8C0-94F6-40E6-2E4D89C60E40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2. Research Frontiers in AI Agent: Long Term Memory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46B31-9E4A-45E3-4FBC-A6D97DABA2E5}"/>
              </a:ext>
            </a:extLst>
          </p:cNvPr>
          <p:cNvSpPr txBox="1"/>
          <p:nvPr/>
        </p:nvSpPr>
        <p:spPr>
          <a:xfrm>
            <a:off x="0" y="584775"/>
            <a:ext cx="53805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Long Term memory is still not mature…</a:t>
            </a:r>
          </a:p>
          <a:p>
            <a:endParaRPr lang="en-CA" dirty="0"/>
          </a:p>
          <a:p>
            <a:r>
              <a:rPr lang="en-CA" dirty="0"/>
              <a:t>What do you think about how long-term memory is supposed to work in AI agent?</a:t>
            </a:r>
          </a:p>
        </p:txBody>
      </p:sp>
      <p:pic>
        <p:nvPicPr>
          <p:cNvPr id="2" name="Picture 1" descr="Michael Zhang (Director, Master of Business Analytics Program)">
            <a:extLst>
              <a:ext uri="{FF2B5EF4-FFF2-40B4-BE49-F238E27FC236}">
                <a16:creationId xmlns:a16="http://schemas.microsoft.com/office/drawing/2014/main" id="{ED228911-1520-213F-DF0D-936711421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712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E5A85E-6B0C-2037-85DD-1DC101B637DA}"/>
              </a:ext>
            </a:extLst>
          </p:cNvPr>
          <p:cNvSpPr txBox="1"/>
          <p:nvPr/>
        </p:nvSpPr>
        <p:spPr>
          <a:xfrm>
            <a:off x="126999" y="3356520"/>
            <a:ext cx="120650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3. Career Opportunities in </a:t>
            </a:r>
            <a:r>
              <a:rPr lang="en-CA" sz="4400" b="1" dirty="0" err="1">
                <a:solidFill>
                  <a:srgbClr val="612141"/>
                </a:solidFill>
              </a:rPr>
              <a:t>LangChain</a:t>
            </a:r>
            <a:r>
              <a:rPr lang="en-CA" sz="4400" b="1" dirty="0">
                <a:solidFill>
                  <a:srgbClr val="612141"/>
                </a:solidFill>
              </a:rPr>
              <a:t> Ecosystem</a:t>
            </a:r>
          </a:p>
        </p:txBody>
      </p:sp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767A9EF4-B46D-5BA7-E419-9DF74AE7E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191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B91628-A706-DF47-3861-0D6296AA9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57" y="1130968"/>
            <a:ext cx="5143099" cy="56336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43D6F9-3401-B493-5269-0FE721204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044" y="1132964"/>
            <a:ext cx="5493700" cy="56316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0D9746-20DC-4D1E-B66C-9CBC6D940682}"/>
              </a:ext>
            </a:extLst>
          </p:cNvPr>
          <p:cNvSpPr txBox="1"/>
          <p:nvPr/>
        </p:nvSpPr>
        <p:spPr>
          <a:xfrm>
            <a:off x="1" y="0"/>
            <a:ext cx="81662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b="1" dirty="0">
                <a:solidFill>
                  <a:srgbClr val="612141"/>
                </a:solidFill>
              </a:rPr>
              <a:t>3. Career Opportunities in </a:t>
            </a:r>
            <a:r>
              <a:rPr lang="en-CA" sz="3200" b="1" dirty="0" err="1">
                <a:solidFill>
                  <a:srgbClr val="612141"/>
                </a:solidFill>
              </a:rPr>
              <a:t>LangChain</a:t>
            </a:r>
            <a:r>
              <a:rPr lang="en-CA" sz="3200" b="1" dirty="0">
                <a:solidFill>
                  <a:srgbClr val="612141"/>
                </a:solidFill>
              </a:rPr>
              <a:t> Ecosystem: These Companies…..</a:t>
            </a:r>
          </a:p>
        </p:txBody>
      </p:sp>
      <p:pic>
        <p:nvPicPr>
          <p:cNvPr id="2" name="Picture 1" descr="Michael Zhang (Director, Master of Business Analytics Program)">
            <a:extLst>
              <a:ext uri="{FF2B5EF4-FFF2-40B4-BE49-F238E27FC236}">
                <a16:creationId xmlns:a16="http://schemas.microsoft.com/office/drawing/2014/main" id="{C2D94796-A140-12EB-5D47-CB123ACDA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69300" y="0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510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CD00BF-585F-FB6C-F2A8-46597BDF4959}"/>
              </a:ext>
            </a:extLst>
          </p:cNvPr>
          <p:cNvSpPr txBox="1"/>
          <p:nvPr/>
        </p:nvSpPr>
        <p:spPr>
          <a:xfrm>
            <a:off x="126999" y="3356520"/>
            <a:ext cx="120650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>
                <a:solidFill>
                  <a:srgbClr val="612141"/>
                </a:solidFill>
              </a:rPr>
              <a:t>4. Quick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08D6A-7517-A410-54A7-D206C526453B}"/>
              </a:ext>
            </a:extLst>
          </p:cNvPr>
          <p:cNvSpPr txBox="1"/>
          <p:nvPr/>
        </p:nvSpPr>
        <p:spPr>
          <a:xfrm>
            <a:off x="126998" y="4125961"/>
            <a:ext cx="752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(You can ask me some questions about what I covered so far)</a:t>
            </a:r>
          </a:p>
        </p:txBody>
      </p:sp>
      <p:pic>
        <p:nvPicPr>
          <p:cNvPr id="4" name="Picture 3" descr="Michael Zhang (Director, Master of Business Analytics Program)">
            <a:extLst>
              <a:ext uri="{FF2B5EF4-FFF2-40B4-BE49-F238E27FC236}">
                <a16:creationId xmlns:a16="http://schemas.microsoft.com/office/drawing/2014/main" id="{6C4F7B2E-28E0-1A1F-3CD8-B06B65233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3896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8C887-52A8-8D1B-FC1D-A269A29E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C91AAD-F3DA-315C-89CA-20C2B308AD1E}"/>
              </a:ext>
            </a:extLst>
          </p:cNvPr>
          <p:cNvSpPr txBox="1"/>
          <p:nvPr/>
        </p:nvSpPr>
        <p:spPr>
          <a:xfrm>
            <a:off x="1054100" y="1460500"/>
            <a:ext cx="10083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b="1" dirty="0">
                <a:solidFill>
                  <a:srgbClr val="612141"/>
                </a:solidFill>
              </a:rPr>
              <a:t>Thank you for your paged attention!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87A3E-C9F4-9124-2DC9-C504113FA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587" y="2501130"/>
            <a:ext cx="8754826" cy="1855739"/>
          </a:xfrm>
          <a:prstGeom prst="rect">
            <a:avLst/>
          </a:prstGeom>
        </p:spPr>
      </p:pic>
      <p:pic>
        <p:nvPicPr>
          <p:cNvPr id="3" name="Picture 2" descr="Michael Zhang (Director, Master of Business Analytics Program)">
            <a:extLst>
              <a:ext uri="{FF2B5EF4-FFF2-40B4-BE49-F238E27FC236}">
                <a16:creationId xmlns:a16="http://schemas.microsoft.com/office/drawing/2014/main" id="{04263913-8732-918A-7BEC-3EF1B3CFD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902325"/>
            <a:ext cx="38227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490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C3A96417-83DB-5245-B67B-F06AC312B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152" y="2866836"/>
            <a:ext cx="945696" cy="112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373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MU Brand">
      <a:dk1>
        <a:srgbClr val="5D5E5D"/>
      </a:dk1>
      <a:lt1>
        <a:srgbClr val="FFFFFF"/>
      </a:lt1>
      <a:dk2>
        <a:srgbClr val="5F0A3E"/>
      </a:dk2>
      <a:lt2>
        <a:srgbClr val="CBCBCB"/>
      </a:lt2>
      <a:accent1>
        <a:srgbClr val="BA1B33"/>
      </a:accent1>
      <a:accent2>
        <a:srgbClr val="8CC645"/>
      </a:accent2>
      <a:accent3>
        <a:srgbClr val="FFE73C"/>
      </a:accent3>
      <a:accent4>
        <a:srgbClr val="FE7024"/>
      </a:accent4>
      <a:accent5>
        <a:srgbClr val="02BADF"/>
      </a:accent5>
      <a:accent6>
        <a:srgbClr val="FFFFFF"/>
      </a:accent6>
      <a:hlink>
        <a:srgbClr val="0563C1"/>
      </a:hlink>
      <a:folHlink>
        <a:srgbClr val="BA1B33"/>
      </a:folHlink>
    </a:clrScheme>
    <a:fontScheme name="Custom 1">
      <a:majorFont>
        <a:latin typeface="Raleway Extrabold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FC40F3-7CD4-4529-8B92-DB825C0EA444}" vid="{5FC9822B-9D40-4053-B188-1529CAE1BD01}"/>
    </a:ext>
  </a:extLst>
</a:theme>
</file>

<file path=ppt/theme/theme2.xml><?xml version="1.0" encoding="utf-8"?>
<a:theme xmlns:a="http://schemas.openxmlformats.org/drawingml/2006/main" name="Office Theme">
  <a:themeElements>
    <a:clrScheme name="SMU Brand">
      <a:dk1>
        <a:srgbClr val="5D5E5D"/>
      </a:dk1>
      <a:lt1>
        <a:srgbClr val="FFFFFF"/>
      </a:lt1>
      <a:dk2>
        <a:srgbClr val="5F0A3E"/>
      </a:dk2>
      <a:lt2>
        <a:srgbClr val="CBCBCB"/>
      </a:lt2>
      <a:accent1>
        <a:srgbClr val="BA1B33"/>
      </a:accent1>
      <a:accent2>
        <a:srgbClr val="8CC645"/>
      </a:accent2>
      <a:accent3>
        <a:srgbClr val="FFE73C"/>
      </a:accent3>
      <a:accent4>
        <a:srgbClr val="FE7024"/>
      </a:accent4>
      <a:accent5>
        <a:srgbClr val="02BADF"/>
      </a:accent5>
      <a:accent6>
        <a:srgbClr val="FFFFFF"/>
      </a:accent6>
      <a:hlink>
        <a:srgbClr val="0563C1"/>
      </a:hlink>
      <a:folHlink>
        <a:srgbClr val="BA1B33"/>
      </a:folHlink>
    </a:clrScheme>
    <a:fontScheme name="SMU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BFC40F3-7CD4-4529-8B92-DB825C0EA444}" vid="{3F13DB48-E3EA-4868-91CC-15C4CB52CDA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ec2d0b7-503f-4434-bd5e-691963e6366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07646D0035FA4C8F1F95DBA74C7670" ma:contentTypeVersion="17" ma:contentTypeDescription="Create a new document." ma:contentTypeScope="" ma:versionID="cf5fc4cdedd07f1462f4c8ec2afe1d1c">
  <xsd:schema xmlns:xsd="http://www.w3.org/2001/XMLSchema" xmlns:xs="http://www.w3.org/2001/XMLSchema" xmlns:p="http://schemas.microsoft.com/office/2006/metadata/properties" xmlns:ns3="9ec2d0b7-503f-4434-bd5e-691963e6366e" xmlns:ns4="a169fe49-86d9-4b9f-a163-9271c3e82536" targetNamespace="http://schemas.microsoft.com/office/2006/metadata/properties" ma:root="true" ma:fieldsID="20a8c7e6184b57429edc59a72a4cddf8" ns3:_="" ns4:_="">
    <xsd:import namespace="9ec2d0b7-503f-4434-bd5e-691963e6366e"/>
    <xsd:import namespace="a169fe49-86d9-4b9f-a163-9271c3e825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2d0b7-503f-4434-bd5e-691963e636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69fe49-86d9-4b9f-a163-9271c3e8253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18E202-7E2C-4F25-B352-1695B79A5E4F}">
  <ds:schemaRefs>
    <ds:schemaRef ds:uri="9ec2d0b7-503f-4434-bd5e-691963e6366e"/>
    <ds:schemaRef ds:uri="a169fe49-86d9-4b9f-a163-9271c3e8253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A7425D8-505A-4C3E-A58C-BB480D4AEAF5}">
  <ds:schemaRefs>
    <ds:schemaRef ds:uri="9ec2d0b7-503f-4434-bd5e-691963e6366e"/>
    <ds:schemaRef ds:uri="a169fe49-86d9-4b9f-a163-9271c3e8253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1CCE7F9-BB03-4D29-A244-C8FCCA2B3E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SMUPresentationTemplate_FontsEmbedded</Template>
  <TotalTime>340</TotalTime>
  <Words>447</Words>
  <Application>Microsoft Office PowerPoint</Application>
  <PresentationFormat>Widescreen</PresentationFormat>
  <Paragraphs>47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Arial Black</vt:lpstr>
      <vt:lpstr>Custom Design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Zhouri</dc:creator>
  <cp:lastModifiedBy>Yilin Huang</cp:lastModifiedBy>
  <cp:revision>30</cp:revision>
  <cp:lastPrinted>2022-03-31T15:24:48Z</cp:lastPrinted>
  <dcterms:created xsi:type="dcterms:W3CDTF">2025-06-19T12:10:18Z</dcterms:created>
  <dcterms:modified xsi:type="dcterms:W3CDTF">2026-02-10T23:07:03Z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0x010100C107646D0035FA4C8F1F95DBA74C7670</vt:lpwstr>
  </property>
</Properties>
</file>